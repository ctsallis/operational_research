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61" r:id="rId7"/>
    <p:sldId id="274" r:id="rId8"/>
    <p:sldId id="279" r:id="rId9"/>
    <p:sldId id="281" r:id="rId10"/>
    <p:sldId id="282" r:id="rId11"/>
    <p:sldId id="293" r:id="rId12"/>
    <p:sldId id="294" r:id="rId13"/>
    <p:sldId id="262" r:id="rId14"/>
    <p:sldId id="263" r:id="rId15"/>
    <p:sldId id="283" r:id="rId16"/>
    <p:sldId id="264" r:id="rId17"/>
    <p:sldId id="265" r:id="rId18"/>
    <p:sldId id="266" r:id="rId19"/>
    <p:sldId id="295" r:id="rId20"/>
    <p:sldId id="297" r:id="rId21"/>
    <p:sldId id="284" r:id="rId22"/>
    <p:sldId id="296" r:id="rId23"/>
    <p:sldId id="286" r:id="rId24"/>
    <p:sldId id="287" r:id="rId25"/>
    <p:sldId id="289" r:id="rId26"/>
    <p:sldId id="290" r:id="rId27"/>
    <p:sldId id="288" r:id="rId28"/>
    <p:sldId id="292" r:id="rId29"/>
    <p:sldId id="291" r:id="rId30"/>
    <p:sldId id="298" r:id="rId31"/>
  </p:sldIdLst>
  <p:sldSz cx="12192000" cy="6858000"/>
  <p:notesSz cx="6858000" cy="9144000"/>
  <p:embeddedFontLst>
    <p:embeddedFont>
      <p:font typeface="Cambria Math" panose="02040503050406030204" pitchFamily="18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ABC099-A5D4-464E-A2C6-67CAD9D2390F}" v="3" dt="2025-10-09T11:10:41.2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324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2C253332-77D0-4931-987E-56C628B4F653}"/>
    <pc:docChg chg="modSld">
      <pc:chgData name="Sam O'Neill" userId="cb323814-a42a-4cfe-bc74-03f595e56f6e" providerId="ADAL" clId="{2C253332-77D0-4931-987E-56C628B4F653}" dt="2024-10-11T11:58:43.632" v="0" actId="33639"/>
      <pc:docMkLst>
        <pc:docMk/>
      </pc:docMkLst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3960105888" sldId="262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51033217" sldId="263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3556650311" sldId="266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674261045" sldId="274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512827178" sldId="281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643845886" sldId="282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1096814727" sldId="283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3477283215" sldId="286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1919647061" sldId="287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230708497" sldId="288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1051920825" sldId="289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2933514211" sldId="291"/>
        </pc:sldMkLst>
      </pc:sldChg>
      <pc:sldChg chg="delSp mod">
        <pc:chgData name="Sam O'Neill" userId="cb323814-a42a-4cfe-bc74-03f595e56f6e" providerId="ADAL" clId="{2C253332-77D0-4931-987E-56C628B4F653}" dt="2024-10-11T11:58:43.632" v="0" actId="33639"/>
        <pc:sldMkLst>
          <pc:docMk/>
          <pc:sldMk cId="3504010382" sldId="294"/>
        </pc:sldMkLst>
      </pc:sldChg>
    </pc:docChg>
  </pc:docChgLst>
  <pc:docChgLst>
    <pc:chgData name="Sam O'Neill" userId="cb323814-a42a-4cfe-bc74-03f595e56f6e" providerId="ADAL" clId="{8FABC099-A5D4-464E-A2C6-67CAD9D2390F}"/>
    <pc:docChg chg="custSel addSld modSld">
      <pc:chgData name="Sam O'Neill" userId="cb323814-a42a-4cfe-bc74-03f595e56f6e" providerId="ADAL" clId="{8FABC099-A5D4-464E-A2C6-67CAD9D2390F}" dt="2025-10-09T11:12:51.567" v="83" actId="14100"/>
      <pc:docMkLst>
        <pc:docMk/>
      </pc:docMkLst>
      <pc:sldChg chg="modSp mod">
        <pc:chgData name="Sam O'Neill" userId="cb323814-a42a-4cfe-bc74-03f595e56f6e" providerId="ADAL" clId="{8FABC099-A5D4-464E-A2C6-67CAD9D2390F}" dt="2025-10-03T13:00:33.631" v="27" actId="27636"/>
        <pc:sldMkLst>
          <pc:docMk/>
          <pc:sldMk cId="1361163114" sldId="279"/>
        </pc:sldMkLst>
        <pc:spChg chg="mod">
          <ac:chgData name="Sam O'Neill" userId="cb323814-a42a-4cfe-bc74-03f595e56f6e" providerId="ADAL" clId="{8FABC099-A5D4-464E-A2C6-67CAD9D2390F}" dt="2025-10-03T13:00:33.631" v="27" actId="27636"/>
          <ac:spMkLst>
            <pc:docMk/>
            <pc:sldMk cId="1361163114" sldId="279"/>
            <ac:spMk id="7" creationId="{F0A442F2-8CDD-41B3-A473-0D23A68EB622}"/>
          </ac:spMkLst>
        </pc:spChg>
      </pc:sldChg>
      <pc:sldChg chg="addSp delSp modSp mod">
        <pc:chgData name="Sam O'Neill" userId="cb323814-a42a-4cfe-bc74-03f595e56f6e" providerId="ADAL" clId="{8FABC099-A5D4-464E-A2C6-67CAD9D2390F}" dt="2025-10-03T12:50:10.490" v="4" actId="14100"/>
        <pc:sldMkLst>
          <pc:docMk/>
          <pc:sldMk cId="643845886" sldId="282"/>
        </pc:sldMkLst>
        <pc:picChg chg="add mod">
          <ac:chgData name="Sam O'Neill" userId="cb323814-a42a-4cfe-bc74-03f595e56f6e" providerId="ADAL" clId="{8FABC099-A5D4-464E-A2C6-67CAD9D2390F}" dt="2025-10-03T12:50:10.490" v="4" actId="14100"/>
          <ac:picMkLst>
            <pc:docMk/>
            <pc:sldMk cId="643845886" sldId="282"/>
            <ac:picMk id="5" creationId="{48C547D7-E2F8-73A6-9255-5260B7EA58A1}"/>
          </ac:picMkLst>
        </pc:picChg>
      </pc:sldChg>
      <pc:sldChg chg="addSp delSp modSp mod">
        <pc:chgData name="Sam O'Neill" userId="cb323814-a42a-4cfe-bc74-03f595e56f6e" providerId="ADAL" clId="{8FABC099-A5D4-464E-A2C6-67CAD9D2390F}" dt="2025-10-04T12:34:54.045" v="60" actId="1076"/>
        <pc:sldMkLst>
          <pc:docMk/>
          <pc:sldMk cId="1096814727" sldId="283"/>
        </pc:sldMkLst>
        <pc:picChg chg="add mod">
          <ac:chgData name="Sam O'Neill" userId="cb323814-a42a-4cfe-bc74-03f595e56f6e" providerId="ADAL" clId="{8FABC099-A5D4-464E-A2C6-67CAD9D2390F}" dt="2025-10-04T12:34:54.045" v="60" actId="1076"/>
          <ac:picMkLst>
            <pc:docMk/>
            <pc:sldMk cId="1096814727" sldId="283"/>
            <ac:picMk id="4" creationId="{2808C2EA-3B0F-C8A5-0453-30AA9D2F2022}"/>
          </ac:picMkLst>
        </pc:picChg>
      </pc:sldChg>
      <pc:sldChg chg="addSp delSp modSp mod">
        <pc:chgData name="Sam O'Neill" userId="cb323814-a42a-4cfe-bc74-03f595e56f6e" providerId="ADAL" clId="{8FABC099-A5D4-464E-A2C6-67CAD9D2390F}" dt="2025-10-03T13:01:18.394" v="54" actId="1038"/>
        <pc:sldMkLst>
          <pc:docMk/>
          <pc:sldMk cId="230708497" sldId="288"/>
        </pc:sldMkLst>
        <pc:spChg chg="mod">
          <ac:chgData name="Sam O'Neill" userId="cb323814-a42a-4cfe-bc74-03f595e56f6e" providerId="ADAL" clId="{8FABC099-A5D4-464E-A2C6-67CAD9D2390F}" dt="2025-10-03T12:59:22.997" v="16" actId="1076"/>
          <ac:spMkLst>
            <pc:docMk/>
            <pc:sldMk cId="230708497" sldId="288"/>
            <ac:spMk id="12" creationId="{BA3AE2C3-8C49-4731-9C2D-D3E3C0103A2E}"/>
          </ac:spMkLst>
        </pc:spChg>
        <pc:picChg chg="add mod">
          <ac:chgData name="Sam O'Neill" userId="cb323814-a42a-4cfe-bc74-03f595e56f6e" providerId="ADAL" clId="{8FABC099-A5D4-464E-A2C6-67CAD9D2390F}" dt="2025-10-03T13:01:18.394" v="54" actId="1038"/>
          <ac:picMkLst>
            <pc:docMk/>
            <pc:sldMk cId="230708497" sldId="288"/>
            <ac:picMk id="9" creationId="{0668276A-C43C-6C3F-0F36-AA6B49171685}"/>
          </ac:picMkLst>
        </pc:picChg>
        <pc:picChg chg="add mod">
          <ac:chgData name="Sam O'Neill" userId="cb323814-a42a-4cfe-bc74-03f595e56f6e" providerId="ADAL" clId="{8FABC099-A5D4-464E-A2C6-67CAD9D2390F}" dt="2025-10-03T12:59:58.708" v="20" actId="1076"/>
          <ac:picMkLst>
            <pc:docMk/>
            <pc:sldMk cId="230708497" sldId="288"/>
            <ac:picMk id="11" creationId="{288DD23C-0A47-E1A6-CBAC-5FB0578A5FC1}"/>
          </ac:picMkLst>
        </pc:picChg>
      </pc:sldChg>
      <pc:sldChg chg="addSp delSp modSp mod">
        <pc:chgData name="Sam O'Neill" userId="cb323814-a42a-4cfe-bc74-03f595e56f6e" providerId="ADAL" clId="{8FABC099-A5D4-464E-A2C6-67CAD9D2390F}" dt="2025-10-03T13:01:14.306" v="49" actId="1036"/>
        <pc:sldMkLst>
          <pc:docMk/>
          <pc:sldMk cId="2933514211" sldId="291"/>
        </pc:sldMkLst>
        <pc:spChg chg="mod">
          <ac:chgData name="Sam O'Neill" userId="cb323814-a42a-4cfe-bc74-03f595e56f6e" providerId="ADAL" clId="{8FABC099-A5D4-464E-A2C6-67CAD9D2390F}" dt="2025-10-03T13:00:40.644" v="29" actId="1076"/>
          <ac:spMkLst>
            <pc:docMk/>
            <pc:sldMk cId="2933514211" sldId="291"/>
            <ac:spMk id="9" creationId="{93A6B6DE-D0C7-49D7-9F4B-B293557EE871}"/>
          </ac:spMkLst>
        </pc:spChg>
        <pc:picChg chg="add mod">
          <ac:chgData name="Sam O'Neill" userId="cb323814-a42a-4cfe-bc74-03f595e56f6e" providerId="ADAL" clId="{8FABC099-A5D4-464E-A2C6-67CAD9D2390F}" dt="2025-10-03T13:00:29.533" v="23" actId="1076"/>
          <ac:picMkLst>
            <pc:docMk/>
            <pc:sldMk cId="2933514211" sldId="291"/>
            <ac:picMk id="4" creationId="{0627E75D-C05C-DDF1-DB83-6A2F7E2B75F9}"/>
          </ac:picMkLst>
        </pc:picChg>
        <pc:picChg chg="add mod">
          <ac:chgData name="Sam O'Neill" userId="cb323814-a42a-4cfe-bc74-03f595e56f6e" providerId="ADAL" clId="{8FABC099-A5D4-464E-A2C6-67CAD9D2390F}" dt="2025-10-03T13:01:14.306" v="49" actId="1036"/>
          <ac:picMkLst>
            <pc:docMk/>
            <pc:sldMk cId="2933514211" sldId="291"/>
            <ac:picMk id="7" creationId="{02BDD6BF-5C01-5C64-D44B-8178472826BC}"/>
          </ac:picMkLst>
        </pc:picChg>
      </pc:sldChg>
      <pc:sldChg chg="addSp delSp modSp mod">
        <pc:chgData name="Sam O'Neill" userId="cb323814-a42a-4cfe-bc74-03f595e56f6e" providerId="ADAL" clId="{8FABC099-A5D4-464E-A2C6-67CAD9D2390F}" dt="2025-10-09T11:12:51.567" v="83" actId="14100"/>
        <pc:sldMkLst>
          <pc:docMk/>
          <pc:sldMk cId="918005165" sldId="295"/>
        </pc:sldMkLst>
        <pc:picChg chg="add del mod">
          <ac:chgData name="Sam O'Neill" userId="cb323814-a42a-4cfe-bc74-03f595e56f6e" providerId="ADAL" clId="{8FABC099-A5D4-464E-A2C6-67CAD9D2390F}" dt="2025-10-09T11:12:43.330" v="79" actId="478"/>
          <ac:picMkLst>
            <pc:docMk/>
            <pc:sldMk cId="918005165" sldId="295"/>
            <ac:picMk id="4" creationId="{2D41DAA0-F230-E1D1-B04F-CF7DCDFDD17B}"/>
          </ac:picMkLst>
        </pc:picChg>
        <pc:picChg chg="add del mod">
          <ac:chgData name="Sam O'Neill" userId="cb323814-a42a-4cfe-bc74-03f595e56f6e" providerId="ADAL" clId="{8FABC099-A5D4-464E-A2C6-67CAD9D2390F}" dt="2025-10-09T11:12:06.806" v="74" actId="478"/>
          <ac:picMkLst>
            <pc:docMk/>
            <pc:sldMk cId="918005165" sldId="295"/>
            <ac:picMk id="6" creationId="{3BEA044C-83E7-49B4-AB48-E039E07AC8BC}"/>
          </ac:picMkLst>
        </pc:picChg>
        <pc:picChg chg="add mod">
          <ac:chgData name="Sam O'Neill" userId="cb323814-a42a-4cfe-bc74-03f595e56f6e" providerId="ADAL" clId="{8FABC099-A5D4-464E-A2C6-67CAD9D2390F}" dt="2025-10-09T11:12:51.567" v="83" actId="14100"/>
          <ac:picMkLst>
            <pc:docMk/>
            <pc:sldMk cId="918005165" sldId="295"/>
            <ac:picMk id="8" creationId="{B6524BB6-004F-0D1B-EC3C-30BBCE8B5245}"/>
          </ac:picMkLst>
        </pc:picChg>
      </pc:sldChg>
      <pc:sldChg chg="modSp new mod">
        <pc:chgData name="Sam O'Neill" userId="cb323814-a42a-4cfe-bc74-03f595e56f6e" providerId="ADAL" clId="{8FABC099-A5D4-464E-A2C6-67CAD9D2390F}" dt="2025-10-09T11:10:41.158" v="73" actId="20577"/>
        <pc:sldMkLst>
          <pc:docMk/>
          <pc:sldMk cId="290701179" sldId="298"/>
        </pc:sldMkLst>
        <pc:spChg chg="mod">
          <ac:chgData name="Sam O'Neill" userId="cb323814-a42a-4cfe-bc74-03f595e56f6e" providerId="ADAL" clId="{8FABC099-A5D4-464E-A2C6-67CAD9D2390F}" dt="2025-10-09T11:10:38.111" v="70" actId="20577"/>
          <ac:spMkLst>
            <pc:docMk/>
            <pc:sldMk cId="290701179" sldId="298"/>
            <ac:spMk id="2" creationId="{DF687696-D5A6-65B2-5302-F465B1977247}"/>
          </ac:spMkLst>
        </pc:spChg>
        <pc:spChg chg="mod">
          <ac:chgData name="Sam O'Neill" userId="cb323814-a42a-4cfe-bc74-03f595e56f6e" providerId="ADAL" clId="{8FABC099-A5D4-464E-A2C6-67CAD9D2390F}" dt="2025-10-09T11:10:41.158" v="73" actId="20577"/>
          <ac:spMkLst>
            <pc:docMk/>
            <pc:sldMk cId="290701179" sldId="298"/>
            <ac:spMk id="3" creationId="{CC3C251A-0187-3E6E-4518-70BA7B915EE3}"/>
          </ac:spMkLst>
        </pc:spChg>
      </pc:sldChg>
    </pc:docChg>
  </pc:docChgLst>
  <pc:docChgLst>
    <pc:chgData name="Sam O'Neill" userId="cb323814-a42a-4cfe-bc74-03f595e56f6e" providerId="ADAL" clId="{ECCB5DA2-7522-4F7B-A76E-51F720C0ABD2}"/>
    <pc:docChg chg="custSel modSld">
      <pc:chgData name="Sam O'Neill" userId="cb323814-a42a-4cfe-bc74-03f595e56f6e" providerId="ADAL" clId="{ECCB5DA2-7522-4F7B-A76E-51F720C0ABD2}" dt="2023-10-09T08:51:55.901" v="1" actId="27636"/>
      <pc:docMkLst>
        <pc:docMk/>
      </pc:docMkLst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3960105888" sldId="262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51033217" sldId="263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3556650311" sldId="266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674261045" sldId="274"/>
        </pc:sldMkLst>
      </pc:sldChg>
      <pc:sldChg chg="modSp mod">
        <pc:chgData name="Sam O'Neill" userId="cb323814-a42a-4cfe-bc74-03f595e56f6e" providerId="ADAL" clId="{ECCB5DA2-7522-4F7B-A76E-51F720C0ABD2}" dt="2023-10-09T08:51:55.901" v="1" actId="27636"/>
        <pc:sldMkLst>
          <pc:docMk/>
          <pc:sldMk cId="1361163114" sldId="279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512827178" sldId="281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643845886" sldId="282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1096814727" sldId="283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3477283215" sldId="286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1919647061" sldId="287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230708497" sldId="288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1051920825" sldId="289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2933514211" sldId="291"/>
        </pc:sldMkLst>
      </pc:sldChg>
      <pc:sldChg chg="addSp">
        <pc:chgData name="Sam O'Neill" userId="cb323814-a42a-4cfe-bc74-03f595e56f6e" providerId="ADAL" clId="{ECCB5DA2-7522-4F7B-A76E-51F720C0ABD2}" dt="2023-10-09T08:51:55.717" v="0"/>
        <pc:sldMkLst>
          <pc:docMk/>
          <pc:sldMk cId="3504010382" sldId="29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3.png"/><Relationship Id="rId7" Type="http://schemas.openxmlformats.org/officeDocument/2006/relationships/image" Target="../media/image9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3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2" Type="http://schemas.openxmlformats.org/officeDocument/2006/relationships/hyperlink" Target="https://ctsallis.github.io/operational_research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Programming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Review</a:t>
            </a:r>
          </a:p>
          <a:p>
            <a:r>
              <a:rPr lang="en-GB" dirty="0"/>
              <a:t>Simplex Method Demonstration</a:t>
            </a:r>
          </a:p>
          <a:p>
            <a:r>
              <a:rPr lang="en-GB" dirty="0"/>
              <a:t>Problem Based Approach (Python)</a:t>
            </a:r>
          </a:p>
          <a:p>
            <a:r>
              <a:rPr lang="en-GB" dirty="0"/>
              <a:t>Diet Problem (Tutorial Question 5)</a:t>
            </a:r>
          </a:p>
          <a:p>
            <a:r>
              <a:rPr lang="en-GB" dirty="0"/>
              <a:t>Formulating with Summation Notation</a:t>
            </a:r>
          </a:p>
          <a:p>
            <a:r>
              <a:rPr lang="en-GB" dirty="0"/>
              <a:t>Manufacturing Problem (Question 4 Adapted)</a:t>
            </a:r>
          </a:p>
          <a:p>
            <a:r>
              <a:rPr lang="en-GB" dirty="0"/>
              <a:t>Introduction to:</a:t>
            </a:r>
          </a:p>
          <a:p>
            <a:pPr lvl="1"/>
            <a:r>
              <a:rPr lang="en-GB" dirty="0"/>
              <a:t>Integer and Mixed-Integer Based Programming </a:t>
            </a:r>
          </a:p>
        </p:txBody>
      </p:sp>
    </p:spTree>
    <p:extLst>
      <p:ext uri="{BB962C8B-B14F-4D97-AF65-F5344CB8AC3E}">
        <p14:creationId xmlns:p14="http://schemas.microsoft.com/office/powerpoint/2010/main" val="246447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Blank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4236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/>
              <a:t>Linear Programming Model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 linear programming model can be written as follows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maximise 		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GB" b="0" dirty="0"/>
                  <a:t>subject to:	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7030A0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   </a:t>
                </a:r>
                <a:r>
                  <a:rPr lang="en-GB" b="0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(C1)</a:t>
                </a:r>
                <a:b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</a:br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      </a:t>
                </a:r>
                <a:r>
                  <a:rPr lang="en-GB" b="0" dirty="0">
                    <a:solidFill>
                      <a:schemeClr val="accent2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(C2)</a:t>
                </a:r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b="0" i="1" dirty="0">
                    <a:solidFill>
                      <a:srgbClr val="7030A0"/>
                    </a:solidFill>
                    <a:latin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				 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000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8FA7403-1380-4581-AF6F-CBE721F7F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7" y="2390107"/>
            <a:ext cx="3766125" cy="37868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66419CF-2662-4058-AE78-8CB171B5F0E5}"/>
                  </a:ext>
                </a:extLst>
              </p:cNvPr>
              <p:cNvSpPr/>
              <p:nvPr/>
            </p:nvSpPr>
            <p:spPr>
              <a:xfrm>
                <a:off x="8930246" y="3813536"/>
                <a:ext cx="172008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66419CF-2662-4058-AE78-8CB171B5F0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0246" y="3813536"/>
                <a:ext cx="172008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E72B60A-52F1-4C7F-B137-3EA8E8DB66AA}"/>
                  </a:ext>
                </a:extLst>
              </p:cNvPr>
              <p:cNvSpPr/>
              <p:nvPr/>
            </p:nvSpPr>
            <p:spPr>
              <a:xfrm>
                <a:off x="10744690" y="4618684"/>
                <a:ext cx="93140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E72B60A-52F1-4C7F-B137-3EA8E8DB6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4690" y="4618684"/>
                <a:ext cx="931409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FFBEFB2-CFEA-49CE-B4AD-CE8E063FFE1D}"/>
                  </a:ext>
                </a:extLst>
              </p:cNvPr>
              <p:cNvSpPr/>
              <p:nvPr/>
            </p:nvSpPr>
            <p:spPr>
              <a:xfrm>
                <a:off x="8188408" y="4810583"/>
                <a:ext cx="148367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FFBEFB2-CFEA-49CE-B4AD-CE8E063FF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408" y="4810583"/>
                <a:ext cx="1483675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26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Canonical Form (Matrices)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10"/>
                <a:ext cx="3941190" cy="2405454"/>
              </a:xfrm>
              <a:ln w="28575"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Our linear programming model</a:t>
                </a:r>
              </a:p>
              <a:p>
                <a:pPr marL="0" indent="0"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b="0" dirty="0"/>
              </a:p>
              <a:p>
                <a:pPr marL="0" indent="0">
                  <a:buNone/>
                </a:pPr>
                <a:r>
                  <a:rPr lang="en-GB" sz="2000" b="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10"/>
                <a:ext cx="3941190" cy="2405454"/>
              </a:xfrm>
              <a:blipFill>
                <a:blip r:embed="rId2"/>
                <a:stretch>
                  <a:fillRect l="-1382" t="-225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46769" y="1487817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i="1" dirty="0">
                  <a:solidFill>
                    <a:schemeClr val="accent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769" y="1487817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1" t="-206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0A442F2-8CDD-41B3-A473-0D23A68EB6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8461" y="4317476"/>
                <a:ext cx="4535078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>
                    <a:solidFill>
                      <a:schemeClr val="tx1"/>
                    </a:solidFill>
                  </a:rPr>
                  <a:t>maximise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GB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GB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7]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mr>
                    </m:m>
                  </m:oMath>
                </a14:m>
                <a:endParaRPr lang="en-GB" sz="2000" dirty="0">
                  <a:solidFill>
                    <a:schemeClr val="tx1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>
                    <a:solidFill>
                      <a:schemeClr val="tx1"/>
                    </a:solidFill>
                  </a:rPr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>
                    <a:solidFill>
                      <a:schemeClr val="tx1"/>
                    </a:solidFill>
                  </a:rPr>
                  <a:t>and</a:t>
                </a:r>
                <a:b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		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1600" u="sn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0A442F2-8CDD-41B3-A473-0D23A68EB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461" y="4317476"/>
                <a:ext cx="4535078" cy="2330039"/>
              </a:xfrm>
              <a:prstGeom prst="rect">
                <a:avLst/>
              </a:prstGeom>
              <a:blipFill>
                <a:blip r:embed="rId4"/>
                <a:stretch>
                  <a:fillRect l="-106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11DFFC-CC29-41D8-BD58-58F01D35B36E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4779390" y="2652837"/>
            <a:ext cx="21673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A634743-B38E-4A5C-935B-06A45A5F3A23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5400000">
            <a:off x="7344070" y="2569786"/>
            <a:ext cx="499620" cy="299576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16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Solution with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982067-A33F-49C4-BEE1-9D201D43ED4F}"/>
                  </a:ext>
                </a:extLst>
              </p:cNvPr>
              <p:cNvSpPr/>
              <p:nvPr/>
            </p:nvSpPr>
            <p:spPr>
              <a:xfrm>
                <a:off x="838200" y="1432295"/>
                <a:ext cx="5077905" cy="22519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GB" sz="2000" i="1" dirty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7]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0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mr>
                    </m:m>
                  </m:oMath>
                </a14:m>
                <a:endParaRPr lang="en-GB" sz="2000" dirty="0"/>
              </a:p>
              <a:p>
                <a:r>
                  <a:rPr lang="en-GB" sz="2000" dirty="0"/>
                  <a:t>subject to:	</a:t>
                </a:r>
              </a:p>
              <a:p>
                <a:r>
                  <a:rPr lang="en-GB" sz="2000" dirty="0"/>
                  <a:t>         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44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000" i="1" dirty="0">
                  <a:latin typeface="Cambria Math" panose="02040503050406030204" pitchFamily="18" charset="0"/>
                </a:endParaRPr>
              </a:p>
              <a:p>
                <a:r>
                  <a:rPr lang="en-GB" sz="2000" dirty="0"/>
                  <a:t>and</a:t>
                </a:r>
                <a:br>
                  <a:rPr lang="en-GB" sz="2000" i="1" dirty="0">
                    <a:latin typeface="Cambria Math" panose="02040503050406030204" pitchFamily="18" charset="0"/>
                  </a:rPr>
                </a:br>
                <a:r>
                  <a:rPr lang="en-GB" sz="2000" i="1" dirty="0">
                    <a:latin typeface="Cambria Math" panose="02040503050406030204" pitchFamily="18" charset="0"/>
                  </a:rPr>
                  <a:t> 		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A982067-A33F-49C4-BEE1-9D201D43E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32295"/>
                <a:ext cx="5077905" cy="2251963"/>
              </a:xfrm>
              <a:prstGeom prst="rect">
                <a:avLst/>
              </a:prstGeom>
              <a:blipFill>
                <a:blip r:embed="rId2"/>
                <a:stretch>
                  <a:fillRect l="-13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900E18A-BC3F-4B7A-9993-BFF3EDFF913E}"/>
              </a:ext>
            </a:extLst>
          </p:cNvPr>
          <p:cNvSpPr/>
          <p:nvPr/>
        </p:nvSpPr>
        <p:spPr>
          <a:xfrm>
            <a:off x="838200" y="4045134"/>
            <a:ext cx="410144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We are maximising.</a:t>
            </a:r>
          </a:p>
          <a:p>
            <a:endParaRPr lang="en-GB" sz="2000" dirty="0"/>
          </a:p>
          <a:p>
            <a:r>
              <a:rPr lang="en-GB" sz="2000" dirty="0"/>
              <a:t>The </a:t>
            </a:r>
            <a:r>
              <a:rPr lang="en-GB" sz="2000" dirty="0" err="1"/>
              <a:t>Scipy</a:t>
            </a:r>
            <a:r>
              <a:rPr lang="en-GB" sz="2000" dirty="0"/>
              <a:t> function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linprog</a:t>
            </a:r>
            <a:r>
              <a:rPr lang="en-GB" sz="2000" dirty="0"/>
              <a:t> minimises!</a:t>
            </a:r>
          </a:p>
          <a:p>
            <a:endParaRPr lang="en-GB" sz="2000" dirty="0"/>
          </a:p>
          <a:p>
            <a:r>
              <a:rPr lang="en-GB" sz="2000" dirty="0"/>
              <a:t>Notice that in the Python code we call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linprog</a:t>
            </a:r>
            <a:r>
              <a:rPr lang="en-GB" sz="2000" dirty="0"/>
              <a:t> with the negated objective,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 = [-5, -7]</a:t>
            </a:r>
            <a:r>
              <a:rPr lang="en-GB" sz="20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1DAA83-5BE3-D565-5A26-17A9F3B1B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780" y="1959526"/>
            <a:ext cx="6257421" cy="361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2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8E00CD-D274-4138-9EE4-65D98B6CB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74158"/>
            <a:ext cx="3238500" cy="2533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Solution with </a:t>
            </a:r>
            <a:r>
              <a:rPr lang="en-GB" dirty="0" err="1"/>
              <a:t>Pyomo</a:t>
            </a:r>
            <a:r>
              <a:rPr lang="en-GB" dirty="0"/>
              <a:t> (Modelling Language)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4923" y="1221358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+7</m:t>
                    </m:r>
                    <m:r>
                      <a:rPr lang="en-GB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>
                  <a:solidFill>
                    <a:srgbClr val="FF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</m:oMath>
                    <m:oMath xmlns:m="http://schemas.openxmlformats.org/officeDocument/2006/math">
                      <m:r>
                        <a:rPr lang="en-GB" sz="20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aln/>
                        </m:rP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000" i="1" dirty="0">
                  <a:solidFill>
                    <a:schemeClr val="accent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3AA5A98-CCB6-4776-BF55-D518B1746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23" y="1221358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1" t="-206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32D29FA-E61A-4785-8F9F-BAE87922690C}"/>
                  </a:ext>
                </a:extLst>
              </p:cNvPr>
              <p:cNvSpPr/>
              <p:nvPr/>
            </p:nvSpPr>
            <p:spPr>
              <a:xfrm>
                <a:off x="1734918" y="4468813"/>
                <a:ext cx="194153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u="sng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32D29FA-E61A-4785-8F9F-BAE8792269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918" y="4468813"/>
                <a:ext cx="1941536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62A5B23-8C93-43D6-955B-B01C2EE26478}"/>
                  </a:ext>
                </a:extLst>
              </p:cNvPr>
              <p:cNvSpPr/>
              <p:nvPr/>
            </p:nvSpPr>
            <p:spPr>
              <a:xfrm>
                <a:off x="3048949" y="5203644"/>
                <a:ext cx="10963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≥4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62A5B23-8C93-43D6-955B-B01C2EE26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949" y="5203644"/>
                <a:ext cx="1096306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1885100-5361-47DD-9B9B-B9EF6F27D05D}"/>
                  </a:ext>
                </a:extLst>
              </p:cNvPr>
              <p:cNvSpPr/>
              <p:nvPr/>
            </p:nvSpPr>
            <p:spPr>
              <a:xfrm>
                <a:off x="869047" y="5089295"/>
                <a:ext cx="147591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1885100-5361-47DD-9B9B-B9EF6F27D0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47" y="5089295"/>
                <a:ext cx="1475910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8C547D7-E2F8-73A6-9255-5260B7EA58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8897" y="1306627"/>
            <a:ext cx="5962032" cy="489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4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04C5D-53C3-41DC-A767-2311F2FA990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FDC37A-0728-4DE4-A29E-581530393892}"/>
              </a:ext>
            </a:extLst>
          </p:cNvPr>
          <p:cNvGraphicFramePr>
            <a:graphicFrameLocks noGrp="1"/>
          </p:cNvGraphicFramePr>
          <p:nvPr/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    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B0844EB-0512-4D2C-BBD8-B08EB6329D08}"/>
              </a:ext>
            </a:extLst>
          </p:cNvPr>
          <p:cNvSpPr/>
          <p:nvPr/>
        </p:nvSpPr>
        <p:spPr>
          <a:xfrm>
            <a:off x="561175" y="5601681"/>
            <a:ext cx="9074985" cy="4070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Obtain the optimal solution given that the aim is to minimise the cost of the diet.</a:t>
            </a:r>
            <a:endParaRPr lang="en-GB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DBF738-6D3C-4575-86DE-7181B896D68C}"/>
              </a:ext>
            </a:extLst>
          </p:cNvPr>
          <p:cNvSpPr/>
          <p:nvPr/>
        </p:nvSpPr>
        <p:spPr>
          <a:xfrm>
            <a:off x="561175" y="3788358"/>
            <a:ext cx="9430043" cy="7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meals provided must satisfy certain basic restriction on vitamin and fat content. The right table gives the target quantities for a sample of 4 vitamins and one fat type.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775BC0-B040-45E9-9F7A-8E697FF075DB}"/>
              </a:ext>
            </a:extLst>
          </p:cNvPr>
          <p:cNvSpPr/>
          <p:nvPr/>
        </p:nvSpPr>
        <p:spPr>
          <a:xfrm>
            <a:off x="561175" y="4677676"/>
            <a:ext cx="10515600" cy="7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quantities of each nutrient contained in one unit of each of 10 foods and the cost and attractiveness of a unit of each food is given in the left table.</a:t>
            </a:r>
          </a:p>
        </p:txBody>
      </p:sp>
    </p:spTree>
    <p:extLst>
      <p:ext uri="{BB962C8B-B14F-4D97-AF65-F5344CB8AC3E}">
        <p14:creationId xmlns:p14="http://schemas.microsoft.com/office/powerpoint/2010/main" val="390986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04C5D-53C3-41DC-A767-2311F2FA990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FDC37A-0728-4DE4-A29E-581530393892}"/>
              </a:ext>
            </a:extLst>
          </p:cNvPr>
          <p:cNvGraphicFramePr>
            <a:graphicFrameLocks noGrp="1"/>
          </p:cNvGraphicFramePr>
          <p:nvPr/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    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1E9A2FA-1832-4B14-B502-F576752A3C01}"/>
                  </a:ext>
                </a:extLst>
              </p:cNvPr>
              <p:cNvSpPr/>
              <p:nvPr/>
            </p:nvSpPr>
            <p:spPr>
              <a:xfrm>
                <a:off x="838199" y="4104642"/>
                <a:ext cx="10373751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400" u="sng" dirty="0"/>
                  <a:t>Objective:</a:t>
                </a:r>
              </a:p>
              <a:p>
                <a:r>
                  <a:rPr lang="en-GB" sz="2400" dirty="0"/>
                  <a:t>minimise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1E9A2FA-1832-4B14-B502-F576752A3C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104642"/>
                <a:ext cx="10373751" cy="830997"/>
              </a:xfrm>
              <a:prstGeom prst="rect">
                <a:avLst/>
              </a:prstGeom>
              <a:blipFill>
                <a:blip r:embed="rId2"/>
                <a:stretch>
                  <a:fillRect l="-881" t="-5839" b="-153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E5B634-2A74-4DFE-B568-C66854F0841D}"/>
                  </a:ext>
                </a:extLst>
              </p:cNvPr>
              <p:cNvSpPr/>
              <p:nvPr/>
            </p:nvSpPr>
            <p:spPr>
              <a:xfrm>
                <a:off x="838199" y="5134698"/>
                <a:ext cx="9624751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400" u="sng" dirty="0"/>
                  <a:t>Vitamin A Constraint:</a:t>
                </a:r>
                <a:endParaRPr lang="en-GB" sz="2400" dirty="0"/>
              </a:p>
              <a:p>
                <a:r>
                  <a:rPr lang="en-GB" sz="2400" dirty="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18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+22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+6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+4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+12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E5B634-2A74-4DFE-B568-C66854F084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5134698"/>
                <a:ext cx="9624751" cy="1200329"/>
              </a:xfrm>
              <a:prstGeom prst="rect">
                <a:avLst/>
              </a:prstGeom>
              <a:blipFill>
                <a:blip r:embed="rId3"/>
                <a:stretch>
                  <a:fillRect l="-950" t="-4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53C901A-B381-45B7-B6E2-15A4D729FE90}"/>
                  </a:ext>
                </a:extLst>
              </p:cNvPr>
              <p:cNvSpPr/>
              <p:nvPr/>
            </p:nvSpPr>
            <p:spPr>
              <a:xfrm>
                <a:off x="8049950" y="2863318"/>
                <a:ext cx="2850332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400" u="sng" dirty="0"/>
                  <a:t>Variables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400" dirty="0"/>
                  <a:t> - Number of food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53C901A-B381-45B7-B6E2-15A4D729FE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950" y="2863318"/>
                <a:ext cx="2850332" cy="830997"/>
              </a:xfrm>
              <a:prstGeom prst="rect">
                <a:avLst/>
              </a:prstGeom>
              <a:blipFill>
                <a:blip r:embed="rId4"/>
                <a:stretch>
                  <a:fillRect l="-3426" t="-5882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01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≥100</m:t>
                    </m:r>
                  </m:oMath>
                </a14:m>
                <a:r>
                  <a:rPr lang="en-GB" sz="2400" b="0" dirty="0"/>
                  <a:t>      		(Vitamin A Constraint)</a:t>
                </a:r>
              </a:p>
              <a:p>
                <a:pPr marL="0" indent="0">
                  <a:buNone/>
                </a:pPr>
                <a:br>
                  <a:rPr lang="en-GB" sz="2400" b="0" dirty="0"/>
                </a:b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 		(Vitamin B Constraint)</a:t>
                </a:r>
              </a:p>
              <a:p>
                <a:pPr marL="0" indent="0">
                  <a:buNone/>
                </a:pPr>
                <a:br>
                  <a:rPr lang="en-GB" sz="2400" dirty="0"/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≥20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					(Vitamin C Constraint)</a:t>
                </a:r>
              </a:p>
              <a:p>
                <a:pPr marL="0" indent="0">
                  <a:buNone/>
                </a:pPr>
                <a:br>
                  <a:rPr lang="en-GB" sz="2400" b="0" dirty="0"/>
                </a:b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 	(Vitamin D Constraint)</a:t>
                </a:r>
              </a:p>
              <a:p>
                <a:pPr marL="0" indent="0">
                  <a:buNone/>
                </a:pPr>
                <a:br>
                  <a:rPr lang="en-GB" sz="2400" dirty="0"/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+20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+40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≤300</m:t>
                    </m:r>
                  </m:oMath>
                </a14:m>
                <a:r>
                  <a:rPr lang="en-GB" sz="2400" dirty="0"/>
                  <a:t>					(Fat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and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sz="2400" dirty="0"/>
                  <a:t>						(Non-negativity)</a:t>
                </a:r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638" t="-2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010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04C5D-53C3-41DC-A767-2311F2FA9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061715"/>
              </p:ext>
            </p:extLst>
          </p:nvPr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FDC37A-0728-4DE4-A29E-581530393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566976"/>
              </p:ext>
            </p:extLst>
          </p:nvPr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    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/>
              <p:nvPr/>
            </p:nvSpPr>
            <p:spPr>
              <a:xfrm>
                <a:off x="838200" y="4119238"/>
                <a:ext cx="4578561" cy="2373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Number of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(Variable)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en-GB" dirty="0"/>
                  <a:t> - Amount of vitamin A in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GB" dirty="0"/>
                  <a:t> - Amount of vitamin B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en-GB" dirty="0"/>
                  <a:t> - Amount of vitamin C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n-GB" dirty="0"/>
                  <a:t> - Amount of vitamin D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(Constant)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Amount of fat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Cost of food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Attractiveness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 (Constant)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19238"/>
                <a:ext cx="4578561" cy="2373663"/>
              </a:xfrm>
              <a:prstGeom prst="rect">
                <a:avLst/>
              </a:prstGeom>
              <a:blipFill>
                <a:blip r:embed="rId2"/>
                <a:stretch>
                  <a:fillRect l="-399" t="-1542" b="-33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/>
              <p:nvPr/>
            </p:nvSpPr>
            <p:spPr>
              <a:xfrm>
                <a:off x="7808651" y="2643431"/>
                <a:ext cx="3945384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≤30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651" y="2643431"/>
                <a:ext cx="3945384" cy="4091120"/>
              </a:xfrm>
              <a:prstGeom prst="rect">
                <a:avLst/>
              </a:prstGeom>
              <a:blipFill>
                <a:blip r:embed="rId3"/>
                <a:stretch>
                  <a:fillRect l="-464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033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5a Solution via </a:t>
            </a:r>
            <a:r>
              <a:rPr lang="en-GB" dirty="0" err="1"/>
              <a:t>Pyomo</a:t>
            </a:r>
            <a:r>
              <a:rPr lang="en-GB" dirty="0"/>
              <a:t> (Problem Based)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CA3A4E-5808-4522-BBE0-0C8C32D58229}"/>
                  </a:ext>
                </a:extLst>
              </p:cNvPr>
              <p:cNvSpPr txBox="1"/>
              <p:nvPr/>
            </p:nvSpPr>
            <p:spPr>
              <a:xfrm>
                <a:off x="901823" y="1498850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CA3A4E-5808-4522-BBE0-0C8C32D58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23" y="1498850"/>
                <a:ext cx="3394969" cy="4091120"/>
              </a:xfrm>
              <a:prstGeom prst="rect">
                <a:avLst/>
              </a:prstGeom>
              <a:blipFill>
                <a:blip r:embed="rId2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808C2EA-3B0F-C8A5-0453-30AA9D2F2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809" y="1204967"/>
            <a:ext cx="6380802" cy="537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81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/>
              <p:nvPr/>
            </p:nvSpPr>
            <p:spPr>
              <a:xfrm>
                <a:off x="758301" y="1278383"/>
                <a:ext cx="3431324" cy="2373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Number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</m:oMath>
                </a14:m>
                <a:r>
                  <a:rPr lang="en-GB" dirty="0"/>
                  <a:t> - Amount of vitamin A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GB" dirty="0"/>
                  <a:t> - Amount of vitamin B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en-GB" dirty="0"/>
                  <a:t> - Amount of vitamin C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n-GB" dirty="0"/>
                  <a:t> - Amount of vitamin D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Amount of fat in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Cost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Attractiveness of food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18D3C-CCDE-4A80-AFD1-57E1CFF16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01" y="1278383"/>
                <a:ext cx="3431324" cy="2373663"/>
              </a:xfrm>
              <a:prstGeom prst="rect">
                <a:avLst/>
              </a:prstGeom>
              <a:blipFill>
                <a:blip r:embed="rId2"/>
                <a:stretch>
                  <a:fillRect l="-533" t="-1542" b="-33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/>
              <p:nvPr/>
            </p:nvSpPr>
            <p:spPr>
              <a:xfrm>
                <a:off x="5029940" y="1383440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minimise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5B70D9-D05A-48AB-AF10-B9CD2C7A5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940" y="1383440"/>
                <a:ext cx="3394969" cy="4091120"/>
              </a:xfrm>
              <a:prstGeom prst="rect">
                <a:avLst/>
              </a:prstGeom>
              <a:blipFill>
                <a:blip r:embed="rId3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/>
              <p:nvPr/>
            </p:nvSpPr>
            <p:spPr>
              <a:xfrm>
                <a:off x="8246616" y="1395366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maximise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6616" y="1395366"/>
                <a:ext cx="3394969" cy="4091120"/>
              </a:xfrm>
              <a:prstGeom prst="rect">
                <a:avLst/>
              </a:prstGeom>
              <a:blipFill>
                <a:blip r:embed="rId4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73A517D-F145-42C3-B0F0-4C23B24F5ECD}"/>
              </a:ext>
            </a:extLst>
          </p:cNvPr>
          <p:cNvSpPr/>
          <p:nvPr/>
        </p:nvSpPr>
        <p:spPr>
          <a:xfrm>
            <a:off x="257666" y="4145479"/>
            <a:ext cx="5257014" cy="1065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Obtain the optimal solution given that the aim is to maximise the attractiveness of the diet.</a:t>
            </a:r>
          </a:p>
        </p:txBody>
      </p:sp>
    </p:spTree>
    <p:extLst>
      <p:ext uri="{BB962C8B-B14F-4D97-AF65-F5344CB8AC3E}">
        <p14:creationId xmlns:p14="http://schemas.microsoft.com/office/powerpoint/2010/main" val="384212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Diet Problem (Tutorial Question 5b)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pPr marL="0" indent="0">
              <a:buNone/>
            </a:pPr>
            <a:endParaRPr lang="en-GB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/>
              <p:nvPr/>
            </p:nvSpPr>
            <p:spPr>
              <a:xfrm>
                <a:off x="8134596" y="2605194"/>
                <a:ext cx="3394969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maximise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596" y="2605194"/>
                <a:ext cx="3394969" cy="4091120"/>
              </a:xfrm>
              <a:prstGeom prst="rect">
                <a:avLst/>
              </a:prstGeom>
              <a:blipFill>
                <a:blip r:embed="rId2"/>
                <a:stretch>
                  <a:fillRect l="-539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F6A6017-A891-49C1-ABF1-AD75CC4E3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889038"/>
              </p:ext>
            </p:extLst>
          </p:nvPr>
        </p:nvGraphicFramePr>
        <p:xfrm>
          <a:off x="838200" y="1287427"/>
          <a:ext cx="6769100" cy="230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20411539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4357493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7640504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53798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5481975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1847394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73349339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9105635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Food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Attractiveness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27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82340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302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93135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59223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5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57664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038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7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58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04900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9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355724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4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7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25092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75FD5D-647A-4470-8B6A-CF85FD1CA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060000"/>
              </p:ext>
            </p:extLst>
          </p:nvPr>
        </p:nvGraphicFramePr>
        <p:xfrm>
          <a:off x="8049950" y="1287427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Fat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    -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505E12-165A-4C48-B077-9A2AD82ADFA3}"/>
              </a:ext>
            </a:extLst>
          </p:cNvPr>
          <p:cNvSpPr txBox="1"/>
          <p:nvPr/>
        </p:nvSpPr>
        <p:spPr>
          <a:xfrm>
            <a:off x="1012055" y="4647243"/>
            <a:ext cx="74306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UNBOUNDED!!</a:t>
            </a:r>
          </a:p>
          <a:p>
            <a:endParaRPr lang="en-GB" dirty="0"/>
          </a:p>
          <a:p>
            <a:r>
              <a:rPr lang="en-GB" dirty="0"/>
              <a:t>The program is free to pick foods with no fat. As long as the vitamin constraints are satisfied, we are in the feasible region and the objective is unbounded.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F9FE1A-1495-4FB6-AF09-58076583C96E}"/>
              </a:ext>
            </a:extLst>
          </p:cNvPr>
          <p:cNvSpPr txBox="1"/>
          <p:nvPr/>
        </p:nvSpPr>
        <p:spPr>
          <a:xfrm>
            <a:off x="1012055" y="3971168"/>
            <a:ext cx="7430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is the issue here?</a:t>
            </a:r>
          </a:p>
        </p:txBody>
      </p:sp>
    </p:spTree>
    <p:extLst>
      <p:ext uri="{BB962C8B-B14F-4D97-AF65-F5344CB8AC3E}">
        <p14:creationId xmlns:p14="http://schemas.microsoft.com/office/powerpoint/2010/main" val="16728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8"/>
            <a:ext cx="10515600" cy="5091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Maximum and minimum restrictions on both fat and vitamin content, e.g. maximum content = minimum content + 20%.</a:t>
            </a:r>
          </a:p>
          <a:p>
            <a:pPr marL="0" indent="0">
              <a:buNone/>
            </a:pPr>
            <a:endParaRPr lang="en-GB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/>
              <p:nvPr/>
            </p:nvSpPr>
            <p:spPr>
              <a:xfrm>
                <a:off x="5094562" y="2450402"/>
                <a:ext cx="4931916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maximise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≥100, 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44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≤96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≥25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≤30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3F1CBC-A447-4908-93D8-D910AC9BD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562" y="2450402"/>
                <a:ext cx="4931916" cy="4091120"/>
              </a:xfrm>
              <a:prstGeom prst="rect">
                <a:avLst/>
              </a:prstGeom>
              <a:blipFill>
                <a:blip r:embed="rId2"/>
                <a:stretch>
                  <a:fillRect l="-371" t="-12221" b="-18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DF4990D-F916-48EE-BA36-89BA419B75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902339"/>
              </p:ext>
            </p:extLst>
          </p:nvPr>
        </p:nvGraphicFramePr>
        <p:xfrm>
          <a:off x="1116490" y="2450402"/>
          <a:ext cx="2413000" cy="1143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99305111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6762723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2246916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Minimum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Maximum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944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A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98964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B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144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084722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C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240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0344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Vitamin 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96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389927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Fat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250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300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85356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65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5c Solution via </a:t>
            </a:r>
            <a:r>
              <a:rPr lang="en-GB" dirty="0" err="1"/>
              <a:t>Pyomo</a:t>
            </a:r>
            <a:r>
              <a:rPr lang="en-GB" dirty="0"/>
              <a:t> (Problem Based)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5533CF-0FCE-400E-86EC-34756278002C}"/>
                  </a:ext>
                </a:extLst>
              </p:cNvPr>
              <p:cNvSpPr txBox="1"/>
              <p:nvPr/>
            </p:nvSpPr>
            <p:spPr>
              <a:xfrm>
                <a:off x="486759" y="1819072"/>
                <a:ext cx="4931916" cy="4091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maximise 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dirty="0"/>
                  <a:t>subject to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≥100, 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≤120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≥120,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≤144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≥200,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≤240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≥80,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≤96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≥250,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400" i="1">
                          <a:latin typeface="Cambria Math" panose="02040503050406030204" pitchFamily="18" charset="0"/>
                        </a:rPr>
                        <m:t>≤300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400" i="1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5533CF-0FCE-400E-86EC-347562780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59" y="1819072"/>
                <a:ext cx="4931916" cy="4091120"/>
              </a:xfrm>
              <a:prstGeom prst="rect">
                <a:avLst/>
              </a:prstGeom>
              <a:blipFill>
                <a:blip r:embed="rId2"/>
                <a:stretch>
                  <a:fillRect l="-371" t="-12202" b="-187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6524BB6-004F-0D1B-EC3C-30BBCE8B5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062" y="1071418"/>
            <a:ext cx="5443729" cy="555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00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DF9C5C-6DF4-44D7-A35B-C3F0BA6584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Brief Introduction to Mixed-Integer Linear Programming (MILP)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65F5AE3-F551-480A-A17F-CC54493F24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30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Manufacturing Problem (Tutorial Q4 Adapted)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GB" dirty="0"/>
              <a:t>A firm manufactures 3 products, X, Y and Z.</a:t>
            </a:r>
          </a:p>
          <a:p>
            <a:pPr marL="0" lvl="0" indent="0">
              <a:buNone/>
            </a:pPr>
            <a:r>
              <a:rPr lang="en-GB" dirty="0"/>
              <a:t> </a:t>
            </a:r>
          </a:p>
          <a:p>
            <a:pPr marL="0" lvl="0" indent="0">
              <a:buNone/>
            </a:pPr>
            <a:r>
              <a:rPr lang="en-GB" dirty="0"/>
              <a:t>Each one is processed by a single machine, machine A, which has a capacity of 100 hours per week. 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It takes 4.5 hours to make product X, 2 hours to make product Y and 3 hours to make product Z. </a:t>
            </a:r>
          </a:p>
          <a:p>
            <a:pPr marL="0" lvl="0" indent="0">
              <a:buNone/>
            </a:pPr>
            <a:endParaRPr lang="en-GB" dirty="0"/>
          </a:p>
          <a:p>
            <a:r>
              <a:rPr lang="en-GB" dirty="0"/>
              <a:t>The profit made (per unit) for X, Y and Z is £11.5, £5 and £8 respectively.</a:t>
            </a:r>
          </a:p>
          <a:p>
            <a:r>
              <a:rPr lang="en-GB" dirty="0"/>
              <a:t>The firm only has enough material a week to make 20 of product Z</a:t>
            </a:r>
          </a:p>
          <a:p>
            <a:pPr marL="0" lv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How many X’s, Y’s and Z’s should be made per week so that the largest profit is made?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03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Manufacturing Problem (Tutorial Q4 Adapted)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GB" dirty="0"/>
                  <a:t>maximise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11.5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GB" dirty="0"/>
                  <a:t>		(objective)</a:t>
                </a:r>
              </a:p>
              <a:p>
                <a:pPr marL="0" lvl="0" indent="0">
                  <a:buNone/>
                </a:pPr>
                <a:endParaRPr lang="en-GB" dirty="0"/>
              </a:p>
              <a:p>
                <a:pPr marL="0" lv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lv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4.5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≤100</m:t>
                    </m:r>
                  </m:oMath>
                </a14:m>
                <a:r>
                  <a:rPr lang="en-GB" dirty="0"/>
                  <a:t>		(machine hours constraint)</a:t>
                </a:r>
              </a:p>
              <a:p>
                <a:pPr marL="0" lv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≤20</m:t>
                    </m:r>
                  </m:oMath>
                </a14:m>
                <a:r>
                  <a:rPr lang="en-GB" dirty="0"/>
                  <a:t>				(product Z constraint)</a:t>
                </a:r>
              </a:p>
              <a:p>
                <a:pPr marL="0" lvl="0" indent="0">
                  <a:buNone/>
                </a:pPr>
                <a:endParaRPr lang="en-GB" dirty="0"/>
              </a:p>
              <a:p>
                <a:pPr marL="0" lvl="0" indent="0">
                  <a:buNone/>
                </a:pPr>
                <a:r>
                  <a:rPr lang="en-GB" dirty="0"/>
                  <a:t>and</a:t>
                </a:r>
              </a:p>
              <a:p>
                <a:pPr marL="0" lvl="0" indent="0">
                  <a:buNone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				(non-negativity constraint)</a:t>
                </a:r>
              </a:p>
              <a:p>
                <a:pPr marL="0" lvl="0" indent="0">
                  <a:buNone/>
                </a:pPr>
                <a:r>
                  <a:rPr lang="en-GB" u="sng" dirty="0"/>
                  <a:t>Solution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8.89,0,20</m:t>
                          </m:r>
                        </m:e>
                      </m:d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>
                          <a:latin typeface="Cambria Math" panose="02040503050406030204" pitchFamily="18" charset="0"/>
                        </a:rPr>
                        <m:t>262.22</m:t>
                      </m:r>
                    </m:oMath>
                  </m:oMathPara>
                </a14:m>
                <a:endParaRPr lang="en-GB" dirty="0"/>
              </a:p>
              <a:p>
                <a:pPr marL="0" lv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043" t="-25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080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Manufacturing Problem (Tutorial Q4 Adapted)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What if anything that isn’t fully manufactured has to be discarded or it would cost the company overtime?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9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Perhaps we should only allow the solution to be completed products (i.e. whole numbers).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10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It transpires that if you round the solution up,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,0,20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2000" dirty="0"/>
                  <a:t> you need 100.5 hours (INFEASIBLE). If you round down,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,0,20</m:t>
                        </m:r>
                      </m:e>
                    </m:d>
                  </m:oMath>
                </a14:m>
                <a:r>
                  <a:rPr lang="en-GB" sz="2000" dirty="0"/>
                  <a:t>, you get a profit of </a:t>
                </a:r>
                <a14:m>
                  <m:oMath xmlns:m="http://schemas.openxmlformats.org/officeDocument/2006/math">
                    <m:r>
                      <a:rPr lang="en-GB" sz="2000" dirty="0" smtClean="0">
                        <a:latin typeface="Cambria Math" panose="02040503050406030204" pitchFamily="18" charset="0"/>
                      </a:rPr>
                      <m:t>£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252</m:t>
                    </m:r>
                  </m:oMath>
                </a14:m>
                <a:r>
                  <a:rPr lang="en-GB" sz="2000" dirty="0"/>
                  <a:t>, with a time taken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lang="en-GB" sz="2000" dirty="0"/>
                  <a:t> hours.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10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However, if you make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,20</m:t>
                        </m:r>
                      </m:e>
                    </m:d>
                  </m:oMath>
                </a14:m>
                <a:r>
                  <a:rPr lang="en-GB" sz="2000" dirty="0"/>
                  <a:t>, you get a profit of </a:t>
                </a:r>
                <a14:m>
                  <m:oMath xmlns:m="http://schemas.openxmlformats.org/officeDocument/2006/math"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£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262</m:t>
                    </m:r>
                  </m:oMath>
                </a14:m>
                <a:r>
                  <a:rPr lang="en-GB" sz="2000" dirty="0"/>
                  <a:t>, with a time taken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GB" sz="2000" dirty="0"/>
                  <a:t> hours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11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dirty="0"/>
                  <a:t>Ten pounds might not seem like much, but imagine we are dealing in thousands or millions of pounds!</a:t>
                </a:r>
              </a:p>
              <a:p>
                <a:pPr marL="0" lvl="0" indent="0">
                  <a:lnSpc>
                    <a:spcPct val="120000"/>
                  </a:lnSpc>
                  <a:buNone/>
                </a:pPr>
                <a:endParaRPr lang="en-GB" sz="1100" dirty="0"/>
              </a:p>
              <a:p>
                <a:pPr marL="0" lvl="0" indent="0">
                  <a:lnSpc>
                    <a:spcPct val="120000"/>
                  </a:lnSpc>
                  <a:buNone/>
                </a:pPr>
                <a:r>
                  <a:rPr lang="en-GB" sz="2000" b="1" dirty="0">
                    <a:solidFill>
                      <a:srgbClr val="00B050"/>
                    </a:solidFill>
                  </a:rPr>
                  <a:t>KEY POINT:</a:t>
                </a:r>
                <a:r>
                  <a:rPr lang="en-GB" sz="2000" dirty="0">
                    <a:solidFill>
                      <a:srgbClr val="00B050"/>
                    </a:solidFill>
                  </a:rPr>
                  <a:t> Rounding a solution does not necessarily give you the optimal integer solution.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8A88B-52B3-469E-A512-B72752EB78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580" t="-387" r="-464" b="-10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728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Desmos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blipFill>
                <a:blip r:embed="rId2"/>
                <a:stretch>
                  <a:fillRect l="-1128" t="-206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=(1.9,2.9)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=13.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95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blipFill>
                <a:blip r:embed="rId3"/>
                <a:stretch>
                  <a:fillRect l="-1128" t="-343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471E226-A92A-42BD-B44C-D06557447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654" y="1450109"/>
            <a:ext cx="6581775" cy="4562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64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Rounded Solutions</a:t>
            </a:r>
            <a:endParaRPr lang="en-GB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1399598"/>
                <a:ext cx="4289982" cy="13887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=(1.9,2.9)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=13.95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1399598"/>
                <a:ext cx="4289982" cy="1388764"/>
              </a:xfrm>
              <a:prstGeom prst="rect">
                <a:avLst/>
              </a:prstGeom>
              <a:blipFill>
                <a:blip r:embed="rId2"/>
                <a:stretch>
                  <a:fillRect l="-1128" t="-387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3134656"/>
                <a:ext cx="4289982" cy="3042307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=(1,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GB" sz="1600" b="1" dirty="0"/>
                  <a:t>Infeasible!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GB" sz="1600" b="1" dirty="0"/>
                  <a:t>Infeasible!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3134656"/>
                <a:ext cx="4289982" cy="3042307"/>
              </a:xfrm>
              <a:prstGeom prst="rect">
                <a:avLst/>
              </a:prstGeom>
              <a:blipFill>
                <a:blip r:embed="rId3"/>
                <a:stretch>
                  <a:fillRect b="-158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9D7DB87-1C37-46CF-9899-EE47228F1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654" y="1450109"/>
            <a:ext cx="6581775" cy="4562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A30A218-CFB1-4A35-B5EF-78C48F20D340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A30A218-CFB1-4A35-B5EF-78C48F20D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1920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Rounded Solutions</a:t>
            </a:r>
            <a:endParaRPr lang="en-GB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1845728"/>
                <a:ext cx="4277755" cy="368471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2000" dirty="0"/>
                  <a:t>However!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1845728"/>
                <a:ext cx="4277755" cy="3684711"/>
              </a:xfrm>
              <a:prstGeom prst="rect">
                <a:avLst/>
              </a:prstGeom>
              <a:blipFill>
                <a:blip r:embed="rId2"/>
                <a:stretch>
                  <a:fillRect l="-113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EDD79A2-BA06-43F6-A166-3DA22070E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023" y="1497333"/>
            <a:ext cx="6715125" cy="4381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1189B2-A2BB-482B-894F-3064D0281ED9}"/>
                  </a:ext>
                </a:extLst>
              </p:cNvPr>
              <p:cNvSpPr/>
              <p:nvPr/>
            </p:nvSpPr>
            <p:spPr>
              <a:xfrm>
                <a:off x="9773698" y="18457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1189B2-A2BB-482B-894F-3064D0281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698" y="1845728"/>
                <a:ext cx="166000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66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Integer Solution via </a:t>
            </a:r>
            <a:r>
              <a:rPr lang="en-GB" dirty="0" err="1"/>
              <a:t>Pyomo</a:t>
            </a:r>
            <a:r>
              <a:rPr lang="en-GB" dirty="0"/>
              <a:t> (problem based)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3A9BAE-B2B6-427C-97CF-F1B19CFC02A4}"/>
                  </a:ext>
                </a:extLst>
              </p:cNvPr>
              <p:cNvSpPr/>
              <p:nvPr/>
            </p:nvSpPr>
            <p:spPr>
              <a:xfrm>
                <a:off x="979054" y="1619055"/>
                <a:ext cx="4128655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3A9BAE-B2B6-427C-97CF-F1B19CFC02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54" y="1619055"/>
                <a:ext cx="4128655" cy="2308324"/>
              </a:xfrm>
              <a:prstGeom prst="rect">
                <a:avLst/>
              </a:prstGeom>
              <a:blipFill>
                <a:blip r:embed="rId2"/>
                <a:stretch>
                  <a:fillRect l="-1329" t="-1587" b="-2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3AE2C3-8C49-4731-9C2D-D3E3C0103A2E}"/>
                  </a:ext>
                </a:extLst>
              </p:cNvPr>
              <p:cNvSpPr/>
              <p:nvPr/>
            </p:nvSpPr>
            <p:spPr>
              <a:xfrm>
                <a:off x="979054" y="3936407"/>
                <a:ext cx="2797313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u="sng" dirty="0"/>
                  <a:t>Optimal Solution</a:t>
                </a:r>
              </a:p>
              <a:p>
                <a:endParaRPr lang="en-GB" sz="1600" u="sng" dirty="0"/>
              </a:p>
              <a:p>
                <a:r>
                  <a:rPr lang="en-GB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3AE2C3-8C49-4731-9C2D-D3E3C0103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54" y="3936407"/>
                <a:ext cx="2797313" cy="1077218"/>
              </a:xfrm>
              <a:prstGeom prst="rect">
                <a:avLst/>
              </a:prstGeom>
              <a:blipFill>
                <a:blip r:embed="rId3"/>
                <a:stretch>
                  <a:fillRect l="-1310" t="-17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668276A-C43C-6C3F-0F36-AA6B49171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4" y="5187431"/>
            <a:ext cx="4151035" cy="16316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8DD23C-0A47-E1A6-CBAC-5FB0578A5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3937" y="1307516"/>
            <a:ext cx="7078063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1FBDBC-9C9A-4430-A4AF-4C809CB8B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181" y="1276555"/>
            <a:ext cx="6505575" cy="48291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Mixed-Integer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 dirty="0">
                    <a:latin typeface="Cambria Math" panose="02040503050406030204" pitchFamily="18" charset="0"/>
                  </a:rPr>
                </a:br>
                <a:r>
                  <a:rPr lang="en-GB" sz="2000" i="1" dirty="0"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6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8" t="-3403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u="sng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=(2,2.833)</m:t>
                    </m:r>
                  </m:oMath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=13.917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blipFill>
                <a:blip r:embed="rId4"/>
                <a:stretch>
                  <a:fillRect l="-1420" t="-6140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40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Mixed-Integer Solution (problem based)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833FEF2-67F0-4EB3-8571-26243D2839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3595" y="1554508"/>
                <a:ext cx="4289982" cy="2330039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6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833FEF2-67F0-4EB3-8571-26243D283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95" y="1554508"/>
                <a:ext cx="4289982" cy="2330039"/>
              </a:xfrm>
              <a:prstGeom prst="rect">
                <a:avLst/>
              </a:prstGeom>
              <a:blipFill>
                <a:blip r:embed="rId3"/>
                <a:stretch>
                  <a:fillRect l="-1278" t="-3403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3A6B6DE-D0C7-49D7-9F4B-B293557EE8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7329" y="3946266"/>
                <a:ext cx="2728441" cy="1109034"/>
              </a:xfrm>
              <a:prstGeom prst="rect">
                <a:avLst/>
              </a:prstGeom>
              <a:ln w="28575"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u="sng" dirty="0"/>
                  <a:t>Optimal Solution</a:t>
                </a:r>
              </a:p>
              <a:p>
                <a:pPr marL="0" indent="0">
                  <a:buNone/>
                </a:pPr>
                <a:r>
                  <a:rPr lang="en-GB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=(2,2.833)</m:t>
                    </m:r>
                  </m:oMath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=13.917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3A6B6DE-D0C7-49D7-9F4B-B293557EE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29" y="3946266"/>
                <a:ext cx="2728441" cy="1109034"/>
              </a:xfrm>
              <a:prstGeom prst="rect">
                <a:avLst/>
              </a:prstGeom>
              <a:blipFill>
                <a:blip r:embed="rId4"/>
                <a:stretch>
                  <a:fillRect l="-2461" t="-5495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627E75D-C05C-DDF1-DB83-6A2F7E2B7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4388" y="1196151"/>
            <a:ext cx="6258798" cy="50299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BDD6BF-5C01-5C64-D44B-8178472826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71" y="5058651"/>
            <a:ext cx="4289982" cy="173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1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87696-D5A6-65B2-5302-F465B1977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C251A-0187-3E6E-4518-70BA7B915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hlinkClick r:id="rId2"/>
              </a:rPr>
              <a:t>https://ctsallis.github.io/operational_research/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Lectures → Semester 1 → Week 03 - Linear Programming 2 → 2 Lecture Demos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70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82487C-B106-4F48-B90C-C8C2D07989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587AB4-D8C9-43A3-B80F-6729B49465FB}">
  <ds:schemaRefs>
    <ds:schemaRef ds:uri="http://purl.org/dc/terms/"/>
    <ds:schemaRef ds:uri="http://schemas.microsoft.com/office/2006/documentManagement/types"/>
    <ds:schemaRef ds:uri="bf6b85bd-8a7e-4854-be4d-0780382295a8"/>
    <ds:schemaRef ds:uri="http://schemas.microsoft.com/office/2006/metadata/properties"/>
    <ds:schemaRef ds:uri="606370cc-c8d9-4222-8a4e-3c320f1e3034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2439</Words>
  <Application>Microsoft Office PowerPoint</Application>
  <PresentationFormat>Widescreen</PresentationFormat>
  <Paragraphs>713</Paragraphs>
  <Slides>27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Cambria Math</vt:lpstr>
      <vt:lpstr>Calibri Light</vt:lpstr>
      <vt:lpstr>Calibri</vt:lpstr>
      <vt:lpstr>Courier New</vt:lpstr>
      <vt:lpstr>Arial</vt:lpstr>
      <vt:lpstr>Office Theme</vt:lpstr>
      <vt:lpstr>Linear Programming 2</vt:lpstr>
      <vt:lpstr>Contents</vt:lpstr>
      <vt:lpstr>Blank Slide</vt:lpstr>
      <vt:lpstr>Linear Programming Model</vt:lpstr>
      <vt:lpstr>Canonical Form (Matrices)</vt:lpstr>
      <vt:lpstr>Solution with Python</vt:lpstr>
      <vt:lpstr>Solution with Pyomo (Modelling Language)</vt:lpstr>
      <vt:lpstr>Diet Problem (Tutorial Question 5a)</vt:lpstr>
      <vt:lpstr>Diet Problem (Tutorial Question 5a)</vt:lpstr>
      <vt:lpstr>Diet Problem (Tutorial Question 5a)</vt:lpstr>
      <vt:lpstr>Diet Problem (Tutorial Question 5a)</vt:lpstr>
      <vt:lpstr>5a Solution via Pyomo (Problem Based)</vt:lpstr>
      <vt:lpstr>Diet Problem (Tutorial Question 5b)</vt:lpstr>
      <vt:lpstr>Diet Problem (Tutorial Question 5)</vt:lpstr>
      <vt:lpstr>Fix</vt:lpstr>
      <vt:lpstr>5c Solution via Pyomo (Problem Based)</vt:lpstr>
      <vt:lpstr>Brief Introduction to Mixed-Integer Linear Programming (MILP)</vt:lpstr>
      <vt:lpstr>Manufacturing Problem (Tutorial Q4 Adapted)</vt:lpstr>
      <vt:lpstr>Manufacturing Problem (Tutorial Q4 Adapted)</vt:lpstr>
      <vt:lpstr>Manufacturing Problem (Tutorial Q4 Adapted)</vt:lpstr>
      <vt:lpstr>Desmos Demonstration</vt:lpstr>
      <vt:lpstr>Rounded Solutions</vt:lpstr>
      <vt:lpstr>Rounded Solutions</vt:lpstr>
      <vt:lpstr>Integer Solution via Pyomo (problem based)</vt:lpstr>
      <vt:lpstr>Mixed-Integer Program</vt:lpstr>
      <vt:lpstr>Mixed-Integer Solution (problem based)</vt:lpstr>
      <vt:lpstr>Demos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 1</dc:title>
  <dc:creator>Sam O'Neill</dc:creator>
  <cp:lastModifiedBy>Sam O'Neill</cp:lastModifiedBy>
  <cp:revision>2</cp:revision>
  <dcterms:created xsi:type="dcterms:W3CDTF">2019-10-08T20:55:29Z</dcterms:created>
  <dcterms:modified xsi:type="dcterms:W3CDTF">2025-10-09T11:12:54Z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