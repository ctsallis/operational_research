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7" r:id="rId7"/>
    <p:sldId id="292" r:id="rId8"/>
    <p:sldId id="291" r:id="rId9"/>
    <p:sldId id="297" r:id="rId10"/>
    <p:sldId id="311" r:id="rId11"/>
    <p:sldId id="312" r:id="rId12"/>
    <p:sldId id="314" r:id="rId13"/>
    <p:sldId id="317" r:id="rId14"/>
    <p:sldId id="318" r:id="rId15"/>
    <p:sldId id="319" r:id="rId16"/>
    <p:sldId id="320" r:id="rId17"/>
    <p:sldId id="315" r:id="rId18"/>
    <p:sldId id="321" r:id="rId19"/>
    <p:sldId id="323" r:id="rId20"/>
    <p:sldId id="346" r:id="rId21"/>
    <p:sldId id="327" r:id="rId22"/>
    <p:sldId id="326" r:id="rId23"/>
    <p:sldId id="337" r:id="rId24"/>
    <p:sldId id="331" r:id="rId25"/>
    <p:sldId id="333" r:id="rId26"/>
    <p:sldId id="332" r:id="rId27"/>
    <p:sldId id="336" r:id="rId28"/>
    <p:sldId id="330" r:id="rId29"/>
    <p:sldId id="339" r:id="rId30"/>
    <p:sldId id="334" r:id="rId31"/>
    <p:sldId id="263" r:id="rId32"/>
    <p:sldId id="264" r:id="rId33"/>
    <p:sldId id="340" r:id="rId34"/>
    <p:sldId id="351" r:id="rId35"/>
    <p:sldId id="352" r:id="rId36"/>
    <p:sldId id="350" r:id="rId37"/>
    <p:sldId id="347" r:id="rId38"/>
    <p:sldId id="348" r:id="rId39"/>
    <p:sldId id="34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70AD4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8FB82-AE4B-401D-B69A-A0EB4A173ACC}" v="95" dt="2025-12-11T11:44:09.380"/>
    <p1510:client id="{6E5338DA-E5CD-4896-950E-345F807A021E}" v="10" dt="2025-12-11T12:59:21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B82FD318-F1B4-4741-BEC7-00043A56C0CD}"/>
    <pc:docChg chg="modSld">
      <pc:chgData name="Sam O'Neill" userId="cb323814-a42a-4cfe-bc74-03f595e56f6e" providerId="ADAL" clId="{B82FD318-F1B4-4741-BEC7-00043A56C0CD}" dt="2025-12-11T12:59:21.596" v="10" actId="20577"/>
      <pc:docMkLst>
        <pc:docMk/>
      </pc:docMkLst>
      <pc:sldChg chg="modSp mod modAnim">
        <pc:chgData name="Sam O'Neill" userId="cb323814-a42a-4cfe-bc74-03f595e56f6e" providerId="ADAL" clId="{B82FD318-F1B4-4741-BEC7-00043A56C0CD}" dt="2025-12-11T12:59:21.596" v="10" actId="20577"/>
        <pc:sldMkLst>
          <pc:docMk/>
          <pc:sldMk cId="3617263518" sldId="349"/>
        </pc:sldMkLst>
        <pc:spChg chg="mod">
          <ac:chgData name="Sam O'Neill" userId="cb323814-a42a-4cfe-bc74-03f595e56f6e" providerId="ADAL" clId="{B82FD318-F1B4-4741-BEC7-00043A56C0CD}" dt="2025-12-11T12:59:21.596" v="10" actId="20577"/>
          <ac:spMkLst>
            <pc:docMk/>
            <pc:sldMk cId="3617263518" sldId="349"/>
            <ac:spMk id="10" creationId="{DCA38556-15BB-4723-B5D1-560168FA4FA8}"/>
          </ac:spMkLst>
        </pc:spChg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11T11:44:09.380" v="94" actId="20577"/>
      <pc:docMkLst>
        <pc:docMk/>
      </pc:docMkLst>
      <pc:sldChg chg="modSp modAnim">
        <pc:chgData name="Sam O'Neill" userId="cb323814-a42a-4cfe-bc74-03f595e56f6e" providerId="ADAL" clId="{17ADD47D-E5AE-440A-99C5-4F3DA05BBA04}" dt="2025-12-11T11:44:09.380" v="94" actId="20577"/>
        <pc:sldMkLst>
          <pc:docMk/>
          <pc:sldMk cId="1594944998" sldId="332"/>
        </pc:sldMkLst>
        <pc:spChg chg="mod">
          <ac:chgData name="Sam O'Neill" userId="cb323814-a42a-4cfe-bc74-03f595e56f6e" providerId="ADAL" clId="{17ADD47D-E5AE-440A-99C5-4F3DA05BBA04}" dt="2025-12-11T11:44:09.380" v="94" actId="20577"/>
          <ac:spMkLst>
            <pc:docMk/>
            <pc:sldMk cId="1594944998" sldId="332"/>
            <ac:spMk id="3" creationId="{5198A88B-52B3-469E-A512-B72752EB7862}"/>
          </ac:spMkLst>
        </pc:spChg>
      </pc:sldChg>
      <pc:sldChg chg="modSp modAnim">
        <pc:chgData name="Sam O'Neill" userId="cb323814-a42a-4cfe-bc74-03f595e56f6e" providerId="ADAL" clId="{17ADD47D-E5AE-440A-99C5-4F3DA05BBA04}" dt="2025-12-11T11:42:37.007" v="31" actId="20577"/>
        <pc:sldMkLst>
          <pc:docMk/>
          <pc:sldMk cId="3617263518" sldId="349"/>
        </pc:sldMkLst>
        <pc:spChg chg="mod">
          <ac:chgData name="Sam O'Neill" userId="cb323814-a42a-4cfe-bc74-03f595e56f6e" providerId="ADAL" clId="{17ADD47D-E5AE-440A-99C5-4F3DA05BBA04}" dt="2025-12-11T11:42:37.007" v="31" actId="20577"/>
          <ac:spMkLst>
            <pc:docMk/>
            <pc:sldMk cId="3617263518" sldId="349"/>
            <ac:spMk id="10" creationId="{DCA38556-15BB-4723-B5D1-560168FA4FA8}"/>
          </ac:spMkLst>
        </pc:spChg>
        <pc:picChg chg="mod">
          <ac:chgData name="Sam O'Neill" userId="cb323814-a42a-4cfe-bc74-03f595e56f6e" providerId="ADAL" clId="{17ADD47D-E5AE-440A-99C5-4F3DA05BBA04}" dt="2025-12-11T11:41:58.623" v="30" actId="1076"/>
          <ac:picMkLst>
            <pc:docMk/>
            <pc:sldMk cId="3617263518" sldId="349"/>
            <ac:picMk id="1028" creationId="{76B86C00-34C6-47E0-90CC-43BB3DE6E6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1.png"/><Relationship Id="rId7" Type="http://schemas.openxmlformats.org/officeDocument/2006/relationships/image" Target="../media/image2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Floor Planning/Bin Packing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/>
          </a:p>
          <a:p>
            <a:pPr marL="0" lvl="0" indent="0">
              <a:buNone/>
            </a:pP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/>
                  <a:t>and</a:t>
                </a:r>
                <a:b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>
                    <a:latin typeface="Cambria Math" panose="02040503050406030204" pitchFamily="18" charset="0"/>
                  </a:rPr>
                </a:br>
                <a:r>
                  <a:rPr lang="en-GB" sz="2000" i="1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D052F5-51DE-47CC-A102-DDBD8ACE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69" y="1363565"/>
            <a:ext cx="8315059" cy="4823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/>
                  <a:t>and</a:t>
                </a:r>
                <a:b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/>
              </a:p>
              <a:p>
                <a:pPr marL="0" indent="0">
                  <a:buNone/>
                </a:pPr>
                <a:r>
                  <a:rPr lang="en-GB" sz="16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/>
              </a:p>
              <a:p>
                <a:pPr marL="0" indent="0">
                  <a:buNone/>
                </a:pPr>
                <a:r>
                  <a:rPr lang="en-GB" sz="16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BEE869B-2667-40A1-9F47-3A902361A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751" y="3247939"/>
            <a:ext cx="1453654" cy="23961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10"/>
          <p:cNvSpPr txBox="1"/>
          <p:nvPr/>
        </p:nvSpPr>
        <p:spPr>
          <a:xfrm>
            <a:off x="598419" y="5800000"/>
            <a:ext cx="3150000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MATLAB shows fval = −13.9167 because it solves the problem as “minimise −P”; so P* = 13.917.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 Dimensional Floor Planning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57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Pack the following 4 tables into the smallest area possible.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build a model which finds the smallest square that holds them all. Even this is complex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3,7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7,7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b="0" dirty="0"/>
                  <a:t> has co-ordinates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for its position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24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3,7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7,7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b="0" dirty="0"/>
                  <a:t> has:</a:t>
                </a:r>
              </a:p>
              <a:p>
                <a:r>
                  <a:rPr lang="en-GB" b="0" dirty="0"/>
                  <a:t>co-ordinates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Width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Height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/>
              <p:nvPr/>
            </p:nvSpPr>
            <p:spPr>
              <a:xfrm>
                <a:off x="6513922" y="3516198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922" y="3516198"/>
                <a:ext cx="3921550" cy="19419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2AEDF7-A3B0-44BC-B155-9D50920BA226}"/>
              </a:ext>
            </a:extLst>
          </p:cNvPr>
          <p:cNvCxnSpPr>
            <a:cxnSpLocks/>
          </p:cNvCxnSpPr>
          <p:nvPr/>
        </p:nvCxnSpPr>
        <p:spPr>
          <a:xfrm>
            <a:off x="6513922" y="5969573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7CDD34-528A-48E7-A3AD-F324562D4E68}"/>
              </a:ext>
            </a:extLst>
          </p:cNvPr>
          <p:cNvCxnSpPr>
            <a:cxnSpLocks/>
          </p:cNvCxnSpPr>
          <p:nvPr/>
        </p:nvCxnSpPr>
        <p:spPr>
          <a:xfrm flipH="1" flipV="1">
            <a:off x="10894634" y="3500853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/>
              <p:nvPr/>
            </p:nvSpPr>
            <p:spPr>
              <a:xfrm>
                <a:off x="8237485" y="6095992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485" y="6095992"/>
                <a:ext cx="474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/>
              <p:nvPr/>
            </p:nvSpPr>
            <p:spPr>
              <a:xfrm>
                <a:off x="11041667" y="4302492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1667" y="4302492"/>
                <a:ext cx="440442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4665DAE-DDDC-4C7A-8B7F-EBFE1F314FC0}"/>
              </a:ext>
            </a:extLst>
          </p:cNvPr>
          <p:cNvSpPr/>
          <p:nvPr/>
        </p:nvSpPr>
        <p:spPr>
          <a:xfrm>
            <a:off x="6291746" y="4513372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/>
              <p:nvPr/>
            </p:nvSpPr>
            <p:spPr>
              <a:xfrm>
                <a:off x="5600241" y="5426994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241" y="5426994"/>
                <a:ext cx="909031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84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Make sure that the tables don’t overlap.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Either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Only one can hold!</a:t>
                </a:r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35D972-66A5-49B1-A05D-34EAA8FC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60089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EC85EC-CE28-41E0-9900-98C8B1AD28EA}"/>
                  </a:ext>
                </a:extLst>
              </p:cNvPr>
              <p:cNvSpPr/>
              <p:nvPr/>
            </p:nvSpPr>
            <p:spPr>
              <a:xfrm>
                <a:off x="9714311" y="103588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EC85EC-CE28-41E0-9900-98C8B1AD2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103588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5C32D-5D73-43A1-9547-F2E0369ABC90}"/>
                  </a:ext>
                </a:extLst>
              </p:cNvPr>
              <p:cNvSpPr/>
              <p:nvPr/>
            </p:nvSpPr>
            <p:spPr>
              <a:xfrm>
                <a:off x="9135542" y="1455506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5C32D-5D73-43A1-9547-F2E0369AB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542" y="1455506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71201858-6901-4393-BE62-07439D6BE3C3}"/>
              </a:ext>
            </a:extLst>
          </p:cNvPr>
          <p:cNvSpPr/>
          <p:nvPr/>
        </p:nvSpPr>
        <p:spPr>
          <a:xfrm>
            <a:off x="10724473" y="1855536"/>
            <a:ext cx="705359" cy="705359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2E2DF-9C4D-488D-97F4-C186E2B85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2695274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E3B399-49AE-4631-8D91-BD715DA53A19}"/>
                  </a:ext>
                </a:extLst>
              </p:cNvPr>
              <p:cNvSpPr/>
              <p:nvPr/>
            </p:nvSpPr>
            <p:spPr>
              <a:xfrm>
                <a:off x="9714311" y="3130264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E3B399-49AE-4631-8D91-BD715DA53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3130264"/>
                <a:ext cx="705359" cy="10033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9C7D20-61C2-4455-895A-58873C5DF37A}"/>
                  </a:ext>
                </a:extLst>
              </p:cNvPr>
              <p:cNvSpPr/>
              <p:nvPr/>
            </p:nvSpPr>
            <p:spPr>
              <a:xfrm>
                <a:off x="8715803" y="3533968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9C7D20-61C2-4455-895A-58873C5DF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803" y="3533968"/>
                <a:ext cx="839477" cy="5960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DDC2319E-56F7-47BC-B38E-C1B5D0F092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19952" y="3498404"/>
            <a:ext cx="914400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E3D400-6BFC-4357-8708-FBEAEDD4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70" y="4722801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891E52-9400-49A7-94F8-9BCCB3262EA0}"/>
                  </a:ext>
                </a:extLst>
              </p:cNvPr>
              <p:cNvSpPr/>
              <p:nvPr/>
            </p:nvSpPr>
            <p:spPr>
              <a:xfrm>
                <a:off x="9714311" y="5157791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891E52-9400-49A7-94F8-9BCCB3262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311" y="5157791"/>
                <a:ext cx="705359" cy="10033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83B3E7-BF0C-4C01-AA97-76D14AD30D84}"/>
                  </a:ext>
                </a:extLst>
              </p:cNvPr>
              <p:cNvSpPr/>
              <p:nvPr/>
            </p:nvSpPr>
            <p:spPr>
              <a:xfrm>
                <a:off x="10466996" y="5411082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83B3E7-BF0C-4C01-AA97-76D14AD30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996" y="5411082"/>
                <a:ext cx="839477" cy="5960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raphic 17" descr="Checkmark">
            <a:extLst>
              <a:ext uri="{FF2B5EF4-FFF2-40B4-BE49-F238E27FC236}">
                <a16:creationId xmlns:a16="http://schemas.microsoft.com/office/drawing/2014/main" id="{65B7C2D2-FC2A-4CCF-B7EC-2499398B7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6465" y="57263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30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3061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3533687" y="4472945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687" y="4472945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/>
          <p:nvPr/>
        </p:nvCxnSpPr>
        <p:spPr>
          <a:xfrm>
            <a:off x="5232158" y="1429069"/>
            <a:ext cx="0" cy="4295775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8B0F1FD-9D65-4C63-B702-AB0A04F584A7}"/>
              </a:ext>
            </a:extLst>
          </p:cNvPr>
          <p:cNvSpPr/>
          <p:nvPr/>
        </p:nvSpPr>
        <p:spPr>
          <a:xfrm>
            <a:off x="0" y="1185718"/>
            <a:ext cx="5232158" cy="5672282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15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359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3593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7769274" y="3143999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274" y="3143999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>
            <a:off x="5978913" y="1525954"/>
            <a:ext cx="0" cy="4295775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5988440" y="1071417"/>
            <a:ext cx="6203560" cy="5786583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02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4999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499961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3873549" y="5376428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49" y="5376428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 flipH="1">
            <a:off x="3717651" y="4108634"/>
            <a:ext cx="4541576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-600075" y="4108634"/>
            <a:ext cx="13535025" cy="2749365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92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Intuition – 4 possible situations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/>
              <p:nvPr/>
            </p:nvSpPr>
            <p:spPr>
              <a:xfrm>
                <a:off x="772367" y="1934854"/>
                <a:ext cx="15052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72D493-2AB8-48DE-A8A3-15833DAEB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7" y="1934854"/>
                <a:ext cx="15052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04D8D5E3-3E0A-4137-A2CB-832381EE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88" y="2670246"/>
            <a:ext cx="2505245" cy="2007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/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A91D5-C5A3-4B40-92FC-C68E396B5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3105236"/>
                <a:ext cx="705359" cy="1003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/>
              <p:nvPr/>
            </p:nvSpPr>
            <p:spPr>
              <a:xfrm>
                <a:off x="5264029" y="1856674"/>
                <a:ext cx="839477" cy="5960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713CBB2-0B6E-478B-909A-D5C3813F8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29" y="1856674"/>
                <a:ext cx="839477" cy="596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4AB7A-B05A-43B0-8646-4A2081AB7CEF}"/>
              </a:ext>
            </a:extLst>
          </p:cNvPr>
          <p:cNvCxnSpPr>
            <a:cxnSpLocks/>
          </p:cNvCxnSpPr>
          <p:nvPr/>
        </p:nvCxnSpPr>
        <p:spPr>
          <a:xfrm flipH="1">
            <a:off x="3658652" y="3105235"/>
            <a:ext cx="4541576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3A8CEE-C904-44FC-AF39-83E1DC31EF8F}"/>
              </a:ext>
            </a:extLst>
          </p:cNvPr>
          <p:cNvSpPr/>
          <p:nvPr/>
        </p:nvSpPr>
        <p:spPr>
          <a:xfrm>
            <a:off x="0" y="-1"/>
            <a:ext cx="12191999" cy="3105235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6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fact, two tables don’t overlap exactly when at least one of these 4 constraints holds!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Either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34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Binary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Introduce binary variables for the two tables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use them to choose which one of the four constraints must hold;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be a sufficiently large number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799EDB8-A384-400A-A97E-58D696E83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195028"/>
                  </p:ext>
                </p:extLst>
              </p:nvPr>
            </p:nvGraphicFramePr>
            <p:xfrm>
              <a:off x="838200" y="4161198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727">
                      <a:extLst>
                        <a:ext uri="{9D8B030D-6E8A-4147-A177-3AD203B41FA5}">
                          <a16:colId xmlns:a16="http://schemas.microsoft.com/office/drawing/2014/main" val="2070012364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4159222569"/>
                        </a:ext>
                      </a:extLst>
                    </a:gridCol>
                    <a:gridCol w="2162175">
                      <a:extLst>
                        <a:ext uri="{9D8B030D-6E8A-4147-A177-3AD203B41FA5}">
                          <a16:colId xmlns:a16="http://schemas.microsoft.com/office/drawing/2014/main" val="1584844070"/>
                        </a:ext>
                      </a:extLst>
                    </a:gridCol>
                    <a:gridCol w="2085975">
                      <a:extLst>
                        <a:ext uri="{9D8B030D-6E8A-4147-A177-3AD203B41FA5}">
                          <a16:colId xmlns:a16="http://schemas.microsoft.com/office/drawing/2014/main" val="4198822982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112656150"/>
                        </a:ext>
                      </a:extLst>
                    </a:gridCol>
                    <a:gridCol w="2305048">
                      <a:extLst>
                        <a:ext uri="{9D8B030D-6E8A-4147-A177-3AD203B41FA5}">
                          <a16:colId xmlns:a16="http://schemas.microsoft.com/office/drawing/2014/main" val="1072507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546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1552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61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424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8631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799EDB8-A384-400A-A97E-58D696E83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195028"/>
                  </p:ext>
                </p:extLst>
              </p:nvPr>
            </p:nvGraphicFramePr>
            <p:xfrm>
              <a:off x="838200" y="4161198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727">
                      <a:extLst>
                        <a:ext uri="{9D8B030D-6E8A-4147-A177-3AD203B41FA5}">
                          <a16:colId xmlns:a16="http://schemas.microsoft.com/office/drawing/2014/main" val="2070012364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4159222569"/>
                        </a:ext>
                      </a:extLst>
                    </a:gridCol>
                    <a:gridCol w="2162175">
                      <a:extLst>
                        <a:ext uri="{9D8B030D-6E8A-4147-A177-3AD203B41FA5}">
                          <a16:colId xmlns:a16="http://schemas.microsoft.com/office/drawing/2014/main" val="1584844070"/>
                        </a:ext>
                      </a:extLst>
                    </a:gridCol>
                    <a:gridCol w="2085975">
                      <a:extLst>
                        <a:ext uri="{9D8B030D-6E8A-4147-A177-3AD203B41FA5}">
                          <a16:colId xmlns:a16="http://schemas.microsoft.com/office/drawing/2014/main" val="4198822982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112656150"/>
                        </a:ext>
                      </a:extLst>
                    </a:gridCol>
                    <a:gridCol w="2305048">
                      <a:extLst>
                        <a:ext uri="{9D8B030D-6E8A-4147-A177-3AD203B41FA5}">
                          <a16:colId xmlns:a16="http://schemas.microsoft.com/office/drawing/2014/main" val="1072507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1639" r="-114460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1639" r="-111450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1639" r="-31126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1639" r="-22215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1639" r="-10052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1639" r="-1058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546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101639" r="-114460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101639" r="-111450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101639" r="-31126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101639" r="-22215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101639" r="-10052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101639" r="-1058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1552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201639" r="-11446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201639" r="-111450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201639" r="-31126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201639" r="-22215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201639" r="-10052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201639" r="-105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6168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301639" r="-11446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301639" r="-111450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301639" r="-31126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301639" r="-22215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301639" r="-10052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301639" r="-105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3424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9" t="-401639" r="-11446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870" t="-401639" r="-111450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38" t="-401639" r="-31126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2507" t="-401639" r="-22215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000" t="-401639" r="-10052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878" t="-401639" r="-105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86316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351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4 constraints for table 1 and 2 are now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(2−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CCEB9-56C1-476A-85C1-1769D699E0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440731"/>
                  </p:ext>
                </p:extLst>
              </p:nvPr>
            </p:nvGraphicFramePr>
            <p:xfrm>
              <a:off x="1190625" y="4701454"/>
              <a:ext cx="980122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3772">
                      <a:extLst>
                        <a:ext uri="{9D8B030D-6E8A-4147-A177-3AD203B41FA5}">
                          <a16:colId xmlns:a16="http://schemas.microsoft.com/office/drawing/2014/main" val="23766715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0365411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345442629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929817905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55596157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395565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C1</a:t>
                          </a:r>
                        </a:p>
                      </a:txBody>
                      <a:tcPr anchor="ctr"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5096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423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54429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07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60990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CCEB9-56C1-476A-85C1-1769D699E0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440731"/>
                  </p:ext>
                </p:extLst>
              </p:nvPr>
            </p:nvGraphicFramePr>
            <p:xfrm>
              <a:off x="1190625" y="4701454"/>
              <a:ext cx="980122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3772">
                      <a:extLst>
                        <a:ext uri="{9D8B030D-6E8A-4147-A177-3AD203B41FA5}">
                          <a16:colId xmlns:a16="http://schemas.microsoft.com/office/drawing/2014/main" val="23766715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036541122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345442629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929817905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1555961573"/>
                        </a:ext>
                      </a:extLst>
                    </a:gridCol>
                    <a:gridCol w="1617491">
                      <a:extLst>
                        <a:ext uri="{9D8B030D-6E8A-4147-A177-3AD203B41FA5}">
                          <a16:colId xmlns:a16="http://schemas.microsoft.com/office/drawing/2014/main" val="23955659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8197" r="-47402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8197" r="-40075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C1</a:t>
                          </a:r>
                        </a:p>
                      </a:txBody>
                      <a:tcPr anchor="ctr"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5096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108197" r="-47402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06015" t="-108197" r="-40075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423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208197" r="-47402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208197" r="-40075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54429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308197" r="-47402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308197" r="-4007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07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6" t="-408197" r="-47402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015" t="-408197" r="-40075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Satisfied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Active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70AD4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60990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2242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Non-overlapping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How many non-overlapping constraints?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Test each pair.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(tables)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 combinatorial problem!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94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0845"/>
                <a:ext cx="10515600" cy="510554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Then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This is known as a minimax problem. That is, we wish to minimise the upper bound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on the left-hand sides.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0845"/>
                <a:ext cx="10515600" cy="5105545"/>
              </a:xfrm>
              <a:blipFill>
                <a:blip r:embed="rId2"/>
                <a:stretch>
                  <a:fillRect l="-1043" r="-638" b="-2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09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MILP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subject 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2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B35AF8-3B05-4FEC-B15F-9469A89A5D7C}"/>
              </a:ext>
            </a:extLst>
          </p:cNvPr>
          <p:cNvSpPr/>
          <p:nvPr/>
        </p:nvSpPr>
        <p:spPr>
          <a:xfrm>
            <a:off x="8324022" y="2516814"/>
            <a:ext cx="2034211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 err="1"/>
              <a:t>Minimax</a:t>
            </a:r>
            <a:r>
              <a:rPr lang="en-GB" u="sng" dirty="0"/>
              <a:t>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1A2D5-6F1C-45C1-837A-FE82163DC211}"/>
              </a:ext>
            </a:extLst>
          </p:cNvPr>
          <p:cNvSpPr/>
          <p:nvPr/>
        </p:nvSpPr>
        <p:spPr>
          <a:xfrm>
            <a:off x="8321715" y="4073141"/>
            <a:ext cx="282141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Non-overlapping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68A9C-5B8C-4A27-AD1B-A1C1A56B09AF}"/>
              </a:ext>
            </a:extLst>
          </p:cNvPr>
          <p:cNvSpPr/>
          <p:nvPr/>
        </p:nvSpPr>
        <p:spPr>
          <a:xfrm>
            <a:off x="8326331" y="5616735"/>
            <a:ext cx="202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/>
              <a:t>Variable constraints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15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Solution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691A24-4B44-4EE1-B56F-F901DAF96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533" y="1059441"/>
            <a:ext cx="4744112" cy="3877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D7933-4009-4569-B592-6EE917BAFF49}"/>
                  </a:ext>
                </a:extLst>
              </p:cNvPr>
              <p:cNvSpPr txBox="1"/>
              <p:nvPr/>
            </p:nvSpPr>
            <p:spPr>
              <a:xfrm>
                <a:off x="3160267" y="5157736"/>
                <a:ext cx="513326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Here is our solution,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GB" dirty="0"/>
                  <a:t> for both 4 and 6 items!</a:t>
                </a:r>
              </a:p>
              <a:p>
                <a:endParaRPr lang="en-GB" dirty="0"/>
              </a:p>
              <a:p>
                <a:r>
                  <a:rPr lang="en-GB" dirty="0"/>
                  <a:t>Our solutions are optimal</a:t>
                </a:r>
              </a:p>
              <a:p>
                <a:endParaRPr lang="en-GB" dirty="0"/>
              </a:p>
              <a:p>
                <a:r>
                  <a:rPr lang="en-GB" dirty="0"/>
                  <a:t>Can it be improved? What is the issue?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D7933-4009-4569-B592-6EE917BA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67" y="5157736"/>
                <a:ext cx="5133265" cy="1477328"/>
              </a:xfrm>
              <a:prstGeom prst="rect">
                <a:avLst/>
              </a:prstGeom>
              <a:blipFill>
                <a:blip r:embed="rId3"/>
                <a:stretch>
                  <a:fillRect l="-950" t="-2066" r="-35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C5CA5B9-1A5F-4D55-9F1F-489C991AF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62" y="1088020"/>
            <a:ext cx="4753638" cy="382005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00162" y="480000"/>
            <a:ext cx="4753638" cy="4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Right plot – items 1–6 (w, h): (4,5), (3,7), (6,4), (7,6), (3,3), (2,4); item 4 is 7×6 here.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37704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Adding Rotation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8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Floor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rotation, width and height are swapped</a:t>
            </a:r>
          </a:p>
          <a:p>
            <a:endParaRPr lang="en-GB" dirty="0"/>
          </a:p>
          <a:p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/>
              <p:nvPr/>
            </p:nvSpPr>
            <p:spPr>
              <a:xfrm rot="16200000">
                <a:off x="6658100" y="2608071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2A5A1F-539A-4177-9A32-606689D06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58100" y="2608071"/>
                <a:ext cx="3921550" cy="1941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2AEDF7-A3B0-44BC-B155-9D50920BA226}"/>
              </a:ext>
            </a:extLst>
          </p:cNvPr>
          <p:cNvCxnSpPr>
            <a:cxnSpLocks/>
          </p:cNvCxnSpPr>
          <p:nvPr/>
        </p:nvCxnSpPr>
        <p:spPr>
          <a:xfrm rot="16200000">
            <a:off x="8159842" y="3579032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7CDD34-528A-48E7-A3AD-F324562D4E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603530" y="4986758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/>
              <p:nvPr/>
            </p:nvSpPr>
            <p:spPr>
              <a:xfrm>
                <a:off x="10262785" y="3394366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CB6F33-152B-4B9A-8313-2EBDE11EF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785" y="3394366"/>
                <a:ext cx="47442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/>
              <p:nvPr/>
            </p:nvSpPr>
            <p:spPr>
              <a:xfrm>
                <a:off x="8398654" y="6046862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764A1C-5ADD-46E5-B486-B9A5FDC26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54" y="6046862"/>
                <a:ext cx="4404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4665DAE-DDDC-4C7A-8B7F-EBFE1F314FC0}"/>
              </a:ext>
            </a:extLst>
          </p:cNvPr>
          <p:cNvSpPr/>
          <p:nvPr/>
        </p:nvSpPr>
        <p:spPr>
          <a:xfrm>
            <a:off x="7435487" y="4595059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/>
              <p:nvPr/>
            </p:nvSpPr>
            <p:spPr>
              <a:xfrm>
                <a:off x="6711679" y="5473464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BF24E3-FBA1-4083-ACE8-907B54AD7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679" y="5473464"/>
                <a:ext cx="90903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CA001B6-CF89-4CD7-A485-79C02AD08B73}"/>
                  </a:ext>
                </a:extLst>
              </p:cNvPr>
              <p:cNvSpPr/>
              <p:nvPr/>
            </p:nvSpPr>
            <p:spPr>
              <a:xfrm>
                <a:off x="906245" y="3444345"/>
                <a:ext cx="3921550" cy="19419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CA001B6-CF89-4CD7-A485-79C02AD08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45" y="3444345"/>
                <a:ext cx="3921550" cy="1941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748045-2FB4-43F4-8344-088B6AFE8BE7}"/>
              </a:ext>
            </a:extLst>
          </p:cNvPr>
          <p:cNvCxnSpPr>
            <a:cxnSpLocks/>
          </p:cNvCxnSpPr>
          <p:nvPr/>
        </p:nvCxnSpPr>
        <p:spPr>
          <a:xfrm>
            <a:off x="906245" y="5897720"/>
            <a:ext cx="392155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61CFF9-D0F3-4698-8D18-BB035CE1C63F}"/>
              </a:ext>
            </a:extLst>
          </p:cNvPr>
          <p:cNvCxnSpPr>
            <a:cxnSpLocks/>
          </p:cNvCxnSpPr>
          <p:nvPr/>
        </p:nvCxnSpPr>
        <p:spPr>
          <a:xfrm flipH="1" flipV="1">
            <a:off x="5286957" y="3429000"/>
            <a:ext cx="1" cy="197261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FF9D9C-7970-4D9E-8FD8-378CB50B4432}"/>
                  </a:ext>
                </a:extLst>
              </p:cNvPr>
              <p:cNvSpPr/>
              <p:nvPr/>
            </p:nvSpPr>
            <p:spPr>
              <a:xfrm>
                <a:off x="5433990" y="4230639"/>
                <a:ext cx="440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FF9D9C-7970-4D9E-8FD8-378CB50B4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990" y="4230639"/>
                <a:ext cx="44044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47C1706-30BE-4245-9CF3-7AAA0DC4037E}"/>
              </a:ext>
            </a:extLst>
          </p:cNvPr>
          <p:cNvSpPr/>
          <p:nvPr/>
        </p:nvSpPr>
        <p:spPr>
          <a:xfrm>
            <a:off x="684069" y="4441519"/>
            <a:ext cx="4443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dirty="0"/>
              <a:t>.</a:t>
            </a:r>
            <a:endParaRPr lang="en-GB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1177E3-B69D-4F18-B95D-89D348E267E5}"/>
                  </a:ext>
                </a:extLst>
              </p:cNvPr>
              <p:cNvSpPr/>
              <p:nvPr/>
            </p:nvSpPr>
            <p:spPr>
              <a:xfrm>
                <a:off x="-7436" y="5355141"/>
                <a:ext cx="9090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1177E3-B69D-4F18-B95D-89D348E26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36" y="5355141"/>
                <a:ext cx="909031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A05A40-BA1D-416A-B730-8F4E0D50CA83}"/>
                  </a:ext>
                </a:extLst>
              </p:cNvPr>
              <p:cNvSpPr/>
              <p:nvPr/>
            </p:nvSpPr>
            <p:spPr>
              <a:xfrm>
                <a:off x="2718985" y="6063357"/>
                <a:ext cx="474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A05A40-BA1D-416A-B730-8F4E0D50C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985" y="6063357"/>
                <a:ext cx="47442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568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Amending the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Introduce binary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(not rotated),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600">
                    <a:latin typeface="Calibri" panose="020F0502020204030204" pitchFamily="34" charset="0"/>
                    <a:cs typeface="Calibri" panose="020F0502020204030204" pitchFamily="34" charset="0"/>
                  </a:rPr>
                  <a:t>(rotated).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Minimax constraints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Non-overlapping constraints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94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Solution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E372E3-2891-4112-A9E2-488FA809B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888" y="1490392"/>
            <a:ext cx="4744112" cy="3877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043CA-9D0A-45D2-916A-554A6D63E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57" y="1490392"/>
            <a:ext cx="4610743" cy="3839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72CCD8-05BA-4DC4-B54C-AC25A360D6CF}"/>
                  </a:ext>
                </a:extLst>
              </p:cNvPr>
              <p:cNvSpPr txBox="1"/>
              <p:nvPr/>
            </p:nvSpPr>
            <p:spPr>
              <a:xfrm>
                <a:off x="2973368" y="5569545"/>
                <a:ext cx="62862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Here is our solution,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. Improvement!</a:t>
                </a:r>
              </a:p>
              <a:p>
                <a:endParaRPr lang="en-GB" dirty="0"/>
              </a:p>
              <a:p>
                <a:r>
                  <a:rPr lang="en-GB" dirty="0"/>
                  <a:t>Can it be improved? This is dependent on your desired objective!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72CCD8-05BA-4DC4-B54C-AC25A360D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68" y="5569545"/>
                <a:ext cx="6286273" cy="923330"/>
              </a:xfrm>
              <a:prstGeom prst="rect">
                <a:avLst/>
              </a:prstGeom>
              <a:blipFill>
                <a:blip r:embed="rId4"/>
                <a:stretch>
                  <a:fillRect l="-873" t="-3974" r="-97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568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AD099-6ACE-4C0D-A46F-42FE95E09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Connected 2 Dimensional Packing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6CEB36-D3CE-47A7-8B4E-6F9F0ACC9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Minimisation of the rectilinear distance between connected items</a:t>
            </a:r>
          </a:p>
        </p:txBody>
      </p:sp>
    </p:spTree>
    <p:extLst>
      <p:ext uri="{BB962C8B-B14F-4D97-AF65-F5344CB8AC3E}">
        <p14:creationId xmlns:p14="http://schemas.microsoft.com/office/powerpoint/2010/main" val="350016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Clustering of components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2E2B-896C-4EEF-9B67-12A7814815A1}"/>
              </a:ext>
            </a:extLst>
          </p:cNvPr>
          <p:cNvSpPr txBox="1">
            <a:spLocks/>
          </p:cNvSpPr>
          <p:nvPr/>
        </p:nvSpPr>
        <p:spPr>
          <a:xfrm>
            <a:off x="838200" y="1226916"/>
            <a:ext cx="10515600" cy="4950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Perhaps you have connected components that need to be close to each other and you have a fixed width/height for your floor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CF3492-B036-420A-93C3-CA9CCA175F95}"/>
                  </a:ext>
                </a:extLst>
              </p:cNvPr>
              <p:cNvSpPr/>
              <p:nvPr/>
            </p:nvSpPr>
            <p:spPr>
              <a:xfrm>
                <a:off x="4862234" y="3791508"/>
                <a:ext cx="2033903" cy="10071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CF3492-B036-420A-93C3-CA9CCA175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234" y="3791508"/>
                <a:ext cx="2033903" cy="10071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216AF-58E5-4993-86E1-CE1A69E61172}"/>
                  </a:ext>
                </a:extLst>
              </p:cNvPr>
              <p:cNvSpPr/>
              <p:nvPr/>
            </p:nvSpPr>
            <p:spPr>
              <a:xfrm>
                <a:off x="1104390" y="3061585"/>
                <a:ext cx="1295349" cy="24670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216AF-58E5-4993-86E1-CE1A69E611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390" y="3061585"/>
                <a:ext cx="1295349" cy="2467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2A15E9-7242-40D3-B7D9-1C1B7D7F1EA1}"/>
                  </a:ext>
                </a:extLst>
              </p:cNvPr>
              <p:cNvSpPr/>
              <p:nvPr/>
            </p:nvSpPr>
            <p:spPr>
              <a:xfrm>
                <a:off x="8865041" y="3371798"/>
                <a:ext cx="2488759" cy="18465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2A15E9-7242-40D3-B7D9-1C1B7D7F1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41" y="3371798"/>
                <a:ext cx="2488759" cy="1846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979E02-38E6-4718-BC28-B36D9F6D2B07}"/>
                  </a:ext>
                </a:extLst>
              </p:cNvPr>
              <p:cNvSpPr/>
              <p:nvPr/>
            </p:nvSpPr>
            <p:spPr>
              <a:xfrm>
                <a:off x="4643560" y="5401994"/>
                <a:ext cx="2488759" cy="13272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979E02-38E6-4718-BC28-B36D9F6D2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5401994"/>
                <a:ext cx="2488759" cy="1327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7B75CFD-FA50-44D5-A788-C5E95C9591B6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2399740" y="4295095"/>
            <a:ext cx="2462495" cy="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2248A2D-6C87-43A1-86E7-CA74729B098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5581907" y="5095960"/>
            <a:ext cx="603313" cy="875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0E53862-A5DE-4B39-9D56-0FEC6145448A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16200000" flipH="1">
            <a:off x="5775636" y="-961987"/>
            <a:ext cx="310213" cy="8357356"/>
          </a:xfrm>
          <a:prstGeom prst="bentConnector3">
            <a:avLst>
              <a:gd name="adj1" fmla="val -73691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CFD1006-66AF-4DE5-BB3A-576BC923F86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896137" y="4295094"/>
            <a:ext cx="1968904" cy="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1647418-B38B-4F28-8552-CEF7DDA3C441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5400000">
            <a:off x="8197249" y="4153460"/>
            <a:ext cx="847242" cy="2977102"/>
          </a:xfrm>
          <a:prstGeom prst="bentConnector2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40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Amending the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 fixed width and height floor.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Boundary constraints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Note we could drop these if the items did not have to stay within a boundary, or make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𝐻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sufficiently large!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Non-overlapping constraints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1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94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CFB50-8F40-430E-8EF0-F3BF1D6539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2192"/>
                <a:ext cx="10515600" cy="498477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all connected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]−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the absolute distance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; minimising makes them equal.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]−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the absolute distance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; minimising makes them equal.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CFB50-8F40-430E-8EF0-F3BF1D653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2192"/>
                <a:ext cx="10515600" cy="4984771"/>
              </a:xfrm>
              <a:blipFill>
                <a:blip r:embed="rId2"/>
                <a:stretch>
                  <a:fillRect l="-754" t="-25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EABECAB-B9D9-4AAB-8DA1-B90EC004578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Distance between items (from centre points)</a:t>
            </a:r>
          </a:p>
        </p:txBody>
      </p:sp>
    </p:spTree>
    <p:extLst>
      <p:ext uri="{BB962C8B-B14F-4D97-AF65-F5344CB8AC3E}">
        <p14:creationId xmlns:p14="http://schemas.microsoft.com/office/powerpoint/2010/main" val="167061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EBEF5-E083-41E4-BDFE-FBB5A1E4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6916"/>
                <a:ext cx="10515600" cy="49500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Minimise Rectilinear Distance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all connected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EBEF5-E083-41E4-BDFE-FBB5A1E4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6916"/>
                <a:ext cx="10515600" cy="4950047"/>
              </a:xfrm>
              <a:blipFill>
                <a:blip r:embed="rId2"/>
                <a:stretch>
                  <a:fillRect l="-1217" t="-1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21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Results for different floor spaces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582E3-AE5C-4A65-9BFE-EB5EA2BA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9" y="2266753"/>
            <a:ext cx="3424552" cy="2870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B2017D-9D1E-4CBB-915F-2A1EA58D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892" y="2266752"/>
            <a:ext cx="3465709" cy="2870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0F830C-46C0-4945-9EB5-B85B711A9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285" y="2266752"/>
            <a:ext cx="3483391" cy="2870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11FBD9-ADB3-48DB-920D-33667DB47E8F}"/>
                  </a:ext>
                </a:extLst>
              </p:cNvPr>
              <p:cNvSpPr/>
              <p:nvPr/>
            </p:nvSpPr>
            <p:spPr>
              <a:xfrm>
                <a:off x="4852511" y="5472377"/>
                <a:ext cx="2189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=8,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11FBD9-ADB3-48DB-920D-33667DB47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511" y="5472377"/>
                <a:ext cx="218976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66DF93F-C03C-4E5B-B6B8-AC87C7800222}"/>
                  </a:ext>
                </a:extLst>
              </p:cNvPr>
              <p:cNvSpPr/>
              <p:nvPr/>
            </p:nvSpPr>
            <p:spPr>
              <a:xfrm>
                <a:off x="8865480" y="5446418"/>
                <a:ext cx="22667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=10,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66DF93F-C03C-4E5B-B6B8-AC87C7800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480" y="5446418"/>
                <a:ext cx="22667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E0F78D-B6E3-4E94-8508-0F40E7E82901}"/>
                  </a:ext>
                </a:extLst>
              </p:cNvPr>
              <p:cNvSpPr/>
              <p:nvPr/>
            </p:nvSpPr>
            <p:spPr>
              <a:xfrm>
                <a:off x="1243762" y="5450430"/>
                <a:ext cx="22667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=20,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E0F78D-B6E3-4E94-8508-0F40E7E82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762" y="5450430"/>
                <a:ext cx="22667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989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Problem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3F3BDB3-B2DF-493C-BC8F-46C5B9AF3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072" y="1575568"/>
            <a:ext cx="5382795" cy="370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Image result for chemical plant">
            <a:extLst>
              <a:ext uri="{FF2B5EF4-FFF2-40B4-BE49-F238E27FC236}">
                <a16:creationId xmlns:a16="http://schemas.microsoft.com/office/drawing/2014/main" id="{8FB8F7D8-5536-422F-8523-A6396968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33" y="1559638"/>
            <a:ext cx="5743868" cy="382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098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Solution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69DB1-6966-4623-9FDE-BA7B31B1A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7813"/>
            <a:ext cx="4991797" cy="389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3F0EE-9197-4B9F-9B82-F80B35DE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267" y="1773077"/>
            <a:ext cx="4896533" cy="3801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FE1782-01C4-4EC1-B6FA-9D2C31055BC8}"/>
              </a:ext>
            </a:extLst>
          </p:cNvPr>
          <p:cNvSpPr txBox="1"/>
          <p:nvPr/>
        </p:nvSpPr>
        <p:spPr>
          <a:xfrm>
            <a:off x="2897945" y="5952575"/>
            <a:ext cx="7477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a simplified plot, the boxes contain enough space to include the piping.</a:t>
            </a:r>
          </a:p>
          <a:p>
            <a:r>
              <a:rPr lang="en-GB" dirty="0"/>
              <a:t>It also requires structures to support items off the floor!</a:t>
            </a:r>
          </a:p>
        </p:txBody>
      </p:sp>
    </p:spTree>
    <p:extLst>
      <p:ext uri="{BB962C8B-B14F-4D97-AF65-F5344CB8AC3E}">
        <p14:creationId xmlns:p14="http://schemas.microsoft.com/office/powerpoint/2010/main" val="2298635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Returning to our simple packing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subject 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(every table)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(all pairs, don’t check twice)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1418"/>
                <a:ext cx="10515600" cy="5105545"/>
              </a:xfrm>
              <a:blipFill>
                <a:blip r:embed="rId2"/>
                <a:stretch>
                  <a:fillRect l="-348" b="-2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B35AF8-3B05-4FEC-B15F-9469A89A5D7C}"/>
              </a:ext>
            </a:extLst>
          </p:cNvPr>
          <p:cNvSpPr/>
          <p:nvPr/>
        </p:nvSpPr>
        <p:spPr>
          <a:xfrm>
            <a:off x="8324022" y="2516814"/>
            <a:ext cx="2034211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 err="1"/>
              <a:t>Minimax</a:t>
            </a:r>
            <a:r>
              <a:rPr lang="en-GB" u="sng" dirty="0"/>
              <a:t>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1A2D5-6F1C-45C1-837A-FE82163DC211}"/>
              </a:ext>
            </a:extLst>
          </p:cNvPr>
          <p:cNvSpPr/>
          <p:nvPr/>
        </p:nvSpPr>
        <p:spPr>
          <a:xfrm>
            <a:off x="8321715" y="4073141"/>
            <a:ext cx="282141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Non-overlapping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68A9C-5B8C-4A27-AD1B-A1C1A56B09AF}"/>
              </a:ext>
            </a:extLst>
          </p:cNvPr>
          <p:cNvSpPr/>
          <p:nvPr/>
        </p:nvSpPr>
        <p:spPr>
          <a:xfrm>
            <a:off x="8326331" y="5616735"/>
            <a:ext cx="202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/>
              <a:t>Variable constraints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96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Mums Know Best!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2CCD8-05BA-4DC4-B54C-AC25A360D6CF}"/>
              </a:ext>
            </a:extLst>
          </p:cNvPr>
          <p:cNvSpPr txBox="1"/>
          <p:nvPr/>
        </p:nvSpPr>
        <p:spPr>
          <a:xfrm>
            <a:off x="1573923" y="5766377"/>
            <a:ext cx="3783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20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4 solutions explored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A85D0-0903-49A9-B592-4EF5B301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60" y="1456859"/>
            <a:ext cx="4143953" cy="3743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5262C4-9BD7-4313-A37C-E6335641F1F3}"/>
              </a:ext>
            </a:extLst>
          </p:cNvPr>
          <p:cNvSpPr txBox="1"/>
          <p:nvPr/>
        </p:nvSpPr>
        <p:spPr>
          <a:xfrm>
            <a:off x="6527209" y="5448773"/>
            <a:ext cx="5425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Approximately 10 minutes!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4,936,427 solutions explored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Note that the optimal was actually found in 0.6 seconds, but the program doesn’t know it’s optimal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630C43-A0E4-4556-94F7-C8E4A6E3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228" y="1409227"/>
            <a:ext cx="4610743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Why so inefficient?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A38556-15BB-4723-B5D1-560168FA4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Binary variables.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exist for every pair of items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Each can have a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2⋅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7 items that is…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2⋅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≈4.4×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10 items to explore every solution every millisecond this would take you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about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3.9×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GB" dirty="0"/>
                  <a:t> years!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CA38556-15BB-4723-B5D1-560168FA4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1"/>
          <p:cNvSpPr txBox="1"/>
          <p:nvPr/>
        </p:nvSpPr>
        <p:spPr>
          <a:xfrm>
            <a:off x="7000000" y="2500000"/>
            <a:ext cx="4350000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With rotation the </a:t>
            </a:r>
            <a:r>
              <a:rPr lang="en-GB" sz="1400" dirty="0" i="1"/>
              <a:t>n</a:t>
            </a:r>
            <a:r>
              <a:rPr lang="en-GB" sz="1400" dirty="0"/>
              <a:t> variables </a:t>
            </a:r>
            <a:r>
              <a:rPr lang="en-GB" sz="1400" dirty="0" i="1"/>
              <a:t>r</a:t>
            </a:r>
            <a:r>
              <a:rPr lang="en-GB" sz="1400" dirty="0" i="1" baseline="-25000"/>
              <a:t>i</a:t>
            </a:r>
            <a:r>
              <a:rPr lang="en-GB" sz="1400" dirty="0"/>
              <a:t> are binary too, which multiplies this by a further 2</a:t>
            </a:r>
            <a:r>
              <a:rPr lang="en-GB" sz="1400" dirty="0" i="1" baseline="30000"/>
              <a:t>n</a:t>
            </a:r>
            <a:r>
              <a:rPr lang="en-GB" sz="1400" dirty="0"/>
              <a:t>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259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759B-186F-4CE9-989E-C185831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A38556-15BB-4723-B5D1-560168FA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How does Santa pack his sleigh?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NP-Hard Optimisation!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/>
              <a:t>Or By </a:t>
            </a:r>
            <a:r>
              <a:rPr lang="en-GB" dirty="0"/>
              <a:t>Magic!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1026" name="Picture 2" descr="Image result for santas sleigh">
            <a:extLst>
              <a:ext uri="{FF2B5EF4-FFF2-40B4-BE49-F238E27FC236}">
                <a16:creationId xmlns:a16="http://schemas.microsoft.com/office/drawing/2014/main" id="{0CEEAA44-F2C2-4F33-9BCE-BA81585FB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978366"/>
            <a:ext cx="23812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erry christmas">
            <a:extLst>
              <a:ext uri="{FF2B5EF4-FFF2-40B4-BE49-F238E27FC236}">
                <a16:creationId xmlns:a16="http://schemas.microsoft.com/office/drawing/2014/main" id="{76B86C00-34C6-47E0-90CC-43BB3DE6E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146" y="1854373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26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www.w3.org/XML/1998/namespace"/>
    <ds:schemaRef ds:uri="http://purl.org/dc/terms/"/>
    <ds:schemaRef ds:uri="bf6b85bd-8a7e-4854-be4d-0780382295a8"/>
    <ds:schemaRef ds:uri="http://purl.org/dc/elements/1.1/"/>
    <ds:schemaRef ds:uri="http://schemas.microsoft.com/office/2006/metadata/properties"/>
    <ds:schemaRef ds:uri="606370cc-c8d9-4222-8a4e-3c320f1e3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DBEC85-D8FF-4703-B6F0-ECA15D9B41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1610</Words>
  <Application>Microsoft Office PowerPoint</Application>
  <PresentationFormat>Widescreen</PresentationFormat>
  <Paragraphs>348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Office Theme</vt:lpstr>
      <vt:lpstr>Floor Planning/Bin Packing</vt:lpstr>
      <vt:lpstr>Linear Program</vt:lpstr>
      <vt:lpstr>Mixed-Integer Program</vt:lpstr>
      <vt:lpstr>Mixed-Integer Solution (problem based)</vt:lpstr>
      <vt:lpstr>2 Dimensional Floor Planning</vt:lpstr>
      <vt:lpstr>Floor Planning</vt:lpstr>
      <vt:lpstr>Floor Planning</vt:lpstr>
      <vt:lpstr>Non-overlapping constraints</vt:lpstr>
      <vt:lpstr>Intuition – 4 possible situations</vt:lpstr>
      <vt:lpstr>Intuition – 4 possible situations</vt:lpstr>
      <vt:lpstr>Intuition – 4 possible situations</vt:lpstr>
      <vt:lpstr>Intuition – 4 possible situations</vt:lpstr>
      <vt:lpstr>Non-overlapping constraints</vt:lpstr>
      <vt:lpstr>Binary Variables</vt:lpstr>
      <vt:lpstr>Non-overlapping constraints</vt:lpstr>
      <vt:lpstr>Non-overlapping constraints</vt:lpstr>
      <vt:lpstr>Objective</vt:lpstr>
      <vt:lpstr>MILP Formulation</vt:lpstr>
      <vt:lpstr>Solution </vt:lpstr>
      <vt:lpstr>Adding Rotation</vt:lpstr>
      <vt:lpstr>Floor Planning</vt:lpstr>
      <vt:lpstr>Amending the constraints</vt:lpstr>
      <vt:lpstr>Solution </vt:lpstr>
      <vt:lpstr>Connected 2 Dimensional Packing</vt:lpstr>
      <vt:lpstr>Clustering of components</vt:lpstr>
      <vt:lpstr>Amending the constraints</vt:lpstr>
      <vt:lpstr>PowerPoint Presentation</vt:lpstr>
      <vt:lpstr>Objective Function</vt:lpstr>
      <vt:lpstr>Results for different floor spaces </vt:lpstr>
      <vt:lpstr>Problem</vt:lpstr>
      <vt:lpstr>Example Solution </vt:lpstr>
      <vt:lpstr>Returning to our simple packing problem</vt:lpstr>
      <vt:lpstr>Mums Know Best!</vt:lpstr>
      <vt:lpstr>Why so inefficient?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2025-12-11T12:59:26Z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