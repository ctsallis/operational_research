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7" r:id="rId6"/>
    <p:sldId id="261" r:id="rId7"/>
    <p:sldId id="263" r:id="rId8"/>
    <p:sldId id="262" r:id="rId9"/>
    <p:sldId id="284" r:id="rId10"/>
    <p:sldId id="288" r:id="rId11"/>
    <p:sldId id="272" r:id="rId12"/>
    <p:sldId id="286" r:id="rId13"/>
    <p:sldId id="283" r:id="rId14"/>
    <p:sldId id="289" r:id="rId15"/>
    <p:sldId id="264" r:id="rId16"/>
    <p:sldId id="266" r:id="rId17"/>
    <p:sldId id="265" r:id="rId18"/>
    <p:sldId id="290" r:id="rId19"/>
    <p:sldId id="267" r:id="rId20"/>
    <p:sldId id="297" r:id="rId21"/>
    <p:sldId id="291" r:id="rId22"/>
    <p:sldId id="294" r:id="rId23"/>
    <p:sldId id="298" r:id="rId24"/>
    <p:sldId id="292" r:id="rId25"/>
    <p:sldId id="293" r:id="rId26"/>
    <p:sldId id="295" r:id="rId27"/>
    <p:sldId id="296" r:id="rId28"/>
    <p:sldId id="268" r:id="rId29"/>
    <p:sldId id="299" r:id="rId30"/>
    <p:sldId id="269" r:id="rId31"/>
  </p:sldIdLst>
  <p:sldSz cx="12192000" cy="6858000"/>
  <p:notesSz cx="6858000" cy="9144000"/>
  <p:embeddedFontLst>
    <p:embeddedFont>
      <p:font typeface="Cambria Math" panose="02040503050406030204" pitchFamily="18" charset="0"/>
      <p:regular r:id="rId32"/>
    </p:embeddedFont>
    <p:embeddedFont>
      <p:font typeface="Consolas" panose="020B0609020204030204" pitchFamily="49" charset="0"/>
      <p:regular r:id="rId33"/>
      <p:bold r:id="rId34"/>
      <p:italic r:id="rId35"/>
      <p:boldItalic r:id="rId3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7C1801-34CC-44BE-907A-809961D8A055}" v="5" dt="2024-10-18T11:50:06.1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font" Target="fonts/font3.fntdata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1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5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font" Target="fonts/font4.fntdata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2.fntdata"/><Relationship Id="rId38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BBAC1-2D9D-438C-84FD-5677FB201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D2278A-87EE-4087-BA9C-1A154C61C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11740-48CC-4B20-9618-94656899C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E45EF-1488-4E98-8F1B-3F4788AC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B6FCC-0BC2-4AA4-925B-22D3EF2D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797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7EFA-FACA-468A-B2A7-2E32FD0B9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02430-43F1-4C28-BE1C-28ED37EE7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BB0AA-51D3-4839-A908-7015E2EFF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C416D-0726-4084-B6F6-452A521AF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677A2-00AB-4338-8691-A71099F2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395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5ED08-8FF7-4847-92F6-6DF83E4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1DE87-CB76-4E70-AECB-9CBE3F302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1CDAD-5A24-4E23-A4A4-0BE4EE23C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82401-4EE4-4C50-BED8-58196B379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306CF-8C34-4765-AF17-57F5E452A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01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B6DC1-2D4C-4500-A124-3A2178B4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70328-3EAB-407A-BC9A-67303094D4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D10CF3-44D5-426B-90EA-C3216942E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800DC-C93C-49EB-B420-A7C8AD13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42C8C-018B-4C45-BF70-2979A191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6DF55-225F-4BDE-BA17-DD5E62A2C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36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C8F6E-783B-419D-8F7A-1EE4DB2F7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FF0B8-F056-4E7E-96D0-CFC881A80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CB7B8-D30F-432A-A39F-D2824661AA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116FF-A0B3-48D2-A545-15D737D03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F53AA2-3036-4360-B9B2-BFD386DB6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0757EF-E8E3-4492-A3C9-A83CE780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E87707-4C6F-4EF0-93C1-82BE22E8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476A2F-BA81-404B-9F96-2E2086574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5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0136-FC6F-49F7-B359-BF7D0864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08460E-A6D9-4EA4-8CD9-79B728F7B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4E9CEA-31CF-495F-BF82-1B4015A1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EC68A0-EE84-4811-A17B-F2B5C415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132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83A0D1-DFE6-4040-807F-A93930F02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175EF-2BEA-46E1-8408-918366AC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5D81-516E-4FBF-B580-FFD158DF6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6881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2555A-2F2B-4172-B1F4-AB4425A7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3D13-EE9C-4E69-A844-8F30111F3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D11B3-CD25-4C10-90FA-CDFC2010B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23933-0DD6-4845-AC19-36722E871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B2963-B911-4CBA-9CE0-BA9B6C0CF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A3CC0-592A-49FC-87EC-1F3156F27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113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85835-588D-4F39-814A-E404E353B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F9445E-A078-4E35-A97B-9EA7C9974A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D55AA-1343-4DA0-A1A1-C8031518BA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BE6E0-6DE4-43F8-8D0C-02419D43C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F1EF2-7817-4456-8AE3-85AA5F05D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0F326-DBF6-4284-ACAC-626F7579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0133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C0DE9-F1A0-46B8-AFDA-AB87D705A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C441D-4127-4ED9-833F-CD2D839F5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3F0E1-708B-4A1D-8674-AF136F1A3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81D14-2BA8-4E09-BF3E-21B3C55D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5FBFF-6587-4941-B27A-D8ACF8D5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900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283187-306D-41AF-8D48-1F019C8323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50706-0F3D-4D07-97D7-5B4C39D95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05F43-656E-4D61-B3A3-E658893D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82740-B97C-41EF-A674-99F8FF991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CC395-1B08-44ED-BE5A-AD0032621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307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A06B44-7335-44F0-B60B-F8039489C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8C67D6-82BB-4E0E-8D6F-ECCAFEC54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35D0A-85B9-4327-B0DD-1D2A4FC64E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A259C-4727-433D-9628-60CAD26956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CC516-E88A-4038-AA89-4BF3F93C3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651335,&quot;Placement&quot;:&quot;Footer&quot;}">
            <a:extLst>
              <a:ext uri="{FF2B5EF4-FFF2-40B4-BE49-F238E27FC236}">
                <a16:creationId xmlns:a16="http://schemas.microsoft.com/office/drawing/2014/main" id="{64B23A5A-228F-4E95-8C6A-4486B3D720E7}"/>
              </a:ext>
            </a:extLst>
          </p:cNvPr>
          <p:cNvSpPr txBox="1"/>
          <p:nvPr userDrawn="1"/>
        </p:nvSpPr>
        <p:spPr>
          <a:xfrm>
            <a:off x="0" y="6595656"/>
            <a:ext cx="1283967" cy="262344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0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3231878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Mathematical Programming:</a:t>
            </a:r>
            <a:br>
              <a:rPr lang="en-GB" dirty="0"/>
            </a:br>
            <a:r>
              <a:rPr lang="en-GB" sz="4800" dirty="0"/>
              <a:t>Modelling and Some Issues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0775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Closed Feasible Region (less than or equal to)</a:t>
            </a:r>
          </a:p>
          <a:p>
            <a:r>
              <a:rPr lang="en-GB" dirty="0"/>
              <a:t>Summation via Matrix Operations</a:t>
            </a:r>
          </a:p>
          <a:p>
            <a:r>
              <a:rPr lang="en-GB" dirty="0"/>
              <a:t>Chocolate Box Problem</a:t>
            </a:r>
          </a:p>
          <a:p>
            <a:r>
              <a:rPr lang="en-GB" dirty="0"/>
              <a:t>Interpretation/Opinion/Preference</a:t>
            </a:r>
          </a:p>
          <a:p>
            <a:r>
              <a:rPr lang="en-GB" dirty="0"/>
              <a:t>Extending the Model</a:t>
            </a:r>
          </a:p>
          <a:p>
            <a:r>
              <a:rPr lang="en-GB" dirty="0"/>
              <a:t>Additional Modelling Tips</a:t>
            </a:r>
          </a:p>
        </p:txBody>
      </p:sp>
    </p:spTree>
    <p:extLst>
      <p:ext uri="{BB962C8B-B14F-4D97-AF65-F5344CB8AC3E}">
        <p14:creationId xmlns:p14="http://schemas.microsoft.com/office/powerpoint/2010/main" val="2464477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Blank Slide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84236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Less than or equal 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Note that when we use inequality constraints we must use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GB" dirty="0"/>
                  <a:t> 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If you use a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&lt;</m:t>
                    </m:r>
                  </m:oMath>
                </a14:m>
                <a:r>
                  <a:rPr lang="en-GB" dirty="0"/>
                  <a:t> then the feasible set is not closed.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Consider: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maximise 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</a:t>
                </a:r>
              </a:p>
              <a:p>
                <a:pPr marL="0" indent="0">
                  <a:buNone/>
                </a:pPr>
                <a:r>
                  <a:rPr lang="en-GB" dirty="0"/>
                  <a:t>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What is the maximum?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043" t="-322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829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Constraints via Matrix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Let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2758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Expressions in </a:t>
            </a:r>
            <a:r>
              <a:rPr lang="en-GB" dirty="0" err="1"/>
              <a:t>Pyomo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15000" y="1469159"/>
                <a:ext cx="6148836" cy="4726854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e.g.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+6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+8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+16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Let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4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e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e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4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m:rPr>
                                          <m:brk m:alnAt="7"/>
                                        </m:r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lnSpc>
                    <a:spcPct val="14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+6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+8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+16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lnSpc>
                    <a:spcPct val="14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15000" y="1469159"/>
                <a:ext cx="6148836" cy="4726854"/>
              </a:xfrm>
              <a:blipFill>
                <a:blip r:embed="rId2"/>
                <a:stretch>
                  <a:fillRect l="-1091" t="-232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5FAA485-04B2-743A-46F0-3573DB100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164" y="2152584"/>
            <a:ext cx="4803425" cy="7116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3293333-9335-75E5-222A-FB9188C4AE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164" y="3029663"/>
            <a:ext cx="3622561" cy="3993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6DED2F0-64CF-66F3-43F8-B69B31C7E20F}"/>
              </a:ext>
            </a:extLst>
          </p:cNvPr>
          <p:cNvSpPr txBox="1"/>
          <p:nvPr/>
        </p:nvSpPr>
        <p:spPr>
          <a:xfrm>
            <a:off x="245037" y="3832586"/>
            <a:ext cx="35649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Define either manually or using </a:t>
            </a:r>
            <a:r>
              <a:rPr lang="en-GB" dirty="0">
                <a:solidFill>
                  <a:srgbClr val="7030A0"/>
                </a:solidFill>
                <a:latin typeface="Consolas" panose="020B0609020204030204" pitchFamily="49" charset="0"/>
              </a:rPr>
              <a:t>sum</a:t>
            </a:r>
          </a:p>
          <a:p>
            <a:endParaRPr lang="en-GB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dirty="0"/>
              <a:t>Both print out the following: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07BCBA-F835-EC80-D978-639FCA7D5D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767" y="5079634"/>
            <a:ext cx="2391109" cy="49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494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Constraints in </a:t>
            </a:r>
            <a:r>
              <a:rPr lang="en-GB" dirty="0" err="1"/>
              <a:t>Pyomo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If we have the following constraint.</a:t>
                </a:r>
              </a:p>
              <a:p>
                <a:pPr marL="0" indent="0">
                  <a:buNone/>
                </a:pP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+6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+8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+16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≥120</m:t>
                      </m:r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We can implement that in Python directly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245B507B-A076-8FFE-97F9-3A9FC50DE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6819" y="4033539"/>
            <a:ext cx="8326012" cy="168616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12DAEFD-D372-B7E8-5226-0E615A28B62F}"/>
              </a:ext>
            </a:extLst>
          </p:cNvPr>
          <p:cNvSpPr txBox="1"/>
          <p:nvPr/>
        </p:nvSpPr>
        <p:spPr>
          <a:xfrm>
            <a:off x="1930400" y="6112142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Output: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5BE8E-EE27-5A90-FC6B-5D6AC18227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4086" y="6071442"/>
            <a:ext cx="7378745" cy="556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0549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Diet Problem (Week 2 Tutorial Q6a)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minimise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10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+6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+8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+16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+8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+3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+6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+8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+12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+12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8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8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22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+6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8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4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12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≥100</m:t>
                    </m:r>
                  </m:oMath>
                </a14:m>
                <a:r>
                  <a:rPr lang="en-GB" sz="2400" b="0" dirty="0"/>
                  <a:t>      		(Vitamin A Constraint)</a:t>
                </a:r>
              </a:p>
              <a:p>
                <a:pPr marL="0" indent="0">
                  <a:buNone/>
                </a:pPr>
                <a:br>
                  <a:rPr lang="en-GB" sz="2400" b="0" dirty="0"/>
                </a:br>
                <a14:m>
                  <m:oMath xmlns:m="http://schemas.openxmlformats.org/officeDocument/2006/math"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4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6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10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12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14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6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0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sz="2400" dirty="0"/>
                  <a:t> 		(Vitamin B Constraint)</a:t>
                </a:r>
              </a:p>
              <a:p>
                <a:pPr marL="0" indent="0">
                  <a:buNone/>
                </a:pPr>
                <a:br>
                  <a:rPr lang="en-GB" sz="2400" dirty="0"/>
                </a:b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22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0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8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0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≥20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sz="2400" dirty="0"/>
                  <a:t>				(Vitamin C Constraint)</a:t>
                </a:r>
              </a:p>
              <a:p>
                <a:pPr marL="0" indent="0">
                  <a:buNone/>
                </a:pPr>
                <a:br>
                  <a:rPr lang="en-GB" sz="2400" b="0" dirty="0"/>
                </a:br>
                <a14:m>
                  <m:oMath xmlns:m="http://schemas.openxmlformats.org/officeDocument/2006/math"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6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14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6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+1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0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8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+6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+12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4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sz="2400" dirty="0"/>
                  <a:t> 	(Vitamin D Constraint)</a:t>
                </a:r>
              </a:p>
              <a:p>
                <a:pPr marL="0" indent="0">
                  <a:buNone/>
                </a:pPr>
                <a:br>
                  <a:rPr lang="en-GB" sz="2400" dirty="0"/>
                </a:b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8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+6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+20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+40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≤300</m:t>
                    </m:r>
                  </m:oMath>
                </a14:m>
                <a:r>
                  <a:rPr lang="en-GB" sz="2400" dirty="0"/>
                  <a:t>					(Fat Constraint)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and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GB" sz="2400" dirty="0"/>
                  <a:t>						(Non-negativity)</a:t>
                </a:r>
              </a:p>
              <a:p>
                <a:pPr marL="0" indent="0">
                  <a:buNone/>
                </a:pPr>
                <a:endParaRPr lang="en-GB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638" t="-2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88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Diet Problem (Week 2 Tutorial Q6a)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en-GB" dirty="0"/>
            </a:br>
            <a:endParaRPr lang="en-GB" dirty="0"/>
          </a:p>
          <a:p>
            <a:pPr marL="0" indent="0">
              <a:buNone/>
            </a:pPr>
            <a:endParaRPr lang="en-GB" b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1104C5D-53C3-41DC-A767-2311F2FA9905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287427"/>
          <a:ext cx="6769100" cy="230505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36600">
                  <a:extLst>
                    <a:ext uri="{9D8B030D-6E8A-4147-A177-3AD203B41FA5}">
                      <a16:colId xmlns:a16="http://schemas.microsoft.com/office/drawing/2014/main" val="204115398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43574930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764050407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9537987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45481975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1618473949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73349339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491056359"/>
                    </a:ext>
                  </a:extLst>
                </a:gridCol>
              </a:tblGrid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Food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Vitamin A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Vitamin B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Vitamin C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Vitamin D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Fat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Cost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Attractiveness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402736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18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4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10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5823406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2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22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14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50153028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3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22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10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5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1931351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4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12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16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5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165922306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5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14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10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8576649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20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3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4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90203856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7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20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10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811258064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4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40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 dirty="0">
                          <a:effectLst/>
                        </a:rPr>
                        <a:t>10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17049009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9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10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12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12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72355724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 dirty="0">
                          <a:effectLst/>
                        </a:rPr>
                        <a:t>10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12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20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4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12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 dirty="0">
                          <a:effectLst/>
                        </a:rPr>
                        <a:t>7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1425092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4FDC37A-0728-4DE4-A29E-581530393892}"/>
              </a:ext>
            </a:extLst>
          </p:cNvPr>
          <p:cNvGraphicFramePr>
            <a:graphicFrameLocks noGrp="1"/>
          </p:cNvGraphicFramePr>
          <p:nvPr/>
        </p:nvGraphicFramePr>
        <p:xfrm>
          <a:off x="8049950" y="1287427"/>
          <a:ext cx="2413000" cy="11430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36600">
                  <a:extLst>
                    <a:ext uri="{9D8B030D-6E8A-4147-A177-3AD203B41FA5}">
                      <a16:colId xmlns:a16="http://schemas.microsoft.com/office/drawing/2014/main" val="993051114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676272326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2246916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en-GB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Minimum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Maximum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96094464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Vitamin A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100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69896425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Vitamin B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120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30847224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Vitamin C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200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90344103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Vitamin D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80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63899278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Fat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    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 dirty="0">
                          <a:effectLst/>
                        </a:rPr>
                        <a:t>300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6853568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F618D3C-CCDE-4A80-AFD1-57E1CFF1636E}"/>
                  </a:ext>
                </a:extLst>
              </p:cNvPr>
              <p:cNvSpPr txBox="1"/>
              <p:nvPr/>
            </p:nvSpPr>
            <p:spPr>
              <a:xfrm>
                <a:off x="838200" y="4119238"/>
                <a:ext cx="3504421" cy="24009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Number of food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bSup>
                  </m:oMath>
                </a14:m>
                <a:r>
                  <a:rPr lang="en-GB" dirty="0"/>
                  <a:t> - Amount of vitamin A in food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bSup>
                  </m:oMath>
                </a14:m>
                <a:r>
                  <a:rPr lang="en-GB" dirty="0"/>
                  <a:t> - Amount of vitamin B in food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bSup>
                  </m:oMath>
                </a14:m>
                <a:r>
                  <a:rPr lang="en-GB" dirty="0"/>
                  <a:t> - Amount of vitamin C in food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</m:oMath>
                </a14:m>
                <a:r>
                  <a:rPr lang="en-GB" dirty="0"/>
                  <a:t> - Amount of vitamin D in food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Amount of fat in food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Cost of food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Attractiveness of food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F618D3C-CCDE-4A80-AFD1-57E1CFF163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19238"/>
                <a:ext cx="3504421" cy="2400978"/>
              </a:xfrm>
              <a:prstGeom prst="rect">
                <a:avLst/>
              </a:prstGeom>
              <a:blipFill>
                <a:blip r:embed="rId2"/>
                <a:stretch>
                  <a:fillRect l="-523" t="-1523" b="-203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55B70D9-D05A-48AB-AF10-B9CD2C7A5B9B}"/>
                  </a:ext>
                </a:extLst>
              </p:cNvPr>
              <p:cNvSpPr txBox="1"/>
              <p:nvPr/>
            </p:nvSpPr>
            <p:spPr>
              <a:xfrm>
                <a:off x="7808651" y="2643431"/>
                <a:ext cx="3945384" cy="40911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400" dirty="0"/>
                  <a:t>minimise 	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400" dirty="0"/>
              </a:p>
              <a:p>
                <a:endParaRPr lang="en-GB" sz="1400" dirty="0"/>
              </a:p>
              <a:p>
                <a:r>
                  <a:rPr lang="en-GB" sz="1400" dirty="0"/>
                  <a:t>subject to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400" b="0" i="1" smtClean="0">
                          <a:latin typeface="Cambria Math" panose="02040503050406030204" pitchFamily="18" charset="0"/>
                        </a:rPr>
                        <m:t>≥100</m:t>
                      </m:r>
                    </m:oMath>
                  </m:oMathPara>
                </a14:m>
                <a:endParaRPr lang="en-GB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400" i="1">
                          <a:latin typeface="Cambria Math" panose="02040503050406030204" pitchFamily="18" charset="0"/>
                        </a:rPr>
                        <m:t>≥1</m:t>
                      </m:r>
                      <m:r>
                        <a:rPr lang="en-GB" sz="1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400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1400" b="0" i="1" smtClean="0">
                          <a:latin typeface="Cambria Math" panose="02040503050406030204" pitchFamily="18" charset="0"/>
                        </a:rPr>
                        <m:t>20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400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1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400" b="0" i="1" smtClean="0">
                          <a:latin typeface="Cambria Math" panose="02040503050406030204" pitchFamily="18" charset="0"/>
                        </a:rPr>
                        <m:t>≤30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400" b="0" i="1" smtClean="0">
                          <a:latin typeface="Cambria Math" panose="02040503050406030204" pitchFamily="18" charset="0"/>
                        </a:rPr>
                        <m:t>≥0,  ∀</m:t>
                      </m:r>
                      <m:r>
                        <a:rPr lang="en-GB" sz="14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55B70D9-D05A-48AB-AF10-B9CD2C7A5B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8651" y="2643431"/>
                <a:ext cx="3945384" cy="4091120"/>
              </a:xfrm>
              <a:prstGeom prst="rect">
                <a:avLst/>
              </a:prstGeom>
              <a:blipFill>
                <a:blip r:embed="rId3"/>
                <a:stretch>
                  <a:fillRect l="-464" t="-12221" b="-1892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8474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/>
      <p:bldP spid="7" grpId="0" build="allAtOnce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Q6a Solution in </a:t>
            </a:r>
            <a:r>
              <a:rPr lang="en-GB" dirty="0" err="1"/>
              <a:t>Pyomo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7CA3A4E-5808-4522-BBE0-0C8C32D58229}"/>
                  </a:ext>
                </a:extLst>
              </p:cNvPr>
              <p:cNvSpPr txBox="1"/>
              <p:nvPr/>
            </p:nvSpPr>
            <p:spPr>
              <a:xfrm>
                <a:off x="901823" y="1498850"/>
                <a:ext cx="3394969" cy="40911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400" dirty="0"/>
                  <a:t>minimise 	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400" dirty="0"/>
              </a:p>
              <a:p>
                <a:endParaRPr lang="en-GB" sz="1400" dirty="0"/>
              </a:p>
              <a:p>
                <a:r>
                  <a:rPr lang="en-GB" sz="1400" dirty="0"/>
                  <a:t>subject to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400" i="1">
                          <a:latin typeface="Cambria Math" panose="02040503050406030204" pitchFamily="18" charset="0"/>
                        </a:rPr>
                        <m:t>≥100</m:t>
                      </m:r>
                    </m:oMath>
                  </m:oMathPara>
                </a14:m>
                <a:endParaRPr lang="en-GB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400" i="1">
                          <a:latin typeface="Cambria Math" panose="02040503050406030204" pitchFamily="18" charset="0"/>
                        </a:rPr>
                        <m:t>≥120</m:t>
                      </m:r>
                    </m:oMath>
                  </m:oMathPara>
                </a14:m>
                <a:endParaRPr lang="en-GB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400" i="1">
                          <a:latin typeface="Cambria Math" panose="02040503050406030204" pitchFamily="18" charset="0"/>
                        </a:rPr>
                        <m:t>≥200</m:t>
                      </m:r>
                    </m:oMath>
                  </m:oMathPara>
                </a14:m>
                <a:endParaRPr lang="en-GB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400" i="1">
                          <a:latin typeface="Cambria Math" panose="02040503050406030204" pitchFamily="18" charset="0"/>
                        </a:rPr>
                        <m:t>≥80</m:t>
                      </m:r>
                    </m:oMath>
                  </m:oMathPara>
                </a14:m>
                <a:endParaRPr lang="en-GB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400" i="1">
                          <a:latin typeface="Cambria Math" panose="02040503050406030204" pitchFamily="18" charset="0"/>
                        </a:rPr>
                        <m:t>≤300</m:t>
                      </m:r>
                    </m:oMath>
                  </m:oMathPara>
                </a14:m>
                <a:endParaRPr lang="en-GB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400" i="1">
                          <a:latin typeface="Cambria Math" panose="02040503050406030204" pitchFamily="18" charset="0"/>
                        </a:rPr>
                        <m:t>≥0,  ∀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7CA3A4E-5808-4522-BBE0-0C8C32D58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823" y="1498850"/>
                <a:ext cx="3394969" cy="4091120"/>
              </a:xfrm>
              <a:prstGeom prst="rect">
                <a:avLst/>
              </a:prstGeom>
              <a:blipFill>
                <a:blip r:embed="rId2"/>
                <a:stretch>
                  <a:fillRect l="-539" t="-12221" b="-1892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B7C45020-5C87-906B-25A7-1E9B60C24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135" y="1261918"/>
            <a:ext cx="6547042" cy="4910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821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Chocolate Box Tutorial Question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32F5AB10-1833-4E95-8B3A-BAC9AB3AC7B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206429259"/>
                  </p:ext>
                </p:extLst>
              </p:nvPr>
            </p:nvGraphicFramePr>
            <p:xfrm>
              <a:off x="1055571" y="1266104"/>
              <a:ext cx="6305810" cy="3203577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19666">
                      <a:extLst>
                        <a:ext uri="{9D8B030D-6E8A-4147-A177-3AD203B41FA5}">
                          <a16:colId xmlns:a16="http://schemas.microsoft.com/office/drawing/2014/main" val="2602940957"/>
                        </a:ext>
                      </a:extLst>
                    </a:gridCol>
                    <a:gridCol w="824981">
                      <a:extLst>
                        <a:ext uri="{9D8B030D-6E8A-4147-A177-3AD203B41FA5}">
                          <a16:colId xmlns:a16="http://schemas.microsoft.com/office/drawing/2014/main" val="2852883290"/>
                        </a:ext>
                      </a:extLst>
                    </a:gridCol>
                    <a:gridCol w="979054">
                      <a:extLst>
                        <a:ext uri="{9D8B030D-6E8A-4147-A177-3AD203B41FA5}">
                          <a16:colId xmlns:a16="http://schemas.microsoft.com/office/drawing/2014/main" val="3333967318"/>
                        </a:ext>
                      </a:extLst>
                    </a:gridCol>
                    <a:gridCol w="1099127">
                      <a:extLst>
                        <a:ext uri="{9D8B030D-6E8A-4147-A177-3AD203B41FA5}">
                          <a16:colId xmlns:a16="http://schemas.microsoft.com/office/drawing/2014/main" val="2912826492"/>
                        </a:ext>
                      </a:extLst>
                    </a:gridCol>
                    <a:gridCol w="960582">
                      <a:extLst>
                        <a:ext uri="{9D8B030D-6E8A-4147-A177-3AD203B41FA5}">
                          <a16:colId xmlns:a16="http://schemas.microsoft.com/office/drawing/2014/main" val="2947240050"/>
                        </a:ext>
                      </a:extLst>
                    </a:gridCol>
                    <a:gridCol w="1422400">
                      <a:extLst>
                        <a:ext uri="{9D8B030D-6E8A-4147-A177-3AD203B41FA5}">
                          <a16:colId xmlns:a16="http://schemas.microsoft.com/office/drawing/2014/main" val="921487208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Candy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1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Fat (g)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1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𝑭</m:t>
                                  </m:r>
                                </m:e>
                                <m:sub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Calories –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1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e>
                                <m:sub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Weight (g)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1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1" dirty="0">
                              <a:solidFill>
                                <a:schemeClr val="bg1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Cost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100" b="0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1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𝑪</m:t>
                                  </m:r>
                                </m:e>
                                <m:sub>
                                  <m:r>
                                    <a:rPr lang="en-GB" sz="11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1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1" dirty="0">
                              <a:solidFill>
                                <a:schemeClr val="bg1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Popularity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100" b="0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1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𝑷</m:t>
                                  </m:r>
                                </m:e>
                                <m:sub>
                                  <m:r>
                                    <a:rPr lang="en-GB" sz="11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1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3415348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Buttery butterscotch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20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100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24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4114274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Caramel softie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16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100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22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748491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Orange dream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80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15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059950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Coconut Ice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7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50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12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2314052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Lemon sorbet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6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60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0469276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Lime sherbet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5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40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19292589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Strawberry surprise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13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80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14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48452671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Raspberry mousse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15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90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17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5891020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Ginger toffee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18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80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20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37252724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Rose-water posy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-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145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8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38121803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Walnut whirl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19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120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20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18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9969343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Grape bunch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-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120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15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932353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32F5AB10-1833-4E95-8B3A-BAC9AB3AC7B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206429259"/>
                  </p:ext>
                </p:extLst>
              </p:nvPr>
            </p:nvGraphicFramePr>
            <p:xfrm>
              <a:off x="1055571" y="1266104"/>
              <a:ext cx="6305810" cy="3203577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19666">
                      <a:extLst>
                        <a:ext uri="{9D8B030D-6E8A-4147-A177-3AD203B41FA5}">
                          <a16:colId xmlns:a16="http://schemas.microsoft.com/office/drawing/2014/main" val="2602940957"/>
                        </a:ext>
                      </a:extLst>
                    </a:gridCol>
                    <a:gridCol w="824981">
                      <a:extLst>
                        <a:ext uri="{9D8B030D-6E8A-4147-A177-3AD203B41FA5}">
                          <a16:colId xmlns:a16="http://schemas.microsoft.com/office/drawing/2014/main" val="2852883290"/>
                        </a:ext>
                      </a:extLst>
                    </a:gridCol>
                    <a:gridCol w="979054">
                      <a:extLst>
                        <a:ext uri="{9D8B030D-6E8A-4147-A177-3AD203B41FA5}">
                          <a16:colId xmlns:a16="http://schemas.microsoft.com/office/drawing/2014/main" val="3333967318"/>
                        </a:ext>
                      </a:extLst>
                    </a:gridCol>
                    <a:gridCol w="1099127">
                      <a:extLst>
                        <a:ext uri="{9D8B030D-6E8A-4147-A177-3AD203B41FA5}">
                          <a16:colId xmlns:a16="http://schemas.microsoft.com/office/drawing/2014/main" val="2912826492"/>
                        </a:ext>
                      </a:extLst>
                    </a:gridCol>
                    <a:gridCol w="960582">
                      <a:extLst>
                        <a:ext uri="{9D8B030D-6E8A-4147-A177-3AD203B41FA5}">
                          <a16:colId xmlns:a16="http://schemas.microsoft.com/office/drawing/2014/main" val="2947240050"/>
                        </a:ext>
                      </a:extLst>
                    </a:gridCol>
                    <a:gridCol w="1422400">
                      <a:extLst>
                        <a:ext uri="{9D8B030D-6E8A-4147-A177-3AD203B41FA5}">
                          <a16:colId xmlns:a16="http://schemas.microsoft.com/office/drawing/2014/main" val="921487208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99" t="-21212" r="-522156" b="-15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123529" t="-21212" r="-541176" b="-15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190000" t="-21212" r="-360000" b="-15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256354" t="-21212" r="-218232" b="-15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08228" t="-21212" r="-150000" b="-15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344635" t="-21212" r="-1717" b="-152424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4153482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Buttery butterscotch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20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100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24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4114274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Caramel softie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16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100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22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748491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Orange dream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80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15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059950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Coconut Ice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7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50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12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2314052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Lemon sorbet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6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60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0469276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Lime sherbet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5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40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192925892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Strawberry surprise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13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80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14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484526713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Raspberry mousse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15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90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17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5891020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Ginger toffee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18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80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20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372527242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Rose-water posy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-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145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8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38121803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Walnut whirl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19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120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20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18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9969343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Grape bunch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-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120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15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9323533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7FFC64B-AE4E-413B-8AE3-FA221B5490DC}"/>
              </a:ext>
            </a:extLst>
          </p:cNvPr>
          <p:cNvSpPr/>
          <p:nvPr/>
        </p:nvSpPr>
        <p:spPr>
          <a:xfrm>
            <a:off x="1055571" y="4664367"/>
            <a:ext cx="6096000" cy="1561005"/>
          </a:xfrm>
          <a:prstGeom prst="rect">
            <a:avLst/>
          </a:prstGeom>
        </p:spPr>
        <p:txBody>
          <a:bodyPr>
            <a:spAutoFit/>
          </a:bodyPr>
          <a:lstStyle/>
          <a:p>
            <a:pPr marL="34290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selection chosen must weigh at least 320g</a:t>
            </a:r>
          </a:p>
          <a:p>
            <a:pPr marL="342900" lvl="0" indent="-342900">
              <a:lnSpc>
                <a:spcPct val="107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Total fat content by weight must be at most 45% of the total weight of the selection.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Calorific value of the selection must be at most 2850 calories.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98F8110-C34C-478A-AB46-59DC109D567F}"/>
                  </a:ext>
                </a:extLst>
              </p:cNvPr>
              <p:cNvSpPr/>
              <p:nvPr/>
            </p:nvSpPr>
            <p:spPr>
              <a:xfrm>
                <a:off x="7151570" y="1076759"/>
                <a:ext cx="5338618" cy="39327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u="sng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Minimise the cost of the selection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endParaRPr lang="en-GB" sz="105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minimise	</a:t>
                </a:r>
                <a:r>
                  <a:rPr lang="en-GB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			</a:t>
                </a:r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subject to:</a:t>
                </a:r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≥320</m:t>
                        </m:r>
                      </m:e>
                    </m:nary>
                  </m:oMath>
                </a14:m>
                <a:b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≤2850</m:t>
                        </m:r>
                      </m:e>
                    </m:nary>
                  </m:oMath>
                </a14:m>
                <a:b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≤0.45</m:t>
                        </m:r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e>
                    </m:nary>
                  </m:oMath>
                </a14:m>
                <a:b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≥0,  ∀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endParaRPr lang="en-GB" i="1" dirty="0">
                  <a:latin typeface="Cambria Math" panose="020405030504060302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ℤ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  ∀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98F8110-C34C-478A-AB46-59DC109D56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1570" y="1076759"/>
                <a:ext cx="5338618" cy="3932743"/>
              </a:xfrm>
              <a:prstGeom prst="rect">
                <a:avLst/>
              </a:prstGeom>
              <a:blipFill>
                <a:blip r:embed="rId3"/>
                <a:stretch>
                  <a:fillRect t="-7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EC3CA98-480E-4A78-91F1-8C94A3073F79}"/>
                  </a:ext>
                </a:extLst>
              </p:cNvPr>
              <p:cNvSpPr/>
              <p:nvPr/>
            </p:nvSpPr>
            <p:spPr>
              <a:xfrm>
                <a:off x="7151570" y="5001017"/>
                <a:ext cx="6096000" cy="1758238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u="sng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Maximise the popularity of the selection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endParaRPr lang="en-GB" sz="105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Replace the objective function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maximise	</a:t>
                </a:r>
                <a:r>
                  <a:rPr lang="en-GB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			</a:t>
                </a:r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EC3CA98-480E-4A78-91F1-8C94A3073F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1570" y="5001017"/>
                <a:ext cx="6096000" cy="1758238"/>
              </a:xfrm>
              <a:prstGeom prst="rect">
                <a:avLst/>
              </a:prstGeom>
              <a:blipFill>
                <a:blip r:embed="rId4"/>
                <a:stretch>
                  <a:fillRect t="-1384" b="-3667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837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build="p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Chocolate Box Tutorial Results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33D75FC8-C5EB-488E-97E8-BC6DD678E50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21067452"/>
                  </p:ext>
                </p:extLst>
              </p:nvPr>
            </p:nvGraphicFramePr>
            <p:xfrm>
              <a:off x="1020792" y="1302326"/>
              <a:ext cx="3809826" cy="325278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38383">
                      <a:extLst>
                        <a:ext uri="{9D8B030D-6E8A-4147-A177-3AD203B41FA5}">
                          <a16:colId xmlns:a16="http://schemas.microsoft.com/office/drawing/2014/main" val="1015170701"/>
                        </a:ext>
                      </a:extLst>
                    </a:gridCol>
                    <a:gridCol w="1256145">
                      <a:extLst>
                        <a:ext uri="{9D8B030D-6E8A-4147-A177-3AD203B41FA5}">
                          <a16:colId xmlns:a16="http://schemas.microsoft.com/office/drawing/2014/main" val="3906809112"/>
                        </a:ext>
                      </a:extLst>
                    </a:gridCol>
                    <a:gridCol w="1415298">
                      <a:extLst>
                        <a:ext uri="{9D8B030D-6E8A-4147-A177-3AD203B41FA5}">
                          <a16:colId xmlns:a16="http://schemas.microsoft.com/office/drawing/2014/main" val="1010701382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Candy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1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Minimise Cost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Maximise Popularity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64136696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Buttery butterscotch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440508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Caramel softie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9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77125881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Orange dream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5093537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Coconut Ice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5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54505058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Lemon sorbet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9218383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Lime sherbet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50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8000316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Strawberry surprise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99188272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Raspberry mousse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64802037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Ginger toffee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1038600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Rose-water posy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40467743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Walnut whirl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7794579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Grape bunch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887240554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Objective Value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268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365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52837991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33D75FC8-C5EB-488E-97E8-BC6DD678E50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21067452"/>
                  </p:ext>
                </p:extLst>
              </p:nvPr>
            </p:nvGraphicFramePr>
            <p:xfrm>
              <a:off x="1020792" y="1302326"/>
              <a:ext cx="3809826" cy="325278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38383">
                      <a:extLst>
                        <a:ext uri="{9D8B030D-6E8A-4147-A177-3AD203B41FA5}">
                          <a16:colId xmlns:a16="http://schemas.microsoft.com/office/drawing/2014/main" val="1015170701"/>
                        </a:ext>
                      </a:extLst>
                    </a:gridCol>
                    <a:gridCol w="1256145">
                      <a:extLst>
                        <a:ext uri="{9D8B030D-6E8A-4147-A177-3AD203B41FA5}">
                          <a16:colId xmlns:a16="http://schemas.microsoft.com/office/drawing/2014/main" val="3906809112"/>
                        </a:ext>
                      </a:extLst>
                    </a:gridCol>
                    <a:gridCol w="1415298">
                      <a:extLst>
                        <a:ext uri="{9D8B030D-6E8A-4147-A177-3AD203B41FA5}">
                          <a16:colId xmlns:a16="http://schemas.microsoft.com/office/drawing/2014/main" val="1010701382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35" t="-21212" r="-236898" b="-15484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Minimise Cost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Maximise Popularity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641366961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Buttery butterscotch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440508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Caramel softie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9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77125881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Orange dream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5093537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Coconut Ice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5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54505058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Lemon sorbet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9218383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Lime sherbet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50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80003165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Strawberry surprise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991882721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Raspberry mousse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64802037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Ginger toffee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1038600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Rose-water posy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40467743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Walnut whirl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7794579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Grape bunch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887240554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Objective Value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268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365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52837991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93E58D8-A138-4BF4-A797-5A2A3BBF3FD8}"/>
              </a:ext>
            </a:extLst>
          </p:cNvPr>
          <p:cNvSpPr txBox="1"/>
          <p:nvPr/>
        </p:nvSpPr>
        <p:spPr>
          <a:xfrm>
            <a:off x="5708073" y="1560945"/>
            <a:ext cx="49546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What do we think of these selections?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E6C63-B107-448D-8A70-3C24E4D54A48}"/>
              </a:ext>
            </a:extLst>
          </p:cNvPr>
          <p:cNvSpPr txBox="1"/>
          <p:nvPr/>
        </p:nvSpPr>
        <p:spPr>
          <a:xfrm>
            <a:off x="5754255" y="2940265"/>
            <a:ext cx="554181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u="sng" dirty="0"/>
              <a:t>Issues</a:t>
            </a:r>
          </a:p>
          <a:p>
            <a:endParaRPr lang="en-GB" sz="2400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Variety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Weight of maximising popularity is 635g. Nearly double the minimum weight of 320g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What if we care about both cost and popularity?</a:t>
            </a:r>
          </a:p>
        </p:txBody>
      </p:sp>
    </p:spTree>
    <p:extLst>
      <p:ext uri="{BB962C8B-B14F-4D97-AF65-F5344CB8AC3E}">
        <p14:creationId xmlns:p14="http://schemas.microsoft.com/office/powerpoint/2010/main" val="2285843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Interpretation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Your interpretation of the </a:t>
            </a:r>
            <a:r>
              <a:rPr lang="en-GB" u="sng" dirty="0"/>
              <a:t>problem</a:t>
            </a:r>
            <a:r>
              <a:rPr lang="en-GB" dirty="0"/>
              <a:t> is important! 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If you miss something in the model it can lead to answers that don’t make sense in the real world.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Your interpretation of the </a:t>
            </a:r>
            <a:r>
              <a:rPr lang="en-GB" u="sng" dirty="0"/>
              <a:t>solution</a:t>
            </a:r>
            <a:r>
              <a:rPr lang="en-GB" dirty="0"/>
              <a:t> is important!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Often the answers point out the issues in your model.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Thus, modelling is an iterative process, you should keep improving your model to better reflect reality where possible.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Better models lead to better predictions and decisions!		</a:t>
            </a:r>
          </a:p>
        </p:txBody>
      </p:sp>
    </p:spTree>
    <p:extLst>
      <p:ext uri="{BB962C8B-B14F-4D97-AF65-F5344CB8AC3E}">
        <p14:creationId xmlns:p14="http://schemas.microsoft.com/office/powerpoint/2010/main" val="1860941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Opinion and Preference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Your opinion and preferences matter!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Perhaps you/business really needs to save money, so you decide minimising cost is important.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Maybe you aren’t a fan of variety and would prefer a smaller selection, or the selection chooses your favourite chocolate. Be aware of personal bias!</a:t>
            </a:r>
          </a:p>
        </p:txBody>
      </p:sp>
    </p:spTree>
    <p:extLst>
      <p:ext uri="{BB962C8B-B14F-4D97-AF65-F5344CB8AC3E}">
        <p14:creationId xmlns:p14="http://schemas.microsoft.com/office/powerpoint/2010/main" val="831952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Sometimes there is more to the 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Let’s revisit the previous comment.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Perhaps you/business really needs to save money, so you decide minimising cost is important.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What if this leads to a substandard product and this fails to sell. In this case you haven’t necessarily saved money, but lost it!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Modelling well, whether it be Linear Programming, Simulation, Optimisation is hard!</a:t>
            </a:r>
          </a:p>
        </p:txBody>
      </p:sp>
    </p:spTree>
    <p:extLst>
      <p:ext uri="{BB962C8B-B14F-4D97-AF65-F5344CB8AC3E}">
        <p14:creationId xmlns:p14="http://schemas.microsoft.com/office/powerpoint/2010/main" val="3059795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Extending the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Back to the chocolate box!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We will deal with variety in the next session, we can force the selection to pick every item a number of times and certain combinations of items.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An obvious extension to our model is to put a cap on weight. e.g. 1.5 times the minimum.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≥320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≤1.5∗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320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754" t="-271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D7FCF0A-6935-40E8-9913-0AFAEA99C147}"/>
              </a:ext>
            </a:extLst>
          </p:cNvPr>
          <p:cNvSpPr txBox="1"/>
          <p:nvPr/>
        </p:nvSpPr>
        <p:spPr>
          <a:xfrm>
            <a:off x="6465454" y="214745"/>
            <a:ext cx="5541818" cy="236988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u="sng" dirty="0"/>
              <a:t>Issues</a:t>
            </a:r>
          </a:p>
          <a:p>
            <a:endParaRPr lang="en-GB" sz="2000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Variety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Weight of maximising popularity is 635g. Nearly double the minimum weight of 320g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What if we care about both cost and popularity?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0324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Chocolate Box Tutorial Results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33D75FC8-C5EB-488E-97E8-BC6DD678E50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11154354"/>
                  </p:ext>
                </p:extLst>
              </p:nvPr>
            </p:nvGraphicFramePr>
            <p:xfrm>
              <a:off x="6811992" y="1902618"/>
              <a:ext cx="3809826" cy="3052764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38383">
                      <a:extLst>
                        <a:ext uri="{9D8B030D-6E8A-4147-A177-3AD203B41FA5}">
                          <a16:colId xmlns:a16="http://schemas.microsoft.com/office/drawing/2014/main" val="1015170701"/>
                        </a:ext>
                      </a:extLst>
                    </a:gridCol>
                    <a:gridCol w="1256145">
                      <a:extLst>
                        <a:ext uri="{9D8B030D-6E8A-4147-A177-3AD203B41FA5}">
                          <a16:colId xmlns:a16="http://schemas.microsoft.com/office/drawing/2014/main" val="3906809112"/>
                        </a:ext>
                      </a:extLst>
                    </a:gridCol>
                    <a:gridCol w="1415298">
                      <a:extLst>
                        <a:ext uri="{9D8B030D-6E8A-4147-A177-3AD203B41FA5}">
                          <a16:colId xmlns:a16="http://schemas.microsoft.com/office/drawing/2014/main" val="1010701382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Candy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1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Minimise Cost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Maximise Popularity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64136696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Buttery butterscotch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440508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Caramel softie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9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77125881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Orange dream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5093537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Coconut Ice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30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54505058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Lemon sorbet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9218383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Lime sherbet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8000316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Strawberry surprise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99188272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Raspberry mousse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64802037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Ginger toffee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1038600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Rose-water posy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5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40467743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Walnut whirl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7794579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Grape bunch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8872405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33D75FC8-C5EB-488E-97E8-BC6DD678E50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11154354"/>
                  </p:ext>
                </p:extLst>
              </p:nvPr>
            </p:nvGraphicFramePr>
            <p:xfrm>
              <a:off x="6811992" y="1902618"/>
              <a:ext cx="3809826" cy="3052764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38383">
                      <a:extLst>
                        <a:ext uri="{9D8B030D-6E8A-4147-A177-3AD203B41FA5}">
                          <a16:colId xmlns:a16="http://schemas.microsoft.com/office/drawing/2014/main" val="1015170701"/>
                        </a:ext>
                      </a:extLst>
                    </a:gridCol>
                    <a:gridCol w="1256145">
                      <a:extLst>
                        <a:ext uri="{9D8B030D-6E8A-4147-A177-3AD203B41FA5}">
                          <a16:colId xmlns:a16="http://schemas.microsoft.com/office/drawing/2014/main" val="3906809112"/>
                        </a:ext>
                      </a:extLst>
                    </a:gridCol>
                    <a:gridCol w="1415298">
                      <a:extLst>
                        <a:ext uri="{9D8B030D-6E8A-4147-A177-3AD203B41FA5}">
                          <a16:colId xmlns:a16="http://schemas.microsoft.com/office/drawing/2014/main" val="1010701382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35" t="-21212" r="-236898" b="-14484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Minimise Cost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Maximise Popularity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641366961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Buttery butterscotch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440508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Caramel softie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9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77125881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Orange dream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5093537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Coconut Ice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30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54505058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Lemon sorbet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9218383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Lime sherbet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80003165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Strawberry surprise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991882721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Raspberry mousse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64802037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Ginger toffee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1038600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Rose-water posy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5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40467743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Walnut whirl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7794579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Grape bunch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88724055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ABCA5E33-C722-430F-B098-4BDEE307AC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33268198"/>
                  </p:ext>
                </p:extLst>
              </p:nvPr>
            </p:nvGraphicFramePr>
            <p:xfrm>
              <a:off x="1076210" y="1902618"/>
              <a:ext cx="3809826" cy="3052764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38383">
                      <a:extLst>
                        <a:ext uri="{9D8B030D-6E8A-4147-A177-3AD203B41FA5}">
                          <a16:colId xmlns:a16="http://schemas.microsoft.com/office/drawing/2014/main" val="1015170701"/>
                        </a:ext>
                      </a:extLst>
                    </a:gridCol>
                    <a:gridCol w="1256145">
                      <a:extLst>
                        <a:ext uri="{9D8B030D-6E8A-4147-A177-3AD203B41FA5}">
                          <a16:colId xmlns:a16="http://schemas.microsoft.com/office/drawing/2014/main" val="3906809112"/>
                        </a:ext>
                      </a:extLst>
                    </a:gridCol>
                    <a:gridCol w="1415298">
                      <a:extLst>
                        <a:ext uri="{9D8B030D-6E8A-4147-A177-3AD203B41FA5}">
                          <a16:colId xmlns:a16="http://schemas.microsoft.com/office/drawing/2014/main" val="1010701382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Candy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1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Minimise Cost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Maximise Popularity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64136696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Buttery butterscotch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440508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Caramel softie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9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77125881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Orange dream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5093537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Coconut Ice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5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54505058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Lemon sorbet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9218383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Lime sherbet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50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8000316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Strawberry surprise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99188272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Raspberry mousse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64802037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Ginger toffee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1038600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Rose-water posy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40467743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Walnut whirl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7794579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Grape bunch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8872405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ABCA5E33-C722-430F-B098-4BDEE307AC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33268198"/>
                  </p:ext>
                </p:extLst>
              </p:nvPr>
            </p:nvGraphicFramePr>
            <p:xfrm>
              <a:off x="1076210" y="1902618"/>
              <a:ext cx="3809826" cy="3052764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38383">
                      <a:extLst>
                        <a:ext uri="{9D8B030D-6E8A-4147-A177-3AD203B41FA5}">
                          <a16:colId xmlns:a16="http://schemas.microsoft.com/office/drawing/2014/main" val="1015170701"/>
                        </a:ext>
                      </a:extLst>
                    </a:gridCol>
                    <a:gridCol w="1256145">
                      <a:extLst>
                        <a:ext uri="{9D8B030D-6E8A-4147-A177-3AD203B41FA5}">
                          <a16:colId xmlns:a16="http://schemas.microsoft.com/office/drawing/2014/main" val="3906809112"/>
                        </a:ext>
                      </a:extLst>
                    </a:gridCol>
                    <a:gridCol w="1415298">
                      <a:extLst>
                        <a:ext uri="{9D8B030D-6E8A-4147-A177-3AD203B41FA5}">
                          <a16:colId xmlns:a16="http://schemas.microsoft.com/office/drawing/2014/main" val="1010701382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535" t="-21212" r="-236898" b="-14484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Minimise Cost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Maximise Popularity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641366961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Buttery butterscotch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440508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Caramel softie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9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77125881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Orange dream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5093537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Coconut Ice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5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54505058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Lemon sorbet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9218383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Lime sherbet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50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80003165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Strawberry surprise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991882721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Raspberry mousse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64802037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Ginger toffee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1038600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Rose-water posy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40467743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Walnut whirl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7794579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Grape bunch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8872405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5650157B-3A61-4F86-B0AA-DBAE870F91E8}"/>
              </a:ext>
            </a:extLst>
          </p:cNvPr>
          <p:cNvSpPr txBox="1"/>
          <p:nvPr/>
        </p:nvSpPr>
        <p:spPr>
          <a:xfrm>
            <a:off x="2187156" y="1431637"/>
            <a:ext cx="15879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 Weight Cap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08E6C3-617B-4F8C-A67F-E3599DE78D05}"/>
              </a:ext>
            </a:extLst>
          </p:cNvPr>
          <p:cNvSpPr txBox="1"/>
          <p:nvPr/>
        </p:nvSpPr>
        <p:spPr>
          <a:xfrm>
            <a:off x="7829963" y="1431637"/>
            <a:ext cx="1773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With Weight Cap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36EE9F-0741-495E-900D-1BD843C7DF67}"/>
              </a:ext>
            </a:extLst>
          </p:cNvPr>
          <p:cNvSpPr txBox="1"/>
          <p:nvPr/>
        </p:nvSpPr>
        <p:spPr>
          <a:xfrm>
            <a:off x="2640051" y="5241697"/>
            <a:ext cx="47690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Why hasn’t it affected the Minimise Cost Model?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A346AA-227F-488E-8EF9-81F309E6E20B}"/>
              </a:ext>
            </a:extLst>
          </p:cNvPr>
          <p:cNvSpPr txBox="1"/>
          <p:nvPr/>
        </p:nvSpPr>
        <p:spPr>
          <a:xfrm>
            <a:off x="2640051" y="5971248"/>
            <a:ext cx="7083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Because the weight of the optimal solution was already less than the cap!</a:t>
            </a:r>
          </a:p>
        </p:txBody>
      </p:sp>
    </p:spTree>
    <p:extLst>
      <p:ext uri="{BB962C8B-B14F-4D97-AF65-F5344CB8AC3E}">
        <p14:creationId xmlns:p14="http://schemas.microsoft.com/office/powerpoint/2010/main" val="976121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4" grpId="0"/>
      <p:bldP spid="1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Extending the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How to deal with both cost and popularity?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Ideas?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Combine the objectives</a:t>
            </a:r>
          </a:p>
          <a:p>
            <a:pPr lvl="1"/>
            <a:r>
              <a:rPr lang="en-GB" dirty="0"/>
              <a:t>Ratio</a:t>
            </a:r>
          </a:p>
          <a:p>
            <a:pPr lvl="1"/>
            <a:r>
              <a:rPr lang="en-GB" dirty="0"/>
              <a:t>Weighted Objective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7FCF0A-6935-40E8-9913-0AFAEA99C147}"/>
              </a:ext>
            </a:extLst>
          </p:cNvPr>
          <p:cNvSpPr txBox="1"/>
          <p:nvPr/>
        </p:nvSpPr>
        <p:spPr>
          <a:xfrm>
            <a:off x="6465454" y="214745"/>
            <a:ext cx="5541818" cy="2000548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u="sng" dirty="0"/>
              <a:t>Issues</a:t>
            </a:r>
            <a:endParaRPr lang="en-GB" sz="2000" u="sng" dirty="0"/>
          </a:p>
          <a:p>
            <a:endParaRPr lang="en-GB" sz="2000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Variety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Weight of maximising popularity is 635g. Nearly double the minimum weight of 320g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What if we care about both cost and popularity?</a:t>
            </a:r>
          </a:p>
        </p:txBody>
      </p:sp>
    </p:spTree>
    <p:extLst>
      <p:ext uri="{BB962C8B-B14F-4D97-AF65-F5344CB8AC3E}">
        <p14:creationId xmlns:p14="http://schemas.microsoft.com/office/powerpoint/2010/main" val="3061827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Ratio Objective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Content Placeholder 4">
                <a:extLst>
                  <a:ext uri="{FF2B5EF4-FFF2-40B4-BE49-F238E27FC236}">
                    <a16:creationId xmlns:a16="http://schemas.microsoft.com/office/drawing/2014/main" id="{7AC61F5A-C4E9-49D1-AFD0-CCA0D9864110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78959662"/>
                  </p:ext>
                </p:extLst>
              </p:nvPr>
            </p:nvGraphicFramePr>
            <p:xfrm>
              <a:off x="630382" y="1929821"/>
              <a:ext cx="4640117" cy="3363977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648733">
                      <a:extLst>
                        <a:ext uri="{9D8B030D-6E8A-4147-A177-3AD203B41FA5}">
                          <a16:colId xmlns:a16="http://schemas.microsoft.com/office/drawing/2014/main" val="2602940957"/>
                        </a:ext>
                      </a:extLst>
                    </a:gridCol>
                    <a:gridCol w="755106">
                      <a:extLst>
                        <a:ext uri="{9D8B030D-6E8A-4147-A177-3AD203B41FA5}">
                          <a16:colId xmlns:a16="http://schemas.microsoft.com/office/drawing/2014/main" val="2947240050"/>
                        </a:ext>
                      </a:extLst>
                    </a:gridCol>
                    <a:gridCol w="1118139">
                      <a:extLst>
                        <a:ext uri="{9D8B030D-6E8A-4147-A177-3AD203B41FA5}">
                          <a16:colId xmlns:a16="http://schemas.microsoft.com/office/drawing/2014/main" val="921487208"/>
                        </a:ext>
                      </a:extLst>
                    </a:gridCol>
                    <a:gridCol w="1118139">
                      <a:extLst>
                        <a:ext uri="{9D8B030D-6E8A-4147-A177-3AD203B41FA5}">
                          <a16:colId xmlns:a16="http://schemas.microsoft.com/office/drawing/2014/main" val="3122250304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Candy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>
                                      <a:effectLst/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sz="1400">
                                      <a:effectLst/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1" dirty="0">
                              <a:solidFill>
                                <a:schemeClr val="bg1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Cost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b="0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𝑪</m:t>
                                  </m:r>
                                </m:e>
                                <m:sub>
                                  <m:r>
                                    <a:rPr lang="en-GB" sz="14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4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1" dirty="0">
                              <a:solidFill>
                                <a:schemeClr val="bg1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Popularity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b="0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𝑷</m:t>
                                  </m:r>
                                </m:e>
                                <m:sub>
                                  <m:r>
                                    <a:rPr lang="en-GB" sz="14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4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1" i="1" smtClean="0">
                                        <a:solidFill>
                                          <a:schemeClr val="bg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𝑷</m:t>
                                        </m:r>
                                      </m:e>
                                      <m:sub>
                                        <m: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𝑪</m:t>
                                        </m:r>
                                      </m:e>
                                      <m:sub>
                                        <m: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43415348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Buttery butterscotch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0.833333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4114274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Caramel softie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0.833333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2748491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Orange dream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0.666667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059950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Coconut Ice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82314052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Lemon sorbet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0.384615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20469276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Lime sherbet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0.461538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19292589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Strawberry surprise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0.4375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48452671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Raspberry mousse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85891020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Ginger toffee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0.666667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37252724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Rose-water posy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0.3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38121803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Walnut whirl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18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0.444444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59969343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Grape bunch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0.2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2932353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Content Placeholder 4">
                <a:extLst>
                  <a:ext uri="{FF2B5EF4-FFF2-40B4-BE49-F238E27FC236}">
                    <a16:creationId xmlns:a16="http://schemas.microsoft.com/office/drawing/2014/main" id="{7AC61F5A-C4E9-49D1-AFD0-CCA0D9864110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78959662"/>
                  </p:ext>
                </p:extLst>
              </p:nvPr>
            </p:nvGraphicFramePr>
            <p:xfrm>
              <a:off x="630382" y="1929821"/>
              <a:ext cx="4640117" cy="3363977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648733">
                      <a:extLst>
                        <a:ext uri="{9D8B030D-6E8A-4147-A177-3AD203B41FA5}">
                          <a16:colId xmlns:a16="http://schemas.microsoft.com/office/drawing/2014/main" val="2602940957"/>
                        </a:ext>
                      </a:extLst>
                    </a:gridCol>
                    <a:gridCol w="755106">
                      <a:extLst>
                        <a:ext uri="{9D8B030D-6E8A-4147-A177-3AD203B41FA5}">
                          <a16:colId xmlns:a16="http://schemas.microsoft.com/office/drawing/2014/main" val="2947240050"/>
                        </a:ext>
                      </a:extLst>
                    </a:gridCol>
                    <a:gridCol w="1118139">
                      <a:extLst>
                        <a:ext uri="{9D8B030D-6E8A-4147-A177-3AD203B41FA5}">
                          <a16:colId xmlns:a16="http://schemas.microsoft.com/office/drawing/2014/main" val="921487208"/>
                        </a:ext>
                      </a:extLst>
                    </a:gridCol>
                    <a:gridCol w="1118139">
                      <a:extLst>
                        <a:ext uri="{9D8B030D-6E8A-4147-A177-3AD203B41FA5}">
                          <a16:colId xmlns:a16="http://schemas.microsoft.com/office/drawing/2014/main" val="3122250304"/>
                        </a:ext>
                      </a:extLst>
                    </a:gridCol>
                  </a:tblGrid>
                  <a:tr h="4657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369" t="-7792" r="-182657" b="-64026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219355" t="-7792" r="-299194" b="-64026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216393" t="-7792" r="-102732" b="-64026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314674" t="-7792" r="-2174" b="-64026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4153482"/>
                      </a:ext>
                    </a:extLst>
                  </a:tr>
                  <a:tr h="44646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Buttery butterscotch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0.833333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41142745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Caramel softie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0.833333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27484915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Orange dream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0.666667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0599508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Coconut Ice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823140525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Lemon sorbet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0.384615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204692767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Lime sherbet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0.461538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192925892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Strawberry surprise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0.4375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484526713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Raspberry mousse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858910209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Ginger toffee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0.666667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372527242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Rose-water posy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0.3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381218035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Walnut whirl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18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0.444444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599693438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Grape bunch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0.2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29323533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F31310D-71F2-4561-AD34-D748BBB0CFD2}"/>
                  </a:ext>
                </a:extLst>
              </p:cNvPr>
              <p:cNvSpPr/>
              <p:nvPr/>
            </p:nvSpPr>
            <p:spPr>
              <a:xfrm>
                <a:off x="5135418" y="1266104"/>
                <a:ext cx="6096000" cy="4691412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u="sng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Maximise the sum of each candy’s popularity per unit cost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endParaRPr lang="en-GB" sz="105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maximise	</a:t>
                </a:r>
                <a:r>
                  <a:rPr lang="en-GB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			</a:t>
                </a:r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f>
                          <m:f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subject to:</a:t>
                </a:r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≥320</m:t>
                        </m:r>
                      </m:e>
                    </m:nary>
                  </m:oMath>
                </a14:m>
                <a:b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GB" dirty="0"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	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≤1.5∗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320</m:t>
                          </m:r>
                        </m:e>
                      </m:nary>
                    </m:oMath>
                  </m:oMathPara>
                </a14:m>
                <a:b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≤2850</m:t>
                        </m:r>
                      </m:e>
                    </m:nary>
                  </m:oMath>
                </a14:m>
                <a:b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≤0.45</m:t>
                        </m:r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e>
                    </m:nary>
                  </m:oMath>
                </a14:m>
                <a:b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≥0,  ∀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endParaRPr lang="en-GB" i="1" dirty="0">
                  <a:latin typeface="Cambria Math" panose="020405030504060302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ℤ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  ∀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F31310D-71F2-4561-AD34-D748BBB0CF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5418" y="1266104"/>
                <a:ext cx="6096000" cy="4691412"/>
              </a:xfrm>
              <a:prstGeom prst="rect">
                <a:avLst/>
              </a:prstGeom>
              <a:blipFill>
                <a:blip r:embed="rId3"/>
                <a:stretch>
                  <a:fillRect t="-650" r="-8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8855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Result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541659-818D-4F6D-B59E-6EBBCC48E5A6}"/>
              </a:ext>
            </a:extLst>
          </p:cNvPr>
          <p:cNvSpPr txBox="1"/>
          <p:nvPr/>
        </p:nvSpPr>
        <p:spPr>
          <a:xfrm>
            <a:off x="1112982" y="5090991"/>
            <a:ext cx="537268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u="sng" dirty="0"/>
              <a:t>Issue:</a:t>
            </a:r>
          </a:p>
          <a:p>
            <a:endParaRPr lang="en-GB" sz="2000" dirty="0"/>
          </a:p>
          <a:p>
            <a:r>
              <a:rPr lang="en-GB" sz="2000" dirty="0"/>
              <a:t>What if we care more about popularity than cost?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37755F89-ADC3-41DA-B765-0B8FF7EB4C7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23576044"/>
                  </p:ext>
                </p:extLst>
              </p:nvPr>
            </p:nvGraphicFramePr>
            <p:xfrm>
              <a:off x="1112982" y="1259177"/>
              <a:ext cx="9669318" cy="3332925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683605">
                      <a:extLst>
                        <a:ext uri="{9D8B030D-6E8A-4147-A177-3AD203B41FA5}">
                          <a16:colId xmlns:a16="http://schemas.microsoft.com/office/drawing/2014/main" val="1166563622"/>
                        </a:ext>
                      </a:extLst>
                    </a:gridCol>
                    <a:gridCol w="950552">
                      <a:extLst>
                        <a:ext uri="{9D8B030D-6E8A-4147-A177-3AD203B41FA5}">
                          <a16:colId xmlns:a16="http://schemas.microsoft.com/office/drawing/2014/main" val="991946617"/>
                        </a:ext>
                      </a:extLst>
                    </a:gridCol>
                    <a:gridCol w="1095552">
                      <a:extLst>
                        <a:ext uri="{9D8B030D-6E8A-4147-A177-3AD203B41FA5}">
                          <a16:colId xmlns:a16="http://schemas.microsoft.com/office/drawing/2014/main" val="1860964451"/>
                        </a:ext>
                      </a:extLst>
                    </a:gridCol>
                    <a:gridCol w="1299625">
                      <a:extLst>
                        <a:ext uri="{9D8B030D-6E8A-4147-A177-3AD203B41FA5}">
                          <a16:colId xmlns:a16="http://schemas.microsoft.com/office/drawing/2014/main" val="4019313540"/>
                        </a:ext>
                      </a:extLst>
                    </a:gridCol>
                    <a:gridCol w="1106293">
                      <a:extLst>
                        <a:ext uri="{9D8B030D-6E8A-4147-A177-3AD203B41FA5}">
                          <a16:colId xmlns:a16="http://schemas.microsoft.com/office/drawing/2014/main" val="3251180012"/>
                        </a:ext>
                      </a:extLst>
                    </a:gridCol>
                    <a:gridCol w="1374810">
                      <a:extLst>
                        <a:ext uri="{9D8B030D-6E8A-4147-A177-3AD203B41FA5}">
                          <a16:colId xmlns:a16="http://schemas.microsoft.com/office/drawing/2014/main" val="2518883640"/>
                        </a:ext>
                      </a:extLst>
                    </a:gridCol>
                    <a:gridCol w="827034">
                      <a:extLst>
                        <a:ext uri="{9D8B030D-6E8A-4147-A177-3AD203B41FA5}">
                          <a16:colId xmlns:a16="http://schemas.microsoft.com/office/drawing/2014/main" val="2585060013"/>
                        </a:ext>
                      </a:extLst>
                    </a:gridCol>
                    <a:gridCol w="1331847">
                      <a:extLst>
                        <a:ext uri="{9D8B030D-6E8A-4147-A177-3AD203B41FA5}">
                          <a16:colId xmlns:a16="http://schemas.microsoft.com/office/drawing/2014/main" val="2396961448"/>
                        </a:ext>
                      </a:extLst>
                    </a:gridCol>
                  </a:tblGrid>
                  <a:tr h="597332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Candy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Fat (g)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Calories –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Weight (g)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Cost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Popularity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i="1" u="none" strike="noStrike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i="1" u="none" strike="noStrike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𝑃</m:t>
                                        </m:r>
                                      </m:e>
                                      <m:sub>
                                        <m:r>
                                          <a:rPr lang="en-GB" sz="1400" i="1" u="none" strike="noStrike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GB" sz="1400" i="1" u="none" strike="noStrike" dirty="0" err="1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i="1" u="none" strike="noStrike" dirty="0" err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en-GB" sz="1400" i="1" u="none" strike="noStrike" dirty="0" err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mbria Math" panose="02040503050406030204" pitchFamily="18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Maximise </a:t>
                          </a:r>
                        </a:p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i="1" u="none" strike="noStrike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i="1" u="none" strike="noStrike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𝑃</m:t>
                                        </m:r>
                                      </m:e>
                                      <m:sub>
                                        <m:r>
                                          <a:rPr lang="en-GB" sz="1400" i="1" u="none" strike="noStrike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GB" sz="1400" i="1" u="none" strike="noStrike" dirty="0" err="1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i="1" u="none" strike="noStrike" dirty="0" err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en-GB" sz="1400" i="1" u="none" strike="noStrike" dirty="0" err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GB" sz="1400" i="1" u="none" strike="noStrike" dirty="0"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86217326"/>
                      </a:ext>
                    </a:extLst>
                  </a:tr>
                  <a:tr h="20955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Buttery butterscotch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0.833333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6046704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Caramel softie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22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0.833333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259676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Orange dream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0.666667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369315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Coconut Ice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7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12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8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924756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Lemon sorbet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60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0.384615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31398216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Lime sherbet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5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40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0.461538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32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5591504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Strawberry surprise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13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0.4375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84844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Raspberry mousse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90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17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4621280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Ginger toffee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0.666667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0638467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Rose-water posy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145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0.3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8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7732596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Walnut whirl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19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18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0.444444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495180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Grape bunch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0.2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459529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37755F89-ADC3-41DA-B765-0B8FF7EB4C7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23576044"/>
                  </p:ext>
                </p:extLst>
              </p:nvPr>
            </p:nvGraphicFramePr>
            <p:xfrm>
              <a:off x="1112982" y="1259177"/>
              <a:ext cx="9669318" cy="3332925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683605">
                      <a:extLst>
                        <a:ext uri="{9D8B030D-6E8A-4147-A177-3AD203B41FA5}">
                          <a16:colId xmlns:a16="http://schemas.microsoft.com/office/drawing/2014/main" val="1166563622"/>
                        </a:ext>
                      </a:extLst>
                    </a:gridCol>
                    <a:gridCol w="950552">
                      <a:extLst>
                        <a:ext uri="{9D8B030D-6E8A-4147-A177-3AD203B41FA5}">
                          <a16:colId xmlns:a16="http://schemas.microsoft.com/office/drawing/2014/main" val="991946617"/>
                        </a:ext>
                      </a:extLst>
                    </a:gridCol>
                    <a:gridCol w="1095552">
                      <a:extLst>
                        <a:ext uri="{9D8B030D-6E8A-4147-A177-3AD203B41FA5}">
                          <a16:colId xmlns:a16="http://schemas.microsoft.com/office/drawing/2014/main" val="1860964451"/>
                        </a:ext>
                      </a:extLst>
                    </a:gridCol>
                    <a:gridCol w="1299625">
                      <a:extLst>
                        <a:ext uri="{9D8B030D-6E8A-4147-A177-3AD203B41FA5}">
                          <a16:colId xmlns:a16="http://schemas.microsoft.com/office/drawing/2014/main" val="4019313540"/>
                        </a:ext>
                      </a:extLst>
                    </a:gridCol>
                    <a:gridCol w="1106293">
                      <a:extLst>
                        <a:ext uri="{9D8B030D-6E8A-4147-A177-3AD203B41FA5}">
                          <a16:colId xmlns:a16="http://schemas.microsoft.com/office/drawing/2014/main" val="3251180012"/>
                        </a:ext>
                      </a:extLst>
                    </a:gridCol>
                    <a:gridCol w="1374810">
                      <a:extLst>
                        <a:ext uri="{9D8B030D-6E8A-4147-A177-3AD203B41FA5}">
                          <a16:colId xmlns:a16="http://schemas.microsoft.com/office/drawing/2014/main" val="2518883640"/>
                        </a:ext>
                      </a:extLst>
                    </a:gridCol>
                    <a:gridCol w="827034">
                      <a:extLst>
                        <a:ext uri="{9D8B030D-6E8A-4147-A177-3AD203B41FA5}">
                          <a16:colId xmlns:a16="http://schemas.microsoft.com/office/drawing/2014/main" val="2585060013"/>
                        </a:ext>
                      </a:extLst>
                    </a:gridCol>
                    <a:gridCol w="1331847">
                      <a:extLst>
                        <a:ext uri="{9D8B030D-6E8A-4147-A177-3AD203B41FA5}">
                          <a16:colId xmlns:a16="http://schemas.microsoft.com/office/drawing/2014/main" val="2396961448"/>
                        </a:ext>
                      </a:extLst>
                    </a:gridCol>
                  </a:tblGrid>
                  <a:tr h="65830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2"/>
                          <a:stretch>
                            <a:fillRect l="-362" t="-6481" r="-476449" b="-4231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2"/>
                          <a:stretch>
                            <a:fillRect l="-177564" t="-6481" r="-742949" b="-4231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2"/>
                          <a:stretch>
                            <a:fillRect l="-240556" t="-6481" r="-543889" b="-4231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2"/>
                          <a:stretch>
                            <a:fillRect l="-287793" t="-6481" r="-359624" b="-4231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2"/>
                          <a:stretch>
                            <a:fillRect l="-453846" t="-6481" r="-320879" b="-4231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2"/>
                          <a:stretch>
                            <a:fillRect l="-446018" t="-6481" r="-158407" b="-4231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2"/>
                          <a:stretch>
                            <a:fillRect l="-914074" t="-6481" r="-165185" b="-4231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2"/>
                          <a:stretch>
                            <a:fillRect l="-625114" t="-6481" r="-1826" b="-4231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86217326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Buttery butterscotch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0.833333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6046704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Caramel softie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22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0.833333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259676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Orange dream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0.666667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3693153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Coconut Ice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7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12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8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9247562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Lemon sorbet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60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0.384615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31398216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Lime sherbet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5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40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0.461538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32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5591504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Strawberry surprise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13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0.4375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848442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Raspberry mousse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90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17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4621280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Ginger toffee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0.666667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06384677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Rose-water posy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145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0.3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8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77325961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Walnut whirl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19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18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0.444444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4951809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Grape bunch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0.2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4595298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05522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Weighted Objective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9F8257E-2356-459D-95E6-53349021EB3D}"/>
                  </a:ext>
                </a:extLst>
              </p:cNvPr>
              <p:cNvSpPr/>
              <p:nvPr/>
            </p:nvSpPr>
            <p:spPr>
              <a:xfrm>
                <a:off x="6002727" y="365125"/>
                <a:ext cx="4847161" cy="646491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u="sng" dirty="0"/>
                  <a:t>Combine objectives:</a:t>
                </a:r>
              </a:p>
              <a:p>
                <a:endParaRPr lang="en-GB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maximise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GB" dirty="0"/>
                  <a:t> and </a:t>
                </a: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minimise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endParaRPr lang="en-GB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We know that:</a:t>
                </a:r>
              </a:p>
              <a:p>
                <a:endParaRPr lang="en-GB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minimise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⇔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</m:t>
                    </m:r>
                  </m:oMath>
                </a14:m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(maximise </a:t>
                </a:r>
                <a14:m>
                  <m:oMath xmlns:m="http://schemas.openxmlformats.org/officeDocument/2006/math">
                    <m:r>
                      <a:rPr lang="en-GB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</m:t>
                    </m:r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GB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endParaRPr lang="en-GB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So:</a:t>
                </a:r>
              </a:p>
              <a:p>
                <a:endParaRPr lang="en-GB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maximise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</m:t>
                    </m:r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dirty="0"/>
              </a:p>
              <a:p>
                <a:endParaRPr lang="en-GB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However, this gives an equal preference to both.</a:t>
                </a:r>
              </a:p>
              <a:p>
                <a:endParaRPr lang="en-GB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en-GB" u="sng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Weighted objective</a:t>
                </a:r>
              </a:p>
              <a:p>
                <a:endParaRPr lang="en-GB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maximise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GB" b="0" i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1−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𝛼</m:t>
                        </m:r>
                      </m:e>
                    </m:d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GB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𝛼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(−</m:t>
                    </m:r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GB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maximise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GB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1−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𝛼</m:t>
                        </m:r>
                      </m:e>
                    </m:d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GB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𝛼</m:t>
                    </m:r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For a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40/60</m:t>
                    </m:r>
                  </m:oMath>
                </a14:m>
                <a:r>
                  <a:rPr lang="en-GB" dirty="0"/>
                  <a:t> split (40% popularity, 60% cost)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=0.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9F8257E-2356-459D-95E6-53349021EB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2727" y="365125"/>
                <a:ext cx="4847161" cy="6464911"/>
              </a:xfrm>
              <a:prstGeom prst="rect">
                <a:avLst/>
              </a:prstGeom>
              <a:blipFill>
                <a:blip r:embed="rId2"/>
                <a:stretch>
                  <a:fillRect l="-1132" t="-566" r="-100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Content Placeholder 4">
                <a:extLst>
                  <a:ext uri="{FF2B5EF4-FFF2-40B4-BE49-F238E27FC236}">
                    <a16:creationId xmlns:a16="http://schemas.microsoft.com/office/drawing/2014/main" id="{7AC61F5A-C4E9-49D1-AFD0-CCA0D9864110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95729753"/>
                  </p:ext>
                </p:extLst>
              </p:nvPr>
            </p:nvGraphicFramePr>
            <p:xfrm>
              <a:off x="546100" y="1266104"/>
              <a:ext cx="3912121" cy="3331337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72338">
                      <a:extLst>
                        <a:ext uri="{9D8B030D-6E8A-4147-A177-3AD203B41FA5}">
                          <a16:colId xmlns:a16="http://schemas.microsoft.com/office/drawing/2014/main" val="2602940957"/>
                        </a:ext>
                      </a:extLst>
                    </a:gridCol>
                    <a:gridCol w="1104410">
                      <a:extLst>
                        <a:ext uri="{9D8B030D-6E8A-4147-A177-3AD203B41FA5}">
                          <a16:colId xmlns:a16="http://schemas.microsoft.com/office/drawing/2014/main" val="2947240050"/>
                        </a:ext>
                      </a:extLst>
                    </a:gridCol>
                    <a:gridCol w="1635373">
                      <a:extLst>
                        <a:ext uri="{9D8B030D-6E8A-4147-A177-3AD203B41FA5}">
                          <a16:colId xmlns:a16="http://schemas.microsoft.com/office/drawing/2014/main" val="921487208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dirty="0">
                              <a:effectLst/>
                            </a:rPr>
                            <a:t>Candy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2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>
                                      <a:effectLst/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sz="1200">
                                      <a:effectLst/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2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1" dirty="0">
                              <a:solidFill>
                                <a:schemeClr val="bg1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Cost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200" b="0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𝑪</m:t>
                                  </m:r>
                                </m:e>
                                <m:sub>
                                  <m:r>
                                    <a:rPr lang="en-GB" sz="12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2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1" dirty="0">
                              <a:solidFill>
                                <a:schemeClr val="bg1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Popularity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200" b="0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𝑷</m:t>
                                  </m:r>
                                </m:e>
                                <m:sub>
                                  <m:r>
                                    <a:rPr lang="en-GB" sz="12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2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43415348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Buttery butterscotch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4114274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dirty="0">
                              <a:effectLst/>
                            </a:rPr>
                            <a:t>Caramel softie</a:t>
                          </a:r>
                          <a:endParaRPr lang="en-GB" sz="12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2748491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Orange dream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4059950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Coconut Ice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82314052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Lemon sorbet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420469276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Lime sherbet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19292589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Strawberry surprise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48452671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dirty="0">
                              <a:effectLst/>
                            </a:rPr>
                            <a:t>Raspberry mousse</a:t>
                          </a:r>
                          <a:endParaRPr lang="en-GB" sz="12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85891020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Ginger toffee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37252724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Rose-water posy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38121803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Walnut whirl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18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59969343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dirty="0">
                              <a:effectLst/>
                            </a:rPr>
                            <a:t>Grape bunch</a:t>
                          </a:r>
                          <a:endParaRPr lang="en-GB" sz="12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42932353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Content Placeholder 4">
                <a:extLst>
                  <a:ext uri="{FF2B5EF4-FFF2-40B4-BE49-F238E27FC236}">
                    <a16:creationId xmlns:a16="http://schemas.microsoft.com/office/drawing/2014/main" id="{7AC61F5A-C4E9-49D1-AFD0-CCA0D9864110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95729753"/>
                  </p:ext>
                </p:extLst>
              </p:nvPr>
            </p:nvGraphicFramePr>
            <p:xfrm>
              <a:off x="546100" y="1266104"/>
              <a:ext cx="3912121" cy="3331337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72338">
                      <a:extLst>
                        <a:ext uri="{9D8B030D-6E8A-4147-A177-3AD203B41FA5}">
                          <a16:colId xmlns:a16="http://schemas.microsoft.com/office/drawing/2014/main" val="2602940957"/>
                        </a:ext>
                      </a:extLst>
                    </a:gridCol>
                    <a:gridCol w="1104410">
                      <a:extLst>
                        <a:ext uri="{9D8B030D-6E8A-4147-A177-3AD203B41FA5}">
                          <a16:colId xmlns:a16="http://schemas.microsoft.com/office/drawing/2014/main" val="2947240050"/>
                        </a:ext>
                      </a:extLst>
                    </a:gridCol>
                    <a:gridCol w="1635373">
                      <a:extLst>
                        <a:ext uri="{9D8B030D-6E8A-4147-A177-3AD203B41FA5}">
                          <a16:colId xmlns:a16="http://schemas.microsoft.com/office/drawing/2014/main" val="921487208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3"/>
                          <a:stretch>
                            <a:fillRect l="-518" t="-15152" r="-235233" b="-16030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3"/>
                          <a:stretch>
                            <a:fillRect l="-107182" t="-15152" r="-150829" b="-16030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3"/>
                          <a:stretch>
                            <a:fillRect l="-139405" t="-15152" r="-1487" b="-16030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4153482"/>
                      </a:ext>
                    </a:extLst>
                  </a:tr>
                  <a:tr h="382778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Buttery butterscotch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4114274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dirty="0">
                              <a:effectLst/>
                            </a:rPr>
                            <a:t>Caramel softie</a:t>
                          </a:r>
                          <a:endParaRPr lang="en-GB" sz="12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2748491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Orange dream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4059950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Coconut Ice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82314052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Lemon sorbet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420469276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Lime sherbet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192925892"/>
                      </a:ext>
                    </a:extLst>
                  </a:tr>
                  <a:tr h="382778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Strawberry surprise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484526713"/>
                      </a:ext>
                    </a:extLst>
                  </a:tr>
                  <a:tr h="382778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dirty="0">
                              <a:effectLst/>
                            </a:rPr>
                            <a:t>Raspberry mousse</a:t>
                          </a:r>
                          <a:endParaRPr lang="en-GB" sz="12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85891020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Ginger toffee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372527242"/>
                      </a:ext>
                    </a:extLst>
                  </a:tr>
                  <a:tr h="382778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Rose-water posy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38121803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Walnut whirl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18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59969343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dirty="0">
                              <a:effectLst/>
                            </a:rPr>
                            <a:t>Grape bunch</a:t>
                          </a:r>
                          <a:endParaRPr lang="en-GB" sz="12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429323533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1F2BBFA7-B795-4556-8178-AF6BCDEB0DC2}"/>
              </a:ext>
            </a:extLst>
          </p:cNvPr>
          <p:cNvSpPr txBox="1"/>
          <p:nvPr/>
        </p:nvSpPr>
        <p:spPr>
          <a:xfrm>
            <a:off x="434650" y="4853232"/>
            <a:ext cx="464449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u="sng" dirty="0"/>
              <a:t>Issue</a:t>
            </a:r>
          </a:p>
          <a:p>
            <a:endParaRPr lang="en-GB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Cost and Popularity may be of a different scale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What if cost was in thousands of pounds?</a:t>
            </a:r>
          </a:p>
        </p:txBody>
      </p:sp>
    </p:spTree>
    <p:extLst>
      <p:ext uri="{BB962C8B-B14F-4D97-AF65-F5344CB8AC3E}">
        <p14:creationId xmlns:p14="http://schemas.microsoft.com/office/powerpoint/2010/main" val="3223945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  <p:bldP spid="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Normalised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Content Placeholder 4">
                <a:extLst>
                  <a:ext uri="{FF2B5EF4-FFF2-40B4-BE49-F238E27FC236}">
                    <a16:creationId xmlns:a16="http://schemas.microsoft.com/office/drawing/2014/main" id="{8C3CF3EB-2ED5-4D5F-A055-EA6222174820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836042025"/>
                  </p:ext>
                </p:extLst>
              </p:nvPr>
            </p:nvGraphicFramePr>
            <p:xfrm>
              <a:off x="345210" y="1495868"/>
              <a:ext cx="6095999" cy="3866263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895826">
                      <a:extLst>
                        <a:ext uri="{9D8B030D-6E8A-4147-A177-3AD203B41FA5}">
                          <a16:colId xmlns:a16="http://schemas.microsoft.com/office/drawing/2014/main" val="2602940957"/>
                        </a:ext>
                      </a:extLst>
                    </a:gridCol>
                    <a:gridCol w="936274">
                      <a:extLst>
                        <a:ext uri="{9D8B030D-6E8A-4147-A177-3AD203B41FA5}">
                          <a16:colId xmlns:a16="http://schemas.microsoft.com/office/drawing/2014/main" val="2947240050"/>
                        </a:ext>
                      </a:extLst>
                    </a:gridCol>
                    <a:gridCol w="1154395">
                      <a:extLst>
                        <a:ext uri="{9D8B030D-6E8A-4147-A177-3AD203B41FA5}">
                          <a16:colId xmlns:a16="http://schemas.microsoft.com/office/drawing/2014/main" val="921487208"/>
                        </a:ext>
                      </a:extLst>
                    </a:gridCol>
                    <a:gridCol w="2109504">
                      <a:extLst>
                        <a:ext uri="{9D8B030D-6E8A-4147-A177-3AD203B41FA5}">
                          <a16:colId xmlns:a16="http://schemas.microsoft.com/office/drawing/2014/main" val="4032966885"/>
                        </a:ext>
                      </a:extLst>
                    </a:gridCol>
                  </a:tblGrid>
                  <a:tr h="65667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Candy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>
                                      <a:effectLst/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sz="1400">
                                      <a:effectLst/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1" dirty="0">
                              <a:solidFill>
                                <a:schemeClr val="bg1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Cost - </a:t>
                          </a:r>
                          <a:endParaRPr lang="en-GB" sz="1400" b="0" i="1" dirty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smtClean="0">
                                        <a:solidFill>
                                          <a:schemeClr val="bg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b="0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b="1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𝑪</m:t>
                                        </m:r>
                                      </m:e>
                                      <m:sub>
                                        <m:r>
                                          <a:rPr lang="en-GB" sz="1400" b="1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num>
                                  <m:den>
                                    <m:func>
                                      <m:funcPr>
                                        <m:ctrlP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uncPr>
                                      <m:fName>
                                        <m:limLow>
                                          <m:limLow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limLow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GB" sz="1400" b="0" i="0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max</m:t>
                                            </m:r>
                                          </m:e>
                                          <m:lim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lim>
                                        </m:limLow>
                                      </m:fName>
                                      <m:e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{</m:t>
                                        </m:r>
                                        <m:sSub>
                                          <m:sSub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}</m:t>
                                        </m:r>
                                      </m:e>
                                    </m:func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1" dirty="0">
                              <a:solidFill>
                                <a:schemeClr val="bg1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Popularity – </a:t>
                          </a:r>
                        </a:p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smtClean="0">
                                        <a:solidFill>
                                          <a:schemeClr val="bg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b="0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𝑷</m:t>
                                        </m:r>
                                      </m:e>
                                      <m:sub>
                                        <m:r>
                                          <a:rPr lang="en-GB" sz="1400" b="1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num>
                                  <m:den>
                                    <m:func>
                                      <m:funcPr>
                                        <m:ctrlP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uncPr>
                                      <m:fName>
                                        <m:limLow>
                                          <m:limLow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limLow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GB" sz="1400" b="0" i="0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max</m:t>
                                            </m:r>
                                          </m:e>
                                          <m:lim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lim>
                                        </m:limLow>
                                      </m:fName>
                                      <m:e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{</m:t>
                                        </m:r>
                                        <m:sSub>
                                          <m:sSub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𝑃</m:t>
                                            </m:r>
                                          </m:e>
                                          <m:sub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}</m:t>
                                        </m:r>
                                      </m:e>
                                    </m:func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smtClean="0">
                                        <a:solidFill>
                                          <a:schemeClr val="bg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b="0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𝑷</m:t>
                                        </m:r>
                                      </m:e>
                                      <m:sub>
                                        <m:r>
                                          <a:rPr lang="en-GB" sz="1400" b="1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num>
                                  <m:den>
                                    <m:func>
                                      <m:funcPr>
                                        <m:ctrlP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uncPr>
                                      <m:fName>
                                        <m:limLow>
                                          <m:limLow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limLow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GB" sz="1400" b="0" i="0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max</m:t>
                                            </m:r>
                                          </m:e>
                                          <m:lim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lim>
                                        </m:limLow>
                                      </m:fName>
                                      <m:e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{</m:t>
                                        </m:r>
                                        <m:sSub>
                                          <m:sSub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𝑃</m:t>
                                            </m:r>
                                          </m:e>
                                          <m:sub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}</m:t>
                                        </m:r>
                                      </m:e>
                                    </m:func>
                                  </m:den>
                                </m:f>
                                <m:r>
                                  <a:rPr lang="en-GB" sz="1400" b="1" i="0" smtClean="0">
                                    <a:solidFill>
                                      <a:schemeClr val="bg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GB" sz="1400" b="0" i="1" smtClean="0">
                                        <a:solidFill>
                                          <a:schemeClr val="bg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b="0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𝑪</m:t>
                                        </m:r>
                                      </m:e>
                                      <m:sub>
                                        <m:r>
                                          <a:rPr lang="en-GB" sz="1400" b="1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num>
                                  <m:den>
                                    <m:func>
                                      <m:funcPr>
                                        <m:ctrlP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uncPr>
                                      <m:fName>
                                        <m:limLow>
                                          <m:limLow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limLow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GB" sz="1400" b="0" i="0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max</m:t>
                                            </m:r>
                                          </m:e>
                                          <m:lim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lim>
                                        </m:limLow>
                                      </m:fName>
                                      <m:e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{</m:t>
                                        </m:r>
                                        <m:sSub>
                                          <m:sSub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}</m:t>
                                        </m:r>
                                      </m:e>
                                    </m:func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434153482"/>
                      </a:ext>
                    </a:extLst>
                  </a:tr>
                  <a:tr h="362247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Buttery butterscotch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41142745"/>
                      </a:ext>
                    </a:extLst>
                  </a:tr>
                  <a:tr h="2065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Caramel softie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27484915"/>
                      </a:ext>
                    </a:extLst>
                  </a:tr>
                  <a:tr h="2065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Orange dream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0.2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0599508"/>
                      </a:ext>
                    </a:extLst>
                  </a:tr>
                  <a:tr h="2065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Coconut Ice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0.75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0.9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0.15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823140525"/>
                      </a:ext>
                    </a:extLst>
                  </a:tr>
                  <a:tr h="2065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Lemon sorbet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-0.15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204692767"/>
                      </a:ext>
                    </a:extLst>
                  </a:tr>
                  <a:tr h="2065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Lime sherbet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-0.05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192925892"/>
                      </a:ext>
                    </a:extLst>
                  </a:tr>
                  <a:tr h="362247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Strawberry surprise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0.7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-0.1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484526713"/>
                      </a:ext>
                    </a:extLst>
                  </a:tr>
                  <a:tr h="362247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Raspberry mousse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858910209"/>
                      </a:ext>
                    </a:extLst>
                  </a:tr>
                  <a:tr h="2065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Ginger toffee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0.75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0.25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372527242"/>
                      </a:ext>
                    </a:extLst>
                  </a:tr>
                  <a:tr h="2065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Rose-water posy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0.3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-0.2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381218035"/>
                      </a:ext>
                    </a:extLst>
                  </a:tr>
                  <a:tr h="2065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Walnut whirl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0.9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-0.1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599693438"/>
                      </a:ext>
                    </a:extLst>
                  </a:tr>
                  <a:tr h="2065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Grape bunch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-0.6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2932353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Content Placeholder 4">
                <a:extLst>
                  <a:ext uri="{FF2B5EF4-FFF2-40B4-BE49-F238E27FC236}">
                    <a16:creationId xmlns:a16="http://schemas.microsoft.com/office/drawing/2014/main" id="{8C3CF3EB-2ED5-4D5F-A055-EA6222174820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836042025"/>
                  </p:ext>
                </p:extLst>
              </p:nvPr>
            </p:nvGraphicFramePr>
            <p:xfrm>
              <a:off x="345210" y="1495868"/>
              <a:ext cx="6095999" cy="3866263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895826">
                      <a:extLst>
                        <a:ext uri="{9D8B030D-6E8A-4147-A177-3AD203B41FA5}">
                          <a16:colId xmlns:a16="http://schemas.microsoft.com/office/drawing/2014/main" val="2602940957"/>
                        </a:ext>
                      </a:extLst>
                    </a:gridCol>
                    <a:gridCol w="936274">
                      <a:extLst>
                        <a:ext uri="{9D8B030D-6E8A-4147-A177-3AD203B41FA5}">
                          <a16:colId xmlns:a16="http://schemas.microsoft.com/office/drawing/2014/main" val="2947240050"/>
                        </a:ext>
                      </a:extLst>
                    </a:gridCol>
                    <a:gridCol w="1154395">
                      <a:extLst>
                        <a:ext uri="{9D8B030D-6E8A-4147-A177-3AD203B41FA5}">
                          <a16:colId xmlns:a16="http://schemas.microsoft.com/office/drawing/2014/main" val="921487208"/>
                        </a:ext>
                      </a:extLst>
                    </a:gridCol>
                    <a:gridCol w="2109504">
                      <a:extLst>
                        <a:ext uri="{9D8B030D-6E8A-4147-A177-3AD203B41FA5}">
                          <a16:colId xmlns:a16="http://schemas.microsoft.com/office/drawing/2014/main" val="4032966885"/>
                        </a:ext>
                      </a:extLst>
                    </a:gridCol>
                  </a:tblGrid>
                  <a:tr h="77355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322" t="-6299" r="-223151" b="-4141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202597" t="-6299" r="-350649" b="-4141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245263" t="-6299" r="-184211" b="-4141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189595" t="-6299" r="-1156" b="-4141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4153482"/>
                      </a:ext>
                    </a:extLst>
                  </a:tr>
                  <a:tr h="362247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Buttery butterscotch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41142745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Caramel softie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27484915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Orange dream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0.2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0599508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Coconut Ice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0.75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0.9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0.15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823140525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Lemon sorbet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-0.15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204692767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Lime sherbet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-0.05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192925892"/>
                      </a:ext>
                    </a:extLst>
                  </a:tr>
                  <a:tr h="362247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Strawberry surprise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0.7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-0.1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484526713"/>
                      </a:ext>
                    </a:extLst>
                  </a:tr>
                  <a:tr h="362247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Raspberry mousse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858910209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Ginger toffee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0.75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0.25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372527242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Rose-water posy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0.3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-0.2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381218035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Walnut whirl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0.9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-0.1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599693438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Grape bunch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-0.6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29323533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820B3C7-C533-41BD-B85C-415CD62CBD9D}"/>
                  </a:ext>
                </a:extLst>
              </p:cNvPr>
              <p:cNvSpPr/>
              <p:nvPr/>
            </p:nvSpPr>
            <p:spPr>
              <a:xfrm>
                <a:off x="5948218" y="1010600"/>
                <a:ext cx="6096000" cy="5056577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u="sng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Maximise the normalised weighted objective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endParaRPr lang="en-GB" sz="105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	maximise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GB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func>
                                <m:func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b="0" i="0" smtClean="0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max</m:t>
                                      </m:r>
                                    </m:e>
                                    <m:lim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lim>
                                  </m:limLow>
                                </m:fName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{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}</m:t>
                                  </m:r>
                                </m:e>
                              </m:func>
                            </m:den>
                          </m:f>
                        </m:e>
                      </m:nary>
                      <m:r>
                        <a:rPr lang="en-GB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GB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𝛼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func>
                                <m:func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max</m:t>
                                      </m:r>
                                    </m:e>
                                    <m:lim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lim>
                                  </m:limLow>
                                </m:fName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{</m:t>
                                  </m:r>
                                  <m:sSub>
                                    <m:sSub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}</m:t>
                                  </m:r>
                                </m:e>
                              </m:func>
                            </m:den>
                          </m:f>
                        </m:e>
                      </m:nary>
                    </m:oMath>
                  </m:oMathPara>
                </a14:m>
                <a:endParaRPr lang="en-GB" dirty="0"/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subject to:</a:t>
                </a:r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≥320</m:t>
                        </m:r>
                      </m:e>
                    </m:nary>
                  </m:oMath>
                </a14:m>
                <a:b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≤1.5∗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320</m:t>
                        </m:r>
                      </m:e>
                    </m:nary>
                  </m:oMath>
                </a14:m>
                <a:b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≤2850</m:t>
                        </m:r>
                      </m:e>
                    </m:nary>
                  </m:oMath>
                </a14:m>
                <a:b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≤0.45</m:t>
                        </m:r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e>
                    </m:nary>
                  </m:oMath>
                </a14:m>
                <a:b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≥0,  ∀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endParaRPr lang="en-GB" i="1" dirty="0">
                  <a:latin typeface="Cambria Math" panose="020405030504060302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ℤ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  ∀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820B3C7-C533-41BD-B85C-415CD62CBD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8218" y="1010600"/>
                <a:ext cx="6096000" cy="5056577"/>
              </a:xfrm>
              <a:prstGeom prst="rect">
                <a:avLst/>
              </a:prstGeom>
              <a:blipFill>
                <a:blip r:embed="rId3"/>
                <a:stretch>
                  <a:fillRect t="-60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7170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3E593E6-3D2F-4C7E-80B2-F78D636A9E0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515600" cy="706293"/>
              </a:xfrm>
            </p:spPr>
            <p:txBody>
              <a:bodyPr/>
              <a:lstStyle/>
              <a:p>
                <a:r>
                  <a:rPr lang="en-GB" dirty="0"/>
                  <a:t>Result - Equal Preference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3E593E6-3D2F-4C7E-80B2-F78D636A9E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515600" cy="706293"/>
              </a:xfrm>
              <a:blipFill>
                <a:blip r:embed="rId2"/>
                <a:stretch>
                  <a:fillRect l="-2377" t="-26724" b="-40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7C116D50-E823-4C86-8723-8B3CFBA897F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788631"/>
                  </p:ext>
                </p:extLst>
              </p:nvPr>
            </p:nvGraphicFramePr>
            <p:xfrm>
              <a:off x="749300" y="1187624"/>
              <a:ext cx="10922000" cy="3699974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829367">
                      <a:extLst>
                        <a:ext uri="{9D8B030D-6E8A-4147-A177-3AD203B41FA5}">
                          <a16:colId xmlns:a16="http://schemas.microsoft.com/office/drawing/2014/main" val="161726583"/>
                        </a:ext>
                      </a:extLst>
                    </a:gridCol>
                    <a:gridCol w="975662">
                      <a:extLst>
                        <a:ext uri="{9D8B030D-6E8A-4147-A177-3AD203B41FA5}">
                          <a16:colId xmlns:a16="http://schemas.microsoft.com/office/drawing/2014/main" val="2781967631"/>
                        </a:ext>
                      </a:extLst>
                    </a:gridCol>
                    <a:gridCol w="1165374">
                      <a:extLst>
                        <a:ext uri="{9D8B030D-6E8A-4147-A177-3AD203B41FA5}">
                          <a16:colId xmlns:a16="http://schemas.microsoft.com/office/drawing/2014/main" val="3976736123"/>
                        </a:ext>
                      </a:extLst>
                    </a:gridCol>
                    <a:gridCol w="1463494">
                      <a:extLst>
                        <a:ext uri="{9D8B030D-6E8A-4147-A177-3AD203B41FA5}">
                          <a16:colId xmlns:a16="http://schemas.microsoft.com/office/drawing/2014/main" val="774794915"/>
                        </a:ext>
                      </a:extLst>
                    </a:gridCol>
                    <a:gridCol w="1029866">
                      <a:extLst>
                        <a:ext uri="{9D8B030D-6E8A-4147-A177-3AD203B41FA5}">
                          <a16:colId xmlns:a16="http://schemas.microsoft.com/office/drawing/2014/main" val="337924380"/>
                        </a:ext>
                      </a:extLst>
                    </a:gridCol>
                    <a:gridCol w="1422841">
                      <a:extLst>
                        <a:ext uri="{9D8B030D-6E8A-4147-A177-3AD203B41FA5}">
                          <a16:colId xmlns:a16="http://schemas.microsoft.com/office/drawing/2014/main" val="1873823968"/>
                        </a:ext>
                      </a:extLst>
                    </a:gridCol>
                    <a:gridCol w="1676496">
                      <a:extLst>
                        <a:ext uri="{9D8B030D-6E8A-4147-A177-3AD203B41FA5}">
                          <a16:colId xmlns:a16="http://schemas.microsoft.com/office/drawing/2014/main" val="4000470708"/>
                        </a:ext>
                      </a:extLst>
                    </a:gridCol>
                    <a:gridCol w="1358900">
                      <a:extLst>
                        <a:ext uri="{9D8B030D-6E8A-4147-A177-3AD203B41FA5}">
                          <a16:colId xmlns:a16="http://schemas.microsoft.com/office/drawing/2014/main" val="1184954335"/>
                        </a:ext>
                      </a:extLst>
                    </a:gridCol>
                  </a:tblGrid>
                  <a:tr h="918494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Candy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Fat (g)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Calories –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Weight (g)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1" dirty="0">
                              <a:solidFill>
                                <a:schemeClr val="bg1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Cost - </a:t>
                          </a:r>
                          <a:endParaRPr lang="en-GB" sz="1400" b="0" i="1" dirty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smtClean="0">
                                        <a:solidFill>
                                          <a:schemeClr val="bg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b="0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b="1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𝑪</m:t>
                                        </m:r>
                                      </m:e>
                                      <m:sub>
                                        <m:r>
                                          <a:rPr lang="en-GB" sz="1400" b="1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num>
                                  <m:den>
                                    <m:func>
                                      <m:funcPr>
                                        <m:ctrlP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uncPr>
                                      <m:fName>
                                        <m:limLow>
                                          <m:limLow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limLow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GB" sz="1400" b="0" i="0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max</m:t>
                                            </m:r>
                                          </m:e>
                                          <m:lim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lim>
                                        </m:limLow>
                                      </m:fName>
                                      <m:e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{</m:t>
                                        </m:r>
                                        <m:sSub>
                                          <m:sSub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}</m:t>
                                        </m:r>
                                      </m:e>
                                    </m:func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1" dirty="0">
                              <a:solidFill>
                                <a:schemeClr val="bg1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Popularity – </a:t>
                          </a:r>
                        </a:p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smtClean="0">
                                        <a:solidFill>
                                          <a:schemeClr val="bg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b="0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𝑷</m:t>
                                        </m:r>
                                      </m:e>
                                      <m:sub>
                                        <m:r>
                                          <a:rPr lang="en-GB" sz="1400" b="1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num>
                                  <m:den>
                                    <m:func>
                                      <m:funcPr>
                                        <m:ctrlP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uncPr>
                                      <m:fName>
                                        <m:limLow>
                                          <m:limLow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limLow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GB" sz="1400" b="0" i="0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max</m:t>
                                            </m:r>
                                          </m:e>
                                          <m:lim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lim>
                                        </m:limLow>
                                      </m:fName>
                                      <m:e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{</m:t>
                                        </m:r>
                                        <m:sSub>
                                          <m:sSub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𝑃</m:t>
                                            </m:r>
                                          </m:e>
                                          <m:sub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}</m:t>
                                        </m:r>
                                      </m:e>
                                    </m:func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smtClean="0">
                                        <a:solidFill>
                                          <a:schemeClr val="bg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b="0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𝑷</m:t>
                                        </m:r>
                                      </m:e>
                                      <m:sub>
                                        <m:r>
                                          <a:rPr lang="en-GB" sz="1400" b="1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num>
                                  <m:den>
                                    <m:func>
                                      <m:funcPr>
                                        <m:ctrlP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uncPr>
                                      <m:fName>
                                        <m:limLow>
                                          <m:limLow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limLow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GB" sz="1400" b="0" i="0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max</m:t>
                                            </m:r>
                                          </m:e>
                                          <m:lim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lim>
                                        </m:limLow>
                                      </m:fName>
                                      <m:e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{</m:t>
                                        </m:r>
                                        <m:sSub>
                                          <m:sSub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𝑃</m:t>
                                            </m:r>
                                          </m:e>
                                          <m:sub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}</m:t>
                                        </m:r>
                                      </m:e>
                                    </m:func>
                                  </m:den>
                                </m:f>
                                <m:r>
                                  <a:rPr lang="en-GB" sz="1400" b="1" i="0" smtClean="0">
                                    <a:solidFill>
                                      <a:schemeClr val="bg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GB" sz="1400" b="0" i="1" smtClean="0">
                                        <a:solidFill>
                                          <a:schemeClr val="bg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b="0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𝑪</m:t>
                                        </m:r>
                                      </m:e>
                                      <m:sub>
                                        <m:r>
                                          <a:rPr lang="en-GB" sz="1400" b="1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num>
                                  <m:den>
                                    <m:func>
                                      <m:funcPr>
                                        <m:ctrlP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uncPr>
                                      <m:fName>
                                        <m:limLow>
                                          <m:limLow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limLow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GB" sz="1400" b="0" i="0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max</m:t>
                                            </m:r>
                                          </m:e>
                                          <m:lim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lim>
                                        </m:limLow>
                                      </m:fName>
                                      <m:e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{</m:t>
                                        </m:r>
                                        <m:sSub>
                                          <m:sSub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}</m:t>
                                        </m:r>
                                      </m:e>
                                    </m:func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 dirty="0">
                              <a:effectLst/>
                            </a:rPr>
                            <a:t>Maximise </a:t>
                          </a:r>
                        </a:p>
                        <a:p>
                          <a:pPr algn="ctr" fontAlgn="b"/>
                          <a:r>
                            <a:rPr lang="en-GB" sz="1400" u="none" strike="noStrike" dirty="0">
                              <a:effectLst/>
                            </a:rPr>
                            <a:t>Weighted </a:t>
                          </a:r>
                        </a:p>
                        <a:p>
                          <a:pPr algn="ctr" fontAlgn="b"/>
                          <a:r>
                            <a:rPr lang="en-GB" sz="1400" u="none" strike="noStrike" dirty="0">
                              <a:effectLst/>
                            </a:rPr>
                            <a:t>Objective 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2755755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Buttery butterscotch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20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100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24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2530514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Caramel softie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100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22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8757147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Orange dream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80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15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0.2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24595827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Coconut Ice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7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12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0.75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0.9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24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8747272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Lemon sorbet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60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0.65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-0.15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70223770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Lime sherbet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40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0.65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-0.05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65882195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Strawberry surprise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13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0.7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-0.1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8881443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Raspberry mousse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90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17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0.8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2072549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Ginger toffee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0.75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0.25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7644273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Rose-water posy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145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0.3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-0.2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11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246894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Walnut whirl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19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0.9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-0.1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87495979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Grape bunch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-0.6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904013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7C116D50-E823-4C86-8723-8B3CFBA897F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788631"/>
                  </p:ext>
                </p:extLst>
              </p:nvPr>
            </p:nvGraphicFramePr>
            <p:xfrm>
              <a:off x="749300" y="1187624"/>
              <a:ext cx="10922000" cy="3699974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829367">
                      <a:extLst>
                        <a:ext uri="{9D8B030D-6E8A-4147-A177-3AD203B41FA5}">
                          <a16:colId xmlns:a16="http://schemas.microsoft.com/office/drawing/2014/main" val="161726583"/>
                        </a:ext>
                      </a:extLst>
                    </a:gridCol>
                    <a:gridCol w="975662">
                      <a:extLst>
                        <a:ext uri="{9D8B030D-6E8A-4147-A177-3AD203B41FA5}">
                          <a16:colId xmlns:a16="http://schemas.microsoft.com/office/drawing/2014/main" val="2781967631"/>
                        </a:ext>
                      </a:extLst>
                    </a:gridCol>
                    <a:gridCol w="1165374">
                      <a:extLst>
                        <a:ext uri="{9D8B030D-6E8A-4147-A177-3AD203B41FA5}">
                          <a16:colId xmlns:a16="http://schemas.microsoft.com/office/drawing/2014/main" val="3976736123"/>
                        </a:ext>
                      </a:extLst>
                    </a:gridCol>
                    <a:gridCol w="1463494">
                      <a:extLst>
                        <a:ext uri="{9D8B030D-6E8A-4147-A177-3AD203B41FA5}">
                          <a16:colId xmlns:a16="http://schemas.microsoft.com/office/drawing/2014/main" val="774794915"/>
                        </a:ext>
                      </a:extLst>
                    </a:gridCol>
                    <a:gridCol w="1029866">
                      <a:extLst>
                        <a:ext uri="{9D8B030D-6E8A-4147-A177-3AD203B41FA5}">
                          <a16:colId xmlns:a16="http://schemas.microsoft.com/office/drawing/2014/main" val="337924380"/>
                        </a:ext>
                      </a:extLst>
                    </a:gridCol>
                    <a:gridCol w="1422841">
                      <a:extLst>
                        <a:ext uri="{9D8B030D-6E8A-4147-A177-3AD203B41FA5}">
                          <a16:colId xmlns:a16="http://schemas.microsoft.com/office/drawing/2014/main" val="1873823968"/>
                        </a:ext>
                      </a:extLst>
                    </a:gridCol>
                    <a:gridCol w="1676496">
                      <a:extLst>
                        <a:ext uri="{9D8B030D-6E8A-4147-A177-3AD203B41FA5}">
                          <a16:colId xmlns:a16="http://schemas.microsoft.com/office/drawing/2014/main" val="4000470708"/>
                        </a:ext>
                      </a:extLst>
                    </a:gridCol>
                    <a:gridCol w="1358900">
                      <a:extLst>
                        <a:ext uri="{9D8B030D-6E8A-4147-A177-3AD203B41FA5}">
                          <a16:colId xmlns:a16="http://schemas.microsoft.com/office/drawing/2014/main" val="1184954335"/>
                        </a:ext>
                      </a:extLst>
                    </a:gridCol>
                  </a:tblGrid>
                  <a:tr h="91849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3"/>
                          <a:stretch>
                            <a:fillRect l="-333" t="-662" r="-499000" b="-3139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3"/>
                          <a:stretch>
                            <a:fillRect l="-188125" t="-662" r="-835625" b="-3139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3"/>
                          <a:stretch>
                            <a:fillRect l="-240104" t="-662" r="-596354" b="-3139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3"/>
                          <a:stretch>
                            <a:fillRect l="-272083" t="-662" r="-377083" b="-3139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3"/>
                          <a:stretch>
                            <a:fillRect l="-528402" t="-662" r="-435503" b="-3139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3"/>
                          <a:stretch>
                            <a:fillRect l="-453846" t="-662" r="-214530" b="-3139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3"/>
                          <a:stretch>
                            <a:fillRect l="-471273" t="-662" r="-82545" b="-3139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 dirty="0">
                              <a:effectLst/>
                            </a:rPr>
                            <a:t>Maximise </a:t>
                          </a:r>
                        </a:p>
                        <a:p>
                          <a:pPr algn="ctr" fontAlgn="b"/>
                          <a:r>
                            <a:rPr lang="en-GB" sz="1400" u="none" strike="noStrike" dirty="0">
                              <a:effectLst/>
                            </a:rPr>
                            <a:t>Weighted </a:t>
                          </a:r>
                        </a:p>
                        <a:p>
                          <a:pPr algn="ctr" fontAlgn="b"/>
                          <a:r>
                            <a:rPr lang="en-GB" sz="1400" u="none" strike="noStrike" dirty="0">
                              <a:effectLst/>
                            </a:rPr>
                            <a:t>Objective 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2755755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Buttery butterscotch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20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100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24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2530514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Caramel softie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100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22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8757147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Orange dream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80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15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0.2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24595827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Coconut Ice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7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12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0.75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0.9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24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8747272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Lemon sorbet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60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0.65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-0.15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70223770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Lime sherbet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40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0.65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-0.05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65882195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Strawberry surprise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13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0.7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-0.1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8881443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Raspberry mousse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90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17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0.8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2072549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Ginger toffee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0.75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0.25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7644273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Rose-water posy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145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0.3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-0.2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11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246894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Walnut whirl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19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0.9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-0.1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87495979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Grape bunch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-0.6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904013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4F6C4959-26AF-45A2-B503-41C219EDB5BA}"/>
              </a:ext>
            </a:extLst>
          </p:cNvPr>
          <p:cNvSpPr txBox="1"/>
          <p:nvPr/>
        </p:nvSpPr>
        <p:spPr>
          <a:xfrm>
            <a:off x="749300" y="5003804"/>
            <a:ext cx="274241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u="sng" dirty="0"/>
              <a:t>Selection has:</a:t>
            </a:r>
          </a:p>
          <a:p>
            <a:endParaRPr lang="en-GB" sz="2000" u="sn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a total weight of 376g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2795 kcals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168g fat</a:t>
            </a:r>
          </a:p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254352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Results for all capped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6C4959-26AF-45A2-B503-41C219EDB5BA}"/>
                  </a:ext>
                </a:extLst>
              </p:cNvPr>
              <p:cNvSpPr txBox="1"/>
              <p:nvPr/>
            </p:nvSpPr>
            <p:spPr>
              <a:xfrm>
                <a:off x="2679394" y="4922117"/>
                <a:ext cx="6236579" cy="16312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 dirty="0"/>
                  <a:t>Completely different solutions for the first 3 columns!</a:t>
                </a:r>
              </a:p>
              <a:p>
                <a:endParaRPr lang="en-GB" sz="2000" dirty="0"/>
              </a:p>
              <a:p>
                <a:r>
                  <a:rPr lang="en-GB" sz="2000" dirty="0"/>
                  <a:t>Values of </a:t>
                </a:r>
                <a14:m>
                  <m:oMath xmlns:m="http://schemas.openxmlformats.org/officeDocument/2006/math"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GB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≳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0.59</m:t>
                    </m:r>
                  </m:oMath>
                </a14:m>
                <a:r>
                  <a:rPr lang="en-GB" sz="2000" dirty="0"/>
                  <a:t> return the Minimise cost model</a:t>
                </a:r>
              </a:p>
              <a:p>
                <a:r>
                  <a:rPr lang="en-GB" sz="2000" dirty="0"/>
                  <a:t>Values of </a:t>
                </a:r>
                <a14:m>
                  <m:oMath xmlns:m="http://schemas.openxmlformats.org/officeDocument/2006/math">
                    <m:r>
                      <a:rPr lang="en-GB" sz="20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GB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1/6</m:t>
                    </m:r>
                  </m:oMath>
                </a14:m>
                <a:r>
                  <a:rPr lang="en-GB" sz="2000" dirty="0"/>
                  <a:t> (≈ 0.167) return the Maximise popularity model</a:t>
                </a:r>
              </a:p>
              <a:p>
                <a:endParaRPr lang="en-GB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6C4959-26AF-45A2-B503-41C219EDB5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394" y="4922117"/>
                <a:ext cx="7036106" cy="1631216"/>
              </a:xfrm>
              <a:prstGeom prst="rect">
                <a:avLst/>
              </a:prstGeom>
              <a:blipFill>
                <a:blip r:embed="rId2"/>
                <a:stretch>
                  <a:fillRect l="-953" t="-186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87E84431-07D1-4C28-B623-5BEBD30ADB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2371595"/>
                  </p:ext>
                </p:extLst>
              </p:nvPr>
            </p:nvGraphicFramePr>
            <p:xfrm>
              <a:off x="789708" y="1230573"/>
              <a:ext cx="10741891" cy="353238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515988">
                      <a:extLst>
                        <a:ext uri="{9D8B030D-6E8A-4147-A177-3AD203B41FA5}">
                          <a16:colId xmlns:a16="http://schemas.microsoft.com/office/drawing/2014/main" val="3331787569"/>
                        </a:ext>
                      </a:extLst>
                    </a:gridCol>
                    <a:gridCol w="1034246">
                      <a:extLst>
                        <a:ext uri="{9D8B030D-6E8A-4147-A177-3AD203B41FA5}">
                          <a16:colId xmlns:a16="http://schemas.microsoft.com/office/drawing/2014/main" val="3353037812"/>
                        </a:ext>
                      </a:extLst>
                    </a:gridCol>
                    <a:gridCol w="1353992">
                      <a:extLst>
                        <a:ext uri="{9D8B030D-6E8A-4147-A177-3AD203B41FA5}">
                          <a16:colId xmlns:a16="http://schemas.microsoft.com/office/drawing/2014/main" val="862760607"/>
                        </a:ext>
                      </a:extLst>
                    </a:gridCol>
                    <a:gridCol w="1059166">
                      <a:extLst>
                        <a:ext uri="{9D8B030D-6E8A-4147-A177-3AD203B41FA5}">
                          <a16:colId xmlns:a16="http://schemas.microsoft.com/office/drawing/2014/main" val="1308545185"/>
                        </a:ext>
                      </a:extLst>
                    </a:gridCol>
                    <a:gridCol w="1909948">
                      <a:extLst>
                        <a:ext uri="{9D8B030D-6E8A-4147-A177-3AD203B41FA5}">
                          <a16:colId xmlns:a16="http://schemas.microsoft.com/office/drawing/2014/main" val="2250044517"/>
                        </a:ext>
                      </a:extLst>
                    </a:gridCol>
                    <a:gridCol w="1943947">
                      <a:extLst>
                        <a:ext uri="{9D8B030D-6E8A-4147-A177-3AD203B41FA5}">
                          <a16:colId xmlns:a16="http://schemas.microsoft.com/office/drawing/2014/main" val="2349390410"/>
                        </a:ext>
                      </a:extLst>
                    </a:gridCol>
                    <a:gridCol w="1924604">
                      <a:extLst>
                        <a:ext uri="{9D8B030D-6E8A-4147-A177-3AD203B41FA5}">
                          <a16:colId xmlns:a16="http://schemas.microsoft.com/office/drawing/2014/main" val="3532617229"/>
                        </a:ext>
                      </a:extLst>
                    </a:gridCol>
                  </a:tblGrid>
                  <a:tr h="644409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Candy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Minimise Cost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Maximise Popularity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 dirty="0">
                              <a:effectLst/>
                            </a:rPr>
                            <a:t>Maximise</a:t>
                          </a:r>
                        </a:p>
                        <a:p>
                          <a:pPr algn="ctr" fontAlgn="b"/>
                          <a:r>
                            <a:rPr lang="en-GB" sz="1400" u="none" strike="noStrike" dirty="0">
                              <a:effectLst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sz="1400" b="1" i="1" u="none" strike="noStrike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400" b="1" i="1" u="none" strike="noStrike" smtClean="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400" b="1" i="1" u="none" strike="noStrike" smtClean="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𝑷</m:t>
                                      </m:r>
                                    </m:e>
                                    <m:sub>
                                      <m:r>
                                        <a:rPr lang="en-GB" sz="1400" b="1" i="1" u="none" strike="noStrike" smtClean="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GB" sz="1400" b="1" i="1" u="none" strike="noStrike" smtClean="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400" b="1" i="1" u="none" strike="noStrike" smtClean="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𝑪</m:t>
                                      </m:r>
                                    </m:e>
                                    <m:sub>
                                      <m:r>
                                        <a:rPr lang="en-GB" sz="1400" b="1" i="1" u="none" strike="noStrike" smtClean="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a14:m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Maximise Weighted Objective (Equal) 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Maximise Weighted Objective </a:t>
                          </a:r>
                          <a14:m>
                            <m:oMath xmlns:m="http://schemas.openxmlformats.org/officeDocument/2006/math">
                              <m:r>
                                <a:rPr lang="en-GB" sz="140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GB" sz="140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 = 0.59 </m:t>
                              </m:r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Maximise Weighted Objective </a:t>
                          </a:r>
                          <a14:m>
                            <m:oMath xmlns:m="http://schemas.openxmlformats.org/officeDocument/2006/math">
                              <m:r>
                                <a:rPr lang="en-GB" sz="140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GB" sz="140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 = 0.16</m:t>
                              </m:r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701603950"/>
                      </a:ext>
                    </a:extLst>
                  </a:tr>
                  <a:tr h="20955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Buttery butterscotch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398385856"/>
                      </a:ext>
                    </a:extLst>
                  </a:tr>
                  <a:tr h="20955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Caramel softie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9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9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492978926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Orange dream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241697270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Coconut Ice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30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24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30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23818410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Lemon sorbet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06971344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Lime sherbet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32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626941556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Strawberry surprise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86376874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Raspberry mousse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02762315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Ginger toffee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35395311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Rose-water posy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11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65446060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Walnut whirl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872341076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Grape bunch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3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3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5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35073044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87E84431-07D1-4C28-B623-5BEBD30ADB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2371595"/>
                  </p:ext>
                </p:extLst>
              </p:nvPr>
            </p:nvGraphicFramePr>
            <p:xfrm>
              <a:off x="789708" y="1230573"/>
              <a:ext cx="10741891" cy="353238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515988">
                      <a:extLst>
                        <a:ext uri="{9D8B030D-6E8A-4147-A177-3AD203B41FA5}">
                          <a16:colId xmlns:a16="http://schemas.microsoft.com/office/drawing/2014/main" val="3331787569"/>
                        </a:ext>
                      </a:extLst>
                    </a:gridCol>
                    <a:gridCol w="1034246">
                      <a:extLst>
                        <a:ext uri="{9D8B030D-6E8A-4147-A177-3AD203B41FA5}">
                          <a16:colId xmlns:a16="http://schemas.microsoft.com/office/drawing/2014/main" val="3353037812"/>
                        </a:ext>
                      </a:extLst>
                    </a:gridCol>
                    <a:gridCol w="1353992">
                      <a:extLst>
                        <a:ext uri="{9D8B030D-6E8A-4147-A177-3AD203B41FA5}">
                          <a16:colId xmlns:a16="http://schemas.microsoft.com/office/drawing/2014/main" val="862760607"/>
                        </a:ext>
                      </a:extLst>
                    </a:gridCol>
                    <a:gridCol w="1059166">
                      <a:extLst>
                        <a:ext uri="{9D8B030D-6E8A-4147-A177-3AD203B41FA5}">
                          <a16:colId xmlns:a16="http://schemas.microsoft.com/office/drawing/2014/main" val="1308545185"/>
                        </a:ext>
                      </a:extLst>
                    </a:gridCol>
                    <a:gridCol w="1909948">
                      <a:extLst>
                        <a:ext uri="{9D8B030D-6E8A-4147-A177-3AD203B41FA5}">
                          <a16:colId xmlns:a16="http://schemas.microsoft.com/office/drawing/2014/main" val="2250044517"/>
                        </a:ext>
                      </a:extLst>
                    </a:gridCol>
                    <a:gridCol w="1943947">
                      <a:extLst>
                        <a:ext uri="{9D8B030D-6E8A-4147-A177-3AD203B41FA5}">
                          <a16:colId xmlns:a16="http://schemas.microsoft.com/office/drawing/2014/main" val="2349390410"/>
                        </a:ext>
                      </a:extLst>
                    </a:gridCol>
                    <a:gridCol w="1924604">
                      <a:extLst>
                        <a:ext uri="{9D8B030D-6E8A-4147-A177-3AD203B41FA5}">
                          <a16:colId xmlns:a16="http://schemas.microsoft.com/office/drawing/2014/main" val="3532617229"/>
                        </a:ext>
                      </a:extLst>
                    </a:gridCol>
                  </a:tblGrid>
                  <a:tr h="64440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3"/>
                          <a:stretch>
                            <a:fillRect l="-402" t="-943" r="-609639" b="-464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Minimise Cost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Maximise Popularity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3"/>
                          <a:stretch>
                            <a:fillRect l="-368966" t="-943" r="-547126" b="-464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Maximise Weighted Objective (Equal) 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3"/>
                          <a:stretch>
                            <a:fillRect l="-353918" t="-943" r="-100313" b="-464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3"/>
                          <a:stretch>
                            <a:fillRect l="-458228" t="-943" r="-1266" b="-464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1603950"/>
                      </a:ext>
                    </a:extLst>
                  </a:tr>
                  <a:tr h="43624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Buttery butterscotch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398385856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Caramel softie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9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9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492978926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Orange dream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241697270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Coconut Ice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30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24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30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238184102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Lemon sorbet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06971344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Lime sherbet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32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626941556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Strawberry surprise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863768742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Raspberry mousse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027623158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Ginger toffee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353953113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Rose-water posy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11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65446060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Walnut whirl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872341076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Grape bunch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3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3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5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35073044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3823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Solve the Linear Program First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Solve the Linear Program first, Integer Program second.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An optimal solution for the LP model may exist on an integer solution. i.e. you might just get lucky!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In that case you don’t need to solve the Integer Program (can be slow to solve for large models)</a:t>
            </a:r>
          </a:p>
        </p:txBody>
      </p:sp>
    </p:spTree>
    <p:extLst>
      <p:ext uri="{BB962C8B-B14F-4D97-AF65-F5344CB8AC3E}">
        <p14:creationId xmlns:p14="http://schemas.microsoft.com/office/powerpoint/2010/main" val="3874213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Modelling a Linear Program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92500" lnSpcReduction="2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Write down what you know!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Identify the variables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Identify the objective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Identify the constraints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Are the constraints and objective linear?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Use appropriate notation. </a:t>
                </a:r>
              </a:p>
              <a:p>
                <a:pPr lvl="1"/>
                <a:r>
                  <a:rPr lang="en-GB" dirty="0"/>
                  <a:t>e.g. label vitamin A content of item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-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bSup>
                  </m:oMath>
                </a14:m>
                <a:endParaRPr lang="en-GB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Are the variables Real or Integer?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Formulate the Model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2 and 3 are not always obvious. E.g. conflicting preferences, opinions, etc.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101" t="-348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93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Additional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Model a Scaled/Simpler Problem</a:t>
            </a:r>
          </a:p>
          <a:p>
            <a:pPr lvl="1"/>
            <a:r>
              <a:rPr lang="en-GB" dirty="0"/>
              <a:t>It is easier to spot errors</a:t>
            </a:r>
          </a:p>
          <a:p>
            <a:pPr marL="0" indent="0">
              <a:buNone/>
            </a:pPr>
            <a:r>
              <a:rPr lang="en-GB" dirty="0"/>
              <a:t>Do you have test data?</a:t>
            </a:r>
          </a:p>
          <a:p>
            <a:pPr lvl="1"/>
            <a:r>
              <a:rPr lang="en-GB" dirty="0"/>
              <a:t>What if you already make a given profit and your model does worse?</a:t>
            </a:r>
          </a:p>
          <a:p>
            <a:pPr marL="0" indent="0">
              <a:buNone/>
            </a:pPr>
            <a:r>
              <a:rPr lang="en-GB" dirty="0"/>
              <a:t>Under Modelling</a:t>
            </a:r>
          </a:p>
          <a:p>
            <a:pPr lvl="1"/>
            <a:r>
              <a:rPr lang="en-GB" dirty="0"/>
              <a:t>Your model misses important features/constraints</a:t>
            </a:r>
          </a:p>
          <a:p>
            <a:pPr marL="0" indent="0">
              <a:buNone/>
            </a:pPr>
            <a:r>
              <a:rPr lang="en-GB" dirty="0"/>
              <a:t>Over Modelling</a:t>
            </a:r>
          </a:p>
          <a:p>
            <a:pPr lvl="1"/>
            <a:r>
              <a:rPr lang="en-GB" dirty="0"/>
              <a:t>Just like we extended, sometimes our models can be too restrictive</a:t>
            </a:r>
          </a:p>
          <a:p>
            <a:pPr lvl="1"/>
            <a:r>
              <a:rPr lang="en-GB" dirty="0"/>
              <a:t>We can also end up including redundant features/constraints</a:t>
            </a:r>
          </a:p>
          <a:p>
            <a:pPr lvl="1"/>
            <a:r>
              <a:rPr lang="en-GB" dirty="0"/>
              <a:t>We can also end up with conflicting constraints – Infeasible</a:t>
            </a:r>
          </a:p>
          <a:p>
            <a:pPr lvl="2"/>
            <a:r>
              <a:rPr lang="en-GB" dirty="0"/>
              <a:t>Sales wants more than can be produced</a:t>
            </a:r>
          </a:p>
          <a:p>
            <a:pPr lvl="1"/>
            <a:r>
              <a:rPr lang="en-GB" dirty="0"/>
              <a:t>Sometimes an expert knows best</a:t>
            </a:r>
          </a:p>
          <a:p>
            <a:pPr lvl="1"/>
            <a:endParaRPr lang="en-GB" dirty="0"/>
          </a:p>
          <a:p>
            <a:pPr marL="0" indent="0">
              <a:buNone/>
            </a:pPr>
            <a:r>
              <a:rPr lang="en-GB" dirty="0"/>
              <a:t>Please have a read of the R.E.D. Woolsey articles. They are both insightful and amusing.</a:t>
            </a:r>
          </a:p>
          <a:p>
            <a:pPr lvl="1"/>
            <a:r>
              <a:rPr lang="en-GB" dirty="0"/>
              <a:t>We will go over the Inflexible Steel Company in another session</a:t>
            </a:r>
          </a:p>
          <a:p>
            <a:pPr marL="457200" lvl="1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1277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B587AB4-D8C9-43A3-B80F-6729B49465FB}">
  <ds:schemaRefs>
    <ds:schemaRef ds:uri="http://schemas.openxmlformats.org/package/2006/metadata/core-properties"/>
    <ds:schemaRef ds:uri="http://purl.org/dc/dcmitype/"/>
    <ds:schemaRef ds:uri="606370cc-c8d9-4222-8a4e-3c320f1e3034"/>
    <ds:schemaRef ds:uri="http://schemas.microsoft.com/office/infopath/2007/PartnerControls"/>
    <ds:schemaRef ds:uri="http://purl.org/dc/elements/1.1/"/>
    <ds:schemaRef ds:uri="http://schemas.microsoft.com/office/2006/metadata/properties"/>
    <ds:schemaRef ds:uri="bf6b85bd-8a7e-4854-be4d-0780382295a8"/>
    <ds:schemaRef ds:uri="http://schemas.microsoft.com/office/2006/documentManagement/types"/>
    <ds:schemaRef ds:uri="http://purl.org/dc/terms/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49AC1EE-B6B3-4625-9CB8-D61F060C41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9D02246-543A-419F-B66B-7D4682A0096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2608</TotalTime>
  <Words>2561</Words>
  <Application>Microsoft Office PowerPoint</Application>
  <PresentationFormat>Widescreen</PresentationFormat>
  <Paragraphs>1033</Paragraphs>
  <Slides>27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Cambria Math</vt:lpstr>
      <vt:lpstr>Calibri Light</vt:lpstr>
      <vt:lpstr>Symbol</vt:lpstr>
      <vt:lpstr>Consolas</vt:lpstr>
      <vt:lpstr>Arial</vt:lpstr>
      <vt:lpstr>Calibri</vt:lpstr>
      <vt:lpstr>Office Theme</vt:lpstr>
      <vt:lpstr>Mathematical Programming: Modelling and Some Issues</vt:lpstr>
      <vt:lpstr>Contents</vt:lpstr>
      <vt:lpstr>Blank Slide</vt:lpstr>
      <vt:lpstr>Less than or equal to</vt:lpstr>
      <vt:lpstr>Constraints via Matrix Operations</vt:lpstr>
      <vt:lpstr>Linear Expressions in Pyomo</vt:lpstr>
      <vt:lpstr>Linear Constraints in Pyomo</vt:lpstr>
      <vt:lpstr>Diet Problem (Tutorial Question 5a)</vt:lpstr>
      <vt:lpstr>Diet Problem (Tutorial Question 5a)</vt:lpstr>
      <vt:lpstr>5a Solution in Pyomo</vt:lpstr>
      <vt:lpstr>Chocolate Box Tutorial Question</vt:lpstr>
      <vt:lpstr>Chocolate Box Tutorial Results</vt:lpstr>
      <vt:lpstr>Interpretation</vt:lpstr>
      <vt:lpstr>Opinion and Preference</vt:lpstr>
      <vt:lpstr>Sometimes there is more to the story</vt:lpstr>
      <vt:lpstr>Extending the Model</vt:lpstr>
      <vt:lpstr>Chocolate Box Tutorial Results</vt:lpstr>
      <vt:lpstr>Extending the Model</vt:lpstr>
      <vt:lpstr>Ratio Objective</vt:lpstr>
      <vt:lpstr>Result</vt:lpstr>
      <vt:lpstr>Weighted Objective</vt:lpstr>
      <vt:lpstr>Normalised Data</vt:lpstr>
      <vt:lpstr>Result - Equal Preference α=0.5</vt:lpstr>
      <vt:lpstr>Results for all capped models</vt:lpstr>
      <vt:lpstr>Solve the Linear Program First</vt:lpstr>
      <vt:lpstr>Modelling a Linear Program</vt:lpstr>
      <vt:lpstr>Additional Tips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Mathematical Programming: Modelling and Some Issues</dc:title>
  <dc:creator>Sam O'Neill</dc:creator>
  <cp:lastModifiedBy>Sam O'Neill</cp:lastModifiedBy>
  <cp:revision>2</cp:revision>
  <dcterms:created xsi:type="dcterms:W3CDTF">2019-10-08T20:55:29Z</dcterms:created>
  <dcterms:modified xsi:type="dcterms:W3CDTF">2024-10-18T12:07:06Z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  <property fmtid="{D5CDD505-2E9C-101B-9397-08002B2CF9AE}" pid="3" name="MSIP_Label_b47d098f-2640-4837-b575-e0be04df0525_Enabled">
    <vt:lpwstr>True</vt:lpwstr>
  </property>
  <property fmtid="{D5CDD505-2E9C-101B-9397-08002B2CF9AE}" pid="4" name="MSIP_Label_b47d098f-2640-4837-b575-e0be04df0525_SiteId">
    <vt:lpwstr>98f1bb3a-5efa-4782-88ba-bd897db60e62</vt:lpwstr>
  </property>
  <property fmtid="{D5CDD505-2E9C-101B-9397-08002B2CF9AE}" pid="5" name="MSIP_Label_b47d098f-2640-4837-b575-e0be04df0525_Owner">
    <vt:lpwstr>TCSR529@derby.ac.uk</vt:lpwstr>
  </property>
  <property fmtid="{D5CDD505-2E9C-101B-9397-08002B2CF9AE}" pid="6" name="MSIP_Label_b47d098f-2640-4837-b575-e0be04df0525_SetDate">
    <vt:lpwstr>2019-10-09T12:50:04.3095525Z</vt:lpwstr>
  </property>
  <property fmtid="{D5CDD505-2E9C-101B-9397-08002B2CF9AE}" pid="7" name="MSIP_Label_b47d098f-2640-4837-b575-e0be04df0525_Name">
    <vt:lpwstr>Internal</vt:lpwstr>
  </property>
  <property fmtid="{D5CDD505-2E9C-101B-9397-08002B2CF9AE}" pid="8" name="MSIP_Label_b47d098f-2640-4837-b575-e0be04df0525_Application">
    <vt:lpwstr>Microsoft Azure Information Protection</vt:lpwstr>
  </property>
  <property fmtid="{D5CDD505-2E9C-101B-9397-08002B2CF9AE}" pid="9" name="MSIP_Label_b47d098f-2640-4837-b575-e0be04df0525_Extended_MSFT_Method">
    <vt:lpwstr>Automatic</vt:lpwstr>
  </property>
  <property fmtid="{D5CDD505-2E9C-101B-9397-08002B2CF9AE}" pid="10" name="MSIP_Label_501a0944-9d81-4c75-b857-2ec7863455b7_Enabled">
    <vt:lpwstr>True</vt:lpwstr>
  </property>
  <property fmtid="{D5CDD505-2E9C-101B-9397-08002B2CF9AE}" pid="11" name="MSIP_Label_501a0944-9d81-4c75-b857-2ec7863455b7_SiteId">
    <vt:lpwstr>98f1bb3a-5efa-4782-88ba-bd897db60e62</vt:lpwstr>
  </property>
  <property fmtid="{D5CDD505-2E9C-101B-9397-08002B2CF9AE}" pid="12" name="MSIP_Label_501a0944-9d81-4c75-b857-2ec7863455b7_Owner">
    <vt:lpwstr>TCSR529@derby.ac.uk</vt:lpwstr>
  </property>
  <property fmtid="{D5CDD505-2E9C-101B-9397-08002B2CF9AE}" pid="13" name="MSIP_Label_501a0944-9d81-4c75-b857-2ec7863455b7_SetDate">
    <vt:lpwstr>2019-10-09T12:50:04.3095525Z</vt:lpwstr>
  </property>
  <property fmtid="{D5CDD505-2E9C-101B-9397-08002B2CF9AE}" pid="14" name="MSIP_Label_501a0944-9d81-4c75-b857-2ec7863455b7_Name">
    <vt:lpwstr>Internal with visible marking</vt:lpwstr>
  </property>
  <property fmtid="{D5CDD505-2E9C-101B-9397-08002B2CF9AE}" pid="15" name="MSIP_Label_501a0944-9d81-4c75-b857-2ec7863455b7_Application">
    <vt:lpwstr>Microsoft Azure Information Protection</vt:lpwstr>
  </property>
  <property fmtid="{D5CDD505-2E9C-101B-9397-08002B2CF9AE}" pid="16" name="MSIP_Label_501a0944-9d81-4c75-b857-2ec7863455b7_Parent">
    <vt:lpwstr>b47d098f-2640-4837-b575-e0be04df0525</vt:lpwstr>
  </property>
  <property fmtid="{D5CDD505-2E9C-101B-9397-08002B2CF9AE}" pid="17" name="MSIP_Label_501a0944-9d81-4c75-b857-2ec7863455b7_Extended_MSFT_Method">
    <vt:lpwstr>Automatic</vt:lpwstr>
  </property>
  <property fmtid="{D5CDD505-2E9C-101B-9397-08002B2CF9AE}" pid="18" name="Sensitivity">
    <vt:lpwstr>Internal Internal with visible marking</vt:lpwstr>
  </property>
</Properties>
</file>