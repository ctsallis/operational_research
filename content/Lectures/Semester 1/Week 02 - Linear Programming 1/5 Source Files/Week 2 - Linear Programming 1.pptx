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58" r:id="rId7"/>
    <p:sldId id="260" r:id="rId8"/>
    <p:sldId id="262" r:id="rId9"/>
    <p:sldId id="263" r:id="rId10"/>
    <p:sldId id="265" r:id="rId11"/>
    <p:sldId id="266" r:id="rId12"/>
    <p:sldId id="264" r:id="rId13"/>
    <p:sldId id="267" r:id="rId14"/>
    <p:sldId id="268" r:id="rId15"/>
    <p:sldId id="269" r:id="rId16"/>
    <p:sldId id="274" r:id="rId17"/>
    <p:sldId id="273" r:id="rId18"/>
    <p:sldId id="275" r:id="rId19"/>
    <p:sldId id="271" r:id="rId20"/>
    <p:sldId id="270" r:id="rId21"/>
    <p:sldId id="276" r:id="rId22"/>
    <p:sldId id="272" r:id="rId23"/>
    <p:sldId id="278" r:id="rId24"/>
    <p:sldId id="279" r:id="rId25"/>
    <p:sldId id="280" r:id="rId26"/>
    <p:sldId id="282" r:id="rId27"/>
    <p:sldId id="283" r:id="rId28"/>
    <p:sldId id="281" r:id="rId29"/>
    <p:sldId id="284" r:id="rId30"/>
    <p:sldId id="285" r:id="rId31"/>
  </p:sldIdLst>
  <p:sldSz cx="12192000" cy="6858000"/>
  <p:notesSz cx="6858000" cy="9144000"/>
  <p:embeddedFontLst>
    <p:embeddedFont>
      <p:font typeface="Cambria Math" panose="02040503050406030204" pitchFamily="18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DEC410-C6B0-4C99-8A50-0FAAAFFEC6E4}" v="37" dt="2025-10-01T13:55:35.5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1.fntdata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FC573C1E-5364-4385-B41B-4E798FCD684A}"/>
    <pc:docChg chg="custSel modSld">
      <pc:chgData name="Sam O'Neill" userId="cb323814-a42a-4cfe-bc74-03f595e56f6e" providerId="ADAL" clId="{FC573C1E-5364-4385-B41B-4E798FCD684A}" dt="2023-10-02T09:01:02.828" v="6" actId="14100"/>
      <pc:docMkLst>
        <pc:docMk/>
      </pc:docMkLst>
      <pc:sldChg chg="addSp delSp modSp mod">
        <pc:chgData name="Sam O'Neill" userId="cb323814-a42a-4cfe-bc74-03f595e56f6e" providerId="ADAL" clId="{FC573C1E-5364-4385-B41B-4E798FCD684A}" dt="2023-10-02T09:01:02.828" v="6" actId="14100"/>
        <pc:sldMkLst>
          <pc:docMk/>
          <pc:sldMk cId="2837434748" sldId="281"/>
        </pc:sldMkLst>
      </pc:sldChg>
    </pc:docChg>
  </pc:docChgLst>
  <pc:docChgLst>
    <pc:chgData name="Sam O'Neill" userId="cb323814-a42a-4cfe-bc74-03f595e56f6e" providerId="ADAL" clId="{FE101BF0-67F3-4B44-8042-2748916B529A}"/>
    <pc:docChg chg="custSel modSld">
      <pc:chgData name="Sam O'Neill" userId="cb323814-a42a-4cfe-bc74-03f595e56f6e" providerId="ADAL" clId="{FE101BF0-67F3-4B44-8042-2748916B529A}" dt="2023-10-02T10:53:03.337" v="4" actId="1076"/>
      <pc:docMkLst>
        <pc:docMk/>
      </pc:docMkLst>
      <pc:sldChg chg="addSp delSp modSp mod">
        <pc:chgData name="Sam O'Neill" userId="cb323814-a42a-4cfe-bc74-03f595e56f6e" providerId="ADAL" clId="{FE101BF0-67F3-4B44-8042-2748916B529A}" dt="2023-10-02T10:53:03.337" v="4" actId="1076"/>
        <pc:sldMkLst>
          <pc:docMk/>
          <pc:sldMk cId="2837434748" sldId="281"/>
        </pc:sldMkLst>
      </pc:sldChg>
    </pc:docChg>
  </pc:docChgLst>
  <pc:docChgLst>
    <pc:chgData name="Sam O'Neill" userId="cb323814-a42a-4cfe-bc74-03f595e56f6e" providerId="ADAL" clId="{E5DEC410-C6B0-4C99-8A50-0FAAAFFEC6E4}"/>
    <pc:docChg chg="undo custSel modSld modMainMaster">
      <pc:chgData name="Sam O'Neill" userId="cb323814-a42a-4cfe-bc74-03f595e56f6e" providerId="ADAL" clId="{E5DEC410-C6B0-4C99-8A50-0FAAAFFEC6E4}" dt="2025-10-01T13:55:58.070" v="235" actId="5793"/>
      <pc:docMkLst>
        <pc:docMk/>
      </pc:docMkLst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110775907" sldId="256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10775907" sldId="256"/>
            <ac:spMk id="2" creationId="{0A85F331-FA4C-4E92-A9DC-B75BC327C4AF}"/>
          </ac:spMkLst>
        </pc:spChg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10775907" sldId="256"/>
            <ac:spMk id="3" creationId="{18D97D86-8A1E-4C21-88F2-2ADD855AA1D7}"/>
          </ac:spMkLst>
        </pc:spChg>
      </pc:sldChg>
      <pc:sldChg chg="modSp">
        <pc:chgData name="Sam O'Neill" userId="cb323814-a42a-4cfe-bc74-03f595e56f6e" providerId="ADAL" clId="{E5DEC410-C6B0-4C99-8A50-0FAAAFFEC6E4}" dt="2025-10-01T13:49:28.371" v="38"/>
        <pc:sldMkLst>
          <pc:docMk/>
          <pc:sldMk cId="2464477114" sldId="257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2464477114" sldId="257"/>
            <ac:spMk id="2" creationId="{3C670DCA-349F-4E07-9481-BFF8779160C8}"/>
          </ac:spMkLst>
        </pc:spChg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2464477114" sldId="257"/>
            <ac:spMk id="3" creationId="{2ED27342-B019-4230-BC68-60F4E0ADF16D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737113903" sldId="258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737113903" sldId="258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3710664848" sldId="260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3710664848" sldId="260"/>
            <ac:spMk id="3" creationId="{5198A88B-52B3-469E-A512-B72752EB7862}"/>
          </ac:spMkLst>
        </pc:spChg>
      </pc:sldChg>
      <pc:sldChg chg="addSp delSp modSp mod">
        <pc:chgData name="Sam O'Neill" userId="cb323814-a42a-4cfe-bc74-03f595e56f6e" providerId="ADAL" clId="{E5DEC410-C6B0-4C99-8A50-0FAAAFFEC6E4}" dt="2025-10-01T13:55:58.070" v="235" actId="5793"/>
        <pc:sldMkLst>
          <pc:docMk/>
          <pc:sldMk cId="1402902768" sldId="262"/>
        </pc:sldMkLst>
        <pc:spChg chg="add mod">
          <ac:chgData name="Sam O'Neill" userId="cb323814-a42a-4cfe-bc74-03f595e56f6e" providerId="ADAL" clId="{E5DEC410-C6B0-4C99-8A50-0FAAAFFEC6E4}" dt="2025-10-01T13:53:38.907" v="45" actId="1076"/>
          <ac:spMkLst>
            <pc:docMk/>
            <pc:sldMk cId="1402902768" sldId="262"/>
            <ac:spMk id="4" creationId="{5778C8C0-FC92-C1C1-0E55-A45D8C17C8BF}"/>
          </ac:spMkLst>
        </pc:spChg>
        <pc:spChg chg="add del mod">
          <ac:chgData name="Sam O'Neill" userId="cb323814-a42a-4cfe-bc74-03f595e56f6e" providerId="ADAL" clId="{E5DEC410-C6B0-4C99-8A50-0FAAAFFEC6E4}" dt="2025-10-01T13:53:48.272" v="51"/>
          <ac:spMkLst>
            <pc:docMk/>
            <pc:sldMk cId="1402902768" sldId="262"/>
            <ac:spMk id="6" creationId="{C20B2F98-5EE0-D997-A5FC-42D42359D804}"/>
          </ac:spMkLst>
        </pc:spChg>
        <pc:spChg chg="mod">
          <ac:chgData name="Sam O'Neill" userId="cb323814-a42a-4cfe-bc74-03f595e56f6e" providerId="ADAL" clId="{E5DEC410-C6B0-4C99-8A50-0FAAAFFEC6E4}" dt="2025-10-01T13:55:44.802" v="224" actId="1036"/>
          <ac:spMkLst>
            <pc:docMk/>
            <pc:sldMk cId="1402902768" sldId="262"/>
            <ac:spMk id="7" creationId="{E68F968E-8943-4A8B-9A31-C309B6C11DE0}"/>
          </ac:spMkLst>
        </pc:spChg>
        <pc:spChg chg="add mod">
          <ac:chgData name="Sam O'Neill" userId="cb323814-a42a-4cfe-bc74-03f595e56f6e" providerId="ADAL" clId="{E5DEC410-C6B0-4C99-8A50-0FAAAFFEC6E4}" dt="2025-10-01T13:53:58.668" v="54" actId="1076"/>
          <ac:spMkLst>
            <pc:docMk/>
            <pc:sldMk cId="1402902768" sldId="262"/>
            <ac:spMk id="8" creationId="{828C7031-9023-47AE-BAAD-C65337F626EC}"/>
          </ac:spMkLst>
        </pc:spChg>
        <pc:spChg chg="add mod">
          <ac:chgData name="Sam O'Neill" userId="cb323814-a42a-4cfe-bc74-03f595e56f6e" providerId="ADAL" clId="{E5DEC410-C6B0-4C99-8A50-0FAAAFFEC6E4}" dt="2025-10-01T13:55:58.070" v="235" actId="5793"/>
          <ac:spMkLst>
            <pc:docMk/>
            <pc:sldMk cId="1402902768" sldId="262"/>
            <ac:spMk id="10" creationId="{F4C98BA3-91FF-92FA-10DA-2094F4D5D25E}"/>
          </ac:spMkLst>
        </pc:spChg>
        <pc:spChg chg="add mod">
          <ac:chgData name="Sam O'Neill" userId="cb323814-a42a-4cfe-bc74-03f595e56f6e" providerId="ADAL" clId="{E5DEC410-C6B0-4C99-8A50-0FAAAFFEC6E4}" dt="2025-10-01T13:54:28.431" v="84" actId="20577"/>
          <ac:spMkLst>
            <pc:docMk/>
            <pc:sldMk cId="1402902768" sldId="262"/>
            <ac:spMk id="11" creationId="{56B00914-CF84-A57F-271D-A7CECD9B9546}"/>
          </ac:spMkLst>
        </pc:spChg>
      </pc:sldChg>
      <pc:sldChg chg="modSp">
        <pc:chgData name="Sam O'Neill" userId="cb323814-a42a-4cfe-bc74-03f595e56f6e" providerId="ADAL" clId="{E5DEC410-C6B0-4C99-8A50-0FAAAFFEC6E4}" dt="2025-10-01T13:51:22.449" v="42" actId="207"/>
        <pc:sldMkLst>
          <pc:docMk/>
          <pc:sldMk cId="3317125378" sldId="266"/>
        </pc:sldMkLst>
        <pc:spChg chg="mod">
          <ac:chgData name="Sam O'Neill" userId="cb323814-a42a-4cfe-bc74-03f595e56f6e" providerId="ADAL" clId="{E5DEC410-C6B0-4C99-8A50-0FAAAFFEC6E4}" dt="2025-10-01T13:51:22.449" v="42" actId="207"/>
          <ac:spMkLst>
            <pc:docMk/>
            <pc:sldMk cId="3317125378" sldId="266"/>
            <ac:spMk id="4" creationId="{76A814A8-E888-4D6C-B643-B3F94FB369E0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3403934085" sldId="269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3403934085" sldId="269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2910249278" sldId="270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2910249278" sldId="270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544812879" sldId="271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544812879" sldId="271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1843170296" sldId="276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843170296" sldId="276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163967576" sldId="278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63967576" sldId="278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4287816193" sldId="279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4287816193" sldId="279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949664406" sldId="283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949664406" sldId="283"/>
            <ac:spMk id="2" creationId="{A3C45432-CA52-4838-B7E4-94F673E2655E}"/>
          </ac:spMkLst>
        </pc:spChg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949664406" sldId="283"/>
            <ac:spMk id="3" creationId="{C53964C1-0811-4E9A-89E8-A8B1428456F1}"/>
          </ac:spMkLst>
        </pc:spChg>
      </pc:sldChg>
      <pc:sldMasterChg chg="addSp">
        <pc:chgData name="Sam O'Neill" userId="cb323814-a42a-4cfe-bc74-03f595e56f6e" providerId="ADAL" clId="{E5DEC410-C6B0-4C99-8A50-0FAAAFFEC6E4}" dt="2025-10-01T13:49:12.626" v="16"/>
        <pc:sldMasterMkLst>
          <pc:docMk/>
          <pc:sldMasterMk cId="65816811" sldId="2147483660"/>
        </pc:sldMasterMkLst>
        <pc:spChg chg="add">
          <ac:chgData name="Sam O'Neill" userId="cb323814-a42a-4cfe-bc74-03f595e56f6e" providerId="ADAL" clId="{E5DEC410-C6B0-4C99-8A50-0FAAAFFEC6E4}" dt="2025-10-01T13:49:12.626" v="16"/>
          <ac:spMkLst>
            <pc:docMk/>
            <pc:sldMasterMk cId="65816811" sldId="2147483660"/>
            <ac:spMk id="9" creationId="{4B593F88-85BA-FE49-C372-D87D9A8A1096}"/>
          </ac:spMkLst>
        </pc:spChg>
      </pc:sldMasterChg>
      <pc:sldMasterChg chg="addSp">
        <pc:chgData name="Sam O'Neill" userId="cb323814-a42a-4cfe-bc74-03f595e56f6e" providerId="ADAL" clId="{E5DEC410-C6B0-4C99-8A50-0FAAAFFEC6E4}" dt="2025-10-01T13:49:23.337" v="27"/>
        <pc:sldMasterMkLst>
          <pc:docMk/>
          <pc:sldMasterMk cId="2743650069" sldId="2147483660"/>
        </pc:sldMasterMkLst>
        <pc:spChg chg="add">
          <ac:chgData name="Sam O'Neill" userId="cb323814-a42a-4cfe-bc74-03f595e56f6e" providerId="ADAL" clId="{E5DEC410-C6B0-4C99-8A50-0FAAAFFEC6E4}" dt="2025-10-01T13:49:23.337" v="27"/>
          <ac:spMkLst>
            <pc:docMk/>
            <pc:sldMasterMk cId="2743650069" sldId="2147483660"/>
            <ac:spMk id="8" creationId="{8744919B-ECDA-5F2E-8C0C-DEA05B63355C}"/>
          </ac:spMkLst>
        </pc:sp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www.desmos.com/calculator/qlrpn3qn0i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0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1.png"/><Relationship Id="rId4" Type="http://schemas.openxmlformats.org/officeDocument/2006/relationships/image" Target="../media/image16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0.png"/><Relationship Id="rId4" Type="http://schemas.openxmlformats.org/officeDocument/2006/relationships/image" Target="../media/image16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1.png"/><Relationship Id="rId4" Type="http://schemas.openxmlformats.org/officeDocument/2006/relationships/image" Target="../media/image16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5" Type="http://schemas.openxmlformats.org/officeDocument/2006/relationships/image" Target="../media/image260.png"/><Relationship Id="rId4" Type="http://schemas.openxmlformats.org/officeDocument/2006/relationships/image" Target="../media/image25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optimize.linprog.html" TargetMode="External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Programming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Dr Sam O’Neill</a:t>
            </a:r>
          </a:p>
        </p:txBody>
      </p:sp>
    </p:spTree>
    <p:extLst>
      <p:ext uri="{BB962C8B-B14F-4D97-AF65-F5344CB8AC3E}">
        <p14:creationId xmlns:p14="http://schemas.microsoft.com/office/powerpoint/2010/main" val="110775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Introductory Example </a:t>
            </a:r>
          </a:p>
          <a:p>
            <a:r>
              <a:rPr lang="en-GB" dirty="0"/>
              <a:t>Linear Programming Definition</a:t>
            </a:r>
          </a:p>
          <a:p>
            <a:r>
              <a:rPr lang="en-GB" dirty="0"/>
              <a:t>Optimality on vertex</a:t>
            </a:r>
          </a:p>
          <a:p>
            <a:r>
              <a:rPr lang="en-GB" dirty="0"/>
              <a:t>Python Solution using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linprog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/>
              <a:t>Simplex Method – Graphical Illustration (Depending on time)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4477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Introductory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 firm manufactures two products (only) at their </a:t>
            </a:r>
            <a:r>
              <a:rPr lang="en-GB" dirty="0" err="1"/>
              <a:t>Beeham</a:t>
            </a:r>
            <a:r>
              <a:rPr lang="en-GB" dirty="0"/>
              <a:t> factory. Both products require the use of the GG74 machine.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Product X requires 3 hours per unit at this machine</a:t>
            </a:r>
          </a:p>
          <a:p>
            <a:pPr marL="0" indent="0">
              <a:buNone/>
            </a:pPr>
            <a:r>
              <a:rPr lang="en-GB" dirty="0"/>
              <a:t>Product Y requires 2 hours per unit at this machine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In any week there are 144 hours of time available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Each unit of Product X gives a Contribution to Profit of £5, and</a:t>
            </a:r>
          </a:p>
          <a:p>
            <a:pPr marL="0" indent="0">
              <a:buNone/>
            </a:pPr>
            <a:r>
              <a:rPr lang="en-GB" dirty="0"/>
              <a:t>Each unit of Product Y gives a Contribution to Profit of £7.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7113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u="sng" dirty="0"/>
                  <a:t>Constraints</a:t>
                </a:r>
              </a:p>
              <a:p>
                <a:pPr marL="0" indent="0">
                  <a:buNone/>
                </a:pPr>
                <a:endParaRPr lang="en-GB" u="sng" dirty="0"/>
              </a:p>
              <a:p>
                <a:pPr marL="0" indent="0">
                  <a:buNone/>
                </a:pPr>
                <a:r>
                  <a:rPr lang="en-GB" sz="2000" u="sng" dirty="0"/>
                  <a:t>Production Constraint</a:t>
                </a:r>
              </a:p>
              <a:p>
                <a:r>
                  <a:rPr lang="en-GB" sz="2000" dirty="0"/>
                  <a:t>Product X requires 3 hours per unit at this machine</a:t>
                </a:r>
              </a:p>
              <a:p>
                <a:r>
                  <a:rPr lang="en-GB" sz="2000" dirty="0"/>
                  <a:t>Product Y requires 2 hours per unit at this machine</a:t>
                </a:r>
              </a:p>
              <a:p>
                <a:r>
                  <a:rPr lang="en-GB" sz="2000" dirty="0"/>
                  <a:t>In any week there are 144 hours of time available</a:t>
                </a:r>
              </a:p>
              <a:p>
                <a:pPr marL="0" indent="0">
                  <a:buNone/>
                </a:pPr>
                <a:endParaRPr lang="en-GB" sz="2000" u="sng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2000" u="sng" dirty="0"/>
              </a:p>
              <a:p>
                <a:pPr marL="0" indent="0">
                  <a:buNone/>
                </a:pPr>
                <a:r>
                  <a:rPr lang="en-GB" sz="2000" u="sng" dirty="0"/>
                  <a:t>Non-negativity</a:t>
                </a:r>
              </a:p>
              <a:p>
                <a:r>
                  <a:rPr lang="en-GB" sz="2000" dirty="0"/>
                  <a:t>It is not possible to manufacture a negative amount!</a:t>
                </a:r>
              </a:p>
              <a:p>
                <a:endParaRPr lang="en-GB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GB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043" t="-32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0664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u="sng" dirty="0"/>
              <a:t>Feasible Region</a:t>
            </a:r>
          </a:p>
          <a:p>
            <a:pPr marL="0" indent="0">
              <a:buNone/>
            </a:pPr>
            <a:endParaRPr lang="en-GB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3061F3-EE25-41A1-B07F-232271977D47}"/>
              </a:ext>
            </a:extLst>
          </p:cNvPr>
          <p:cNvSpPr txBox="1"/>
          <p:nvPr/>
        </p:nvSpPr>
        <p:spPr>
          <a:xfrm>
            <a:off x="6246091" y="1678868"/>
            <a:ext cx="51077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Any point within the feasible region is a solution to the system of inequalities.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68F968E-8943-4A8B-9A31-C309B6C11DE0}"/>
                  </a:ext>
                </a:extLst>
              </p:cNvPr>
              <p:cNvSpPr/>
              <p:nvPr/>
            </p:nvSpPr>
            <p:spPr>
              <a:xfrm>
                <a:off x="6978977" y="2856420"/>
                <a:ext cx="4182359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4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r>
                  <a:rPr lang="en-GB" sz="240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   </a:t>
                </a:r>
                <a:r>
                  <a:rPr lang="en-GB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(Constraints)</a:t>
                </a:r>
                <a:endParaRPr lang="en-GB" sz="240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GB" sz="24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4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4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68F968E-8943-4A8B-9A31-C309B6C11D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8977" y="2856420"/>
                <a:ext cx="4182359" cy="1200329"/>
              </a:xfrm>
              <a:prstGeom prst="rect">
                <a:avLst/>
              </a:prstGeom>
              <a:blipFill>
                <a:blip r:embed="rId2"/>
                <a:stretch>
                  <a:fillRect l="-437" t="-4082" r="-2187" b="-35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495539B8-8874-4FB3-9400-51BF0E34D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94367"/>
            <a:ext cx="4182359" cy="40825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78C8C0-FC92-C1C1-0E55-A45D8C17C8BF}"/>
              </a:ext>
            </a:extLst>
          </p:cNvPr>
          <p:cNvSpPr txBox="1"/>
          <p:nvPr/>
        </p:nvSpPr>
        <p:spPr>
          <a:xfrm>
            <a:off x="1274324" y="232519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8C7031-9023-47AE-BAAD-C65337F626EC}"/>
              </a:ext>
            </a:extLst>
          </p:cNvPr>
          <p:cNvSpPr txBox="1"/>
          <p:nvPr/>
        </p:nvSpPr>
        <p:spPr>
          <a:xfrm>
            <a:off x="3336587" y="54078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C98BA3-91FF-92FA-10DA-2094F4D5D25E}"/>
                  </a:ext>
                </a:extLst>
              </p:cNvPr>
              <p:cNvSpPr txBox="1"/>
              <p:nvPr/>
            </p:nvSpPr>
            <p:spPr>
              <a:xfrm>
                <a:off x="6246091" y="4450401"/>
                <a:ext cx="5107709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We can find the 3 points of intersection, O, A and B by solving the 3 pairs of simultaneous equations. E.g. for B…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400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C98BA3-91FF-92FA-10DA-2094F4D5D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91" y="4450401"/>
                <a:ext cx="5107709" cy="2308324"/>
              </a:xfrm>
              <a:prstGeom prst="rect">
                <a:avLst/>
              </a:prstGeom>
              <a:blipFill>
                <a:blip r:embed="rId4"/>
                <a:stretch>
                  <a:fillRect l="-1909" t="-2111" r="-26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6B00914-CF84-A57F-271D-A7CECD9B9546}"/>
              </a:ext>
            </a:extLst>
          </p:cNvPr>
          <p:cNvSpPr txBox="1"/>
          <p:nvPr/>
        </p:nvSpPr>
        <p:spPr>
          <a:xfrm>
            <a:off x="1266308" y="5717850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</a:t>
            </a:r>
          </a:p>
        </p:txBody>
      </p:sp>
    </p:spTree>
    <p:extLst>
      <p:ext uri="{BB962C8B-B14F-4D97-AF65-F5344CB8AC3E}">
        <p14:creationId xmlns:p14="http://schemas.microsoft.com/office/powerpoint/2010/main" val="1402902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u="sng" dirty="0"/>
                  <a:t>Add an Objective</a:t>
                </a:r>
              </a:p>
              <a:p>
                <a:pPr marL="0" indent="0">
                  <a:buNone/>
                </a:pPr>
                <a:endParaRPr lang="en-GB" u="sng" dirty="0"/>
              </a:p>
              <a:p>
                <a:pPr marL="0" indent="0">
                  <a:buNone/>
                </a:pPr>
                <a:r>
                  <a:rPr lang="en-GB" dirty="0"/>
                  <a:t>Maximise the profit</a:t>
                </a:r>
              </a:p>
              <a:p>
                <a:pPr marL="0" indent="0">
                  <a:buNone/>
                </a:pPr>
                <a:endParaRPr lang="en-GB" u="sng" dirty="0"/>
              </a:p>
              <a:p>
                <a:pPr marL="0" indent="0">
                  <a:buNone/>
                </a:pPr>
                <a:r>
                  <a:rPr lang="en-GB" dirty="0"/>
                  <a:t>Each unit of Product X gives a Contribution to Profit of £5, and</a:t>
                </a:r>
              </a:p>
              <a:p>
                <a:pPr marL="0" indent="0">
                  <a:buNone/>
                </a:pPr>
                <a:r>
                  <a:rPr lang="en-GB" dirty="0"/>
                  <a:t>Each unit of Product Y gives a Contribution to Profit of £7.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b="0" i="1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4211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/>
              <p:nvPr/>
            </p:nvSpPr>
            <p:spPr>
              <a:xfrm>
                <a:off x="7001164" y="1699491"/>
                <a:ext cx="4655127" cy="36933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Graphically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a straight line.</a:t>
                </a:r>
              </a:p>
              <a:p>
                <a:endParaRPr lang="en-GB" dirty="0"/>
              </a:p>
              <a:p>
                <a:r>
                  <a:rPr lang="en-GB" dirty="0"/>
                  <a:t>e.g. a Profit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200</m:t>
                    </m:r>
                  </m:oMath>
                </a14:m>
                <a:r>
                  <a:rPr lang="en-GB" dirty="0"/>
                  <a:t> is represented by </a:t>
                </a:r>
              </a:p>
              <a:p>
                <a:endParaRPr lang="en-GB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=200</m:t>
                      </m:r>
                    </m:oMath>
                  </m:oMathPara>
                </a14:m>
                <a:endParaRPr lang="en-GB" dirty="0">
                  <a:solidFill>
                    <a:srgbClr val="FF0000"/>
                  </a:solidFill>
                </a:endParaRPr>
              </a:p>
              <a:p>
                <a:endParaRPr lang="en-GB" dirty="0"/>
              </a:p>
              <a:p>
                <a:r>
                  <a:rPr lang="en-GB" dirty="0"/>
                  <a:t>Choose a point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in the feasible region so as to maximise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This is akin to moving the </a:t>
                </a:r>
                <a:r>
                  <a:rPr lang="en-GB" dirty="0">
                    <a:solidFill>
                      <a:srgbClr val="FF0000"/>
                    </a:solidFill>
                  </a:rPr>
                  <a:t>red</a:t>
                </a:r>
                <a:r>
                  <a:rPr lang="en-GB" dirty="0"/>
                  <a:t> profit line away from the origin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GB" dirty="0"/>
                  <a:t> as far as possible.</a:t>
                </a:r>
              </a:p>
              <a:p>
                <a:endParaRPr lang="en-GB" dirty="0"/>
              </a:p>
              <a:p>
                <a:r>
                  <a:rPr lang="en-GB" dirty="0">
                    <a:hlinkClick r:id="rId2"/>
                  </a:rPr>
                  <a:t>Interactive demo</a:t>
                </a:r>
                <a:endParaRPr lang="en-GB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1164" y="1699491"/>
                <a:ext cx="4655127" cy="3693319"/>
              </a:xfrm>
              <a:prstGeom prst="rect">
                <a:avLst/>
              </a:prstGeom>
              <a:blipFill>
                <a:blip r:embed="rId3"/>
                <a:stretch>
                  <a:fillRect l="-1047" t="-990" b="-16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C6B4C6C-BC48-4F47-A337-3896608CE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87" y="1241977"/>
            <a:ext cx="5133975" cy="52006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E6DF81-581B-4134-847E-3564BF0FB3A3}"/>
                  </a:ext>
                </a:extLst>
              </p:cNvPr>
              <p:cNvSpPr/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E6DF81-581B-4134-847E-3564BF0FB3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C89716E-8B72-4BCA-B7C7-C49FB975C097}"/>
                  </a:ext>
                </a:extLst>
              </p:cNvPr>
              <p:cNvSpPr/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i="1" u="sng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C89716E-8B72-4BCA-B7C7-C49FB975C0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570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/>
              <p:nvPr/>
            </p:nvSpPr>
            <p:spPr>
              <a:xfrm>
                <a:off x="6140182" y="1192731"/>
                <a:ext cx="5451322" cy="59422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At A:	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=48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,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=240</m:t>
                    </m:r>
                  </m:oMath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dirty="0"/>
                  <a:t>At B:	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=72</m:t>
                    </m:r>
                  </m:oMath>
                </a14:m>
                <a:r>
                  <a:rPr lang="en-GB" dirty="0"/>
                  <a:t>,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=504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At C:	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=42</m:t>
                    </m:r>
                  </m:oMath>
                </a14:m>
                <a:r>
                  <a:rPr lang="en-GB" dirty="0"/>
                  <a:t>,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=394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Because the functions are Linear the </a:t>
                </a:r>
                <a:r>
                  <a:rPr lang="en-GB" b="1" dirty="0"/>
                  <a:t>Profit</a:t>
                </a:r>
                <a:r>
                  <a:rPr lang="en-GB" dirty="0"/>
                  <a:t> rises along AB from A to B.</a:t>
                </a:r>
              </a:p>
              <a:p>
                <a:endParaRPr lang="en-GB" dirty="0"/>
              </a:p>
              <a:p>
                <a:r>
                  <a:rPr lang="en-GB" dirty="0"/>
                  <a:t>Algebraically: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144−3</m:t>
                          </m:r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dirty="0">
                  <a:solidFill>
                    <a:srgbClr val="7030A0"/>
                  </a:solidFill>
                </a:endParaRPr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144−3</m:t>
                              </m:r>
                              <m:r>
                                <a:rPr lang="en-GB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GB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=−5.5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+504</m:t>
                      </m:r>
                    </m:oMath>
                  </m:oMathPara>
                </a14:m>
                <a:endParaRPr lang="en-GB" i="1" u="sng" dirty="0"/>
              </a:p>
              <a:p>
                <a:endParaRPr lang="en-GB" i="1" u="sng" dirty="0"/>
              </a:p>
              <a:p>
                <a:r>
                  <a:rPr lang="en-GB" dirty="0"/>
                  <a:t>We are allowed values of </a:t>
                </a:r>
                <a14:m>
                  <m:oMath xmlns:m="http://schemas.openxmlformats.org/officeDocument/2006/math">
                    <m:r>
                      <a:rPr lang="en-GB" b="0" i="0" smtClean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≤48</m:t>
                    </m:r>
                  </m:oMath>
                </a14:m>
                <a:r>
                  <a:rPr lang="en-GB" dirty="0"/>
                  <a:t>, hence the maximum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GB" dirty="0"/>
                  <a:t> is at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. Point B!</a:t>
                </a:r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0182" y="1192731"/>
                <a:ext cx="5451322" cy="5942268"/>
              </a:xfrm>
              <a:prstGeom prst="rect">
                <a:avLst/>
              </a:prstGeom>
              <a:blipFill>
                <a:blip r:embed="rId2"/>
                <a:stretch>
                  <a:fillRect l="-895" t="-6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FB26386-6584-4A5F-B276-325534128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159" y="1270552"/>
            <a:ext cx="5210175" cy="5143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8B7901A-018B-4562-9756-7A3D30B14AC7}"/>
                  </a:ext>
                </a:extLst>
              </p:cNvPr>
              <p:cNvSpPr/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8B7901A-018B-4562-9756-7A3D30B14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D2DD9C1-EC50-4A92-8C77-1580FD638DBA}"/>
                  </a:ext>
                </a:extLst>
              </p:cNvPr>
              <p:cNvSpPr/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i="1" u="sng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D2DD9C1-EC50-4A92-8C77-1580FD638D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712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Our linear programming model can be written as follows</a:t>
                </a:r>
              </a:p>
              <a:p>
                <a:pPr marL="0" indent="0">
                  <a:buNone/>
                </a:pPr>
                <a:r>
                  <a:rPr lang="en-GB" dirty="0"/>
                  <a:t>		maximise 		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=5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b="0" dirty="0">
                    <a:solidFill>
                      <a:srgbClr val="FF0000"/>
                    </a:solidFill>
                  </a:rPr>
                  <a:t> </a:t>
                </a:r>
                <a:r>
                  <a:rPr lang="en-GB" b="0" dirty="0"/>
                  <a:t>         (Objective)</a:t>
                </a:r>
              </a:p>
              <a:p>
                <a:pPr marL="0" indent="0">
                  <a:buNone/>
                </a:pPr>
                <a:r>
                  <a:rPr lang="en-GB" b="0" dirty="0"/>
                  <a:t>		subject to:	</a:t>
                </a:r>
              </a:p>
              <a:p>
                <a:pPr marL="0" indent="0">
                  <a:buNone/>
                </a:pPr>
                <a:r>
                  <a:rPr lang="en-GB" b="0" dirty="0">
                    <a:solidFill>
                      <a:srgbClr val="7030A0"/>
                    </a:solidFill>
                  </a:rPr>
                  <a:t>					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   </a:t>
                </a:r>
                <a:r>
                  <a:rPr lang="en-GB" dirty="0">
                    <a:latin typeface="Calibri" panose="020F0502020204030204" pitchFamily="34" charset="0"/>
                    <a:cs typeface="Calibri" panose="020F0502020204030204" pitchFamily="34" charset="0"/>
                  </a:rPr>
                  <a:t>(Constraints)</a:t>
                </a:r>
                <a:b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F93827-FBA7-4A44-B014-BFA620999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99" y="3055192"/>
            <a:ext cx="3317744" cy="3360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425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r>
              <a:rPr lang="en-GB" b="0" dirty="0"/>
              <a:t>We had 1 constraint and 2 variables. </a:t>
            </a:r>
          </a:p>
          <a:p>
            <a:pPr lvl="1"/>
            <a:r>
              <a:rPr lang="en-GB" dirty="0"/>
              <a:t>The optimal solution had one variable set to 0…</a:t>
            </a:r>
          </a:p>
          <a:p>
            <a:pPr lvl="1"/>
            <a:endParaRPr lang="en-GB" dirty="0"/>
          </a:p>
          <a:p>
            <a:r>
              <a:rPr lang="en-GB" dirty="0"/>
              <a:t>The solution was at a vertex (corner of the feasible region)</a:t>
            </a:r>
          </a:p>
          <a:p>
            <a:endParaRPr lang="en-GB" dirty="0"/>
          </a:p>
          <a:p>
            <a:r>
              <a:rPr lang="en-GB" dirty="0"/>
              <a:t>Intuitively we are moving the objective function (linear equation) over the feasible region until we exit.</a:t>
            </a:r>
          </a:p>
          <a:p>
            <a:endParaRPr lang="en-GB" b="0" dirty="0"/>
          </a:p>
        </p:txBody>
      </p:sp>
      <p:pic>
        <p:nvPicPr>
          <p:cNvPr id="1026" name="Picture 2" descr="Image result for linear programming 3d plane feasible region">
            <a:extLst>
              <a:ext uri="{FF2B5EF4-FFF2-40B4-BE49-F238E27FC236}">
                <a16:creationId xmlns:a16="http://schemas.microsoft.com/office/drawing/2014/main" id="{94840CCC-94AA-4B6B-A539-96059BED5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7089612" y="4233811"/>
            <a:ext cx="2542500" cy="2474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452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Is it a suitable solution?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QUESTION:	Is this solution acceptable/workable for this Factory?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If not revisit the formulation. 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For example, should the number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produced be related to the number of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produced?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(Chairs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and Tables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) – Perhaps through experience the manager knows that tables will not sell on their own.</a:t>
                </a:r>
              </a:p>
              <a:p>
                <a:pPr marL="0" indent="0">
                  <a:buNone/>
                </a:pPr>
                <a:endParaRPr lang="en-GB" b="0" i="1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855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Is it a suitable solution?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Introduce the constraint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i.e. make at least 4 chairs for each table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Our profit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GB" dirty="0"/>
                  <a:t> will now be maximised at B.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41.14,10.29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=£277.71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Note: We now have 2 binding constraints and the 2 variables are both non-zero (i.e. used)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1444" t="-2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DEAF5B8-CE06-4EDB-804B-BEEF53EBF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2103" y="1071418"/>
            <a:ext cx="5191125" cy="521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C2799E9-B5AB-49F8-AD30-F9DC0AA4644F}"/>
                  </a:ext>
                </a:extLst>
              </p:cNvPr>
              <p:cNvSpPr/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C2799E9-B5AB-49F8-AD30-F9DC0AA464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6DAD27D-7569-4A12-AE4D-0402A701ED66}"/>
                  </a:ext>
                </a:extLst>
              </p:cNvPr>
              <p:cNvSpPr/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6DAD27D-7569-4A12-AE4D-0402A701ED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3934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Our linear programming model can be written as follows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 		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=5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subject to:	</a:t>
                </a: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			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</a:t>
                </a:r>
                <a:r>
                  <a:rPr lang="en-GB" b="0" dirty="0">
                    <a:solidFill>
                      <a:srgbClr val="7030A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(C1)</a:t>
                </a:r>
                <a:b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</a:br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				 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  </a:t>
                </a:r>
                <a:r>
                  <a:rPr lang="en-GB" b="0" dirty="0">
                    <a:solidFill>
                      <a:schemeClr val="accent2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(C2)</a:t>
                </a:r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				 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				 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2000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8FA7403-1380-4581-AF6F-CBE721F7F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527" y="2390107"/>
            <a:ext cx="3766125" cy="37868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66419CF-2662-4058-AE78-8CB171B5F0E5}"/>
                  </a:ext>
                </a:extLst>
              </p:cNvPr>
              <p:cNvSpPr/>
              <p:nvPr/>
            </p:nvSpPr>
            <p:spPr>
              <a:xfrm>
                <a:off x="8930246" y="38135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66419CF-2662-4058-AE78-8CB171B5F0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0246" y="38135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E72B60A-52F1-4C7F-B137-3EA8E8DB66AA}"/>
                  </a:ext>
                </a:extLst>
              </p:cNvPr>
              <p:cNvSpPr/>
              <p:nvPr/>
            </p:nvSpPr>
            <p:spPr>
              <a:xfrm>
                <a:off x="10744690" y="4618684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E72B60A-52F1-4C7F-B137-3EA8E8DB66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4690" y="4618684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4261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Binding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At </a:t>
                </a:r>
                <a:r>
                  <a:rPr lang="en-GB" b="1" dirty="0"/>
                  <a:t>A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=48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=144</m:t>
                      </m:r>
                    </m:oMath>
                  </m:oMathPara>
                </a14:m>
                <a:endParaRPr lang="en-GB" b="0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Thus constraint </a:t>
                </a:r>
                <a:r>
                  <a:rPr lang="en-GB" dirty="0">
                    <a:solidFill>
                      <a:srgbClr val="7030A0"/>
                    </a:solidFill>
                  </a:rPr>
                  <a:t>(C1)</a:t>
                </a:r>
                <a:r>
                  <a:rPr lang="en-GB" dirty="0">
                    <a:solidFill>
                      <a:schemeClr val="tx1"/>
                    </a:solidFill>
                  </a:rPr>
                  <a:t> is binding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48≥4⋅0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 constraint </a:t>
                </a:r>
                <a:r>
                  <a:rPr lang="en-GB" dirty="0">
                    <a:solidFill>
                      <a:schemeClr val="accent2"/>
                    </a:solidFill>
                  </a:rPr>
                  <a:t>(C2)</a:t>
                </a:r>
                <a:r>
                  <a:rPr lang="en-GB" dirty="0"/>
                  <a:t> is not binding</a:t>
                </a: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756" t="-2194" b="-30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90B2404-EF5F-4E7E-A589-C460D579E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2" y="1071418"/>
            <a:ext cx="5191125" cy="521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2C9539E-4A3A-4074-9746-834B24F57C46}"/>
                  </a:ext>
                </a:extLst>
              </p:cNvPr>
              <p:cNvSpPr/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2C9539E-4A3A-4074-9746-834B24F57C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33F84F1-36F8-43D9-A2D5-4C0EB86D552B}"/>
                  </a:ext>
                </a:extLst>
              </p:cNvPr>
              <p:cNvSpPr/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33F84F1-36F8-43D9-A2D5-4C0EB86D55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769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Binding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At </a:t>
                </a:r>
                <a:r>
                  <a:rPr lang="en-GB" b="1" dirty="0"/>
                  <a:t>B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=41.14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=10.29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=144</m:t>
                      </m:r>
                    </m:oMath>
                  </m:oMathPara>
                </a14:m>
                <a:endParaRPr lang="en-GB" b="0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Thus constraint </a:t>
                </a:r>
                <a:r>
                  <a:rPr lang="en-GB" dirty="0">
                    <a:solidFill>
                      <a:srgbClr val="7030A0"/>
                    </a:solidFill>
                  </a:rPr>
                  <a:t>(C1) </a:t>
                </a:r>
                <a:r>
                  <a:rPr lang="en-GB" dirty="0">
                    <a:solidFill>
                      <a:schemeClr val="tx1"/>
                    </a:solidFill>
                  </a:rPr>
                  <a:t>is binding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41.14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≈4⋅10.29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 constraint </a:t>
                </a:r>
                <a:r>
                  <a:rPr lang="en-GB" dirty="0">
                    <a:solidFill>
                      <a:schemeClr val="accent2"/>
                    </a:solidFill>
                  </a:rPr>
                  <a:t>(C2)</a:t>
                </a:r>
                <a:r>
                  <a:rPr lang="en-GB" dirty="0"/>
                  <a:t> is also binding</a:t>
                </a: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756" t="-2194" b="-30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D2A9FAD-CAE5-4070-9561-5A6A372DD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2" y="1071418"/>
            <a:ext cx="5191125" cy="521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4944DA1-F682-42F6-82A9-10D11983C0C5}"/>
                  </a:ext>
                </a:extLst>
              </p:cNvPr>
              <p:cNvSpPr/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4944DA1-F682-42F6-82A9-10D11983C0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3CF1C62-1E27-40B4-942D-C6A223564B6D}"/>
                  </a:ext>
                </a:extLst>
              </p:cNvPr>
              <p:cNvSpPr/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3CF1C62-1E27-40B4-942D-C6A223564B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6722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Infeasible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22400"/>
                <a:ext cx="5553364" cy="472685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What about if the manager demands making 60 of product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 </a:t>
                </a:r>
                <a:r>
                  <a:rPr lang="en-GB" dirty="0"/>
                  <a:t>a week?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≥60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can’t simultaneously satisfy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GB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i.e. 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⋅60=180&gt;144</m:t>
                    </m:r>
                  </m:oMath>
                </a14:m>
                <a:endParaRPr lang="en-GB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GB" dirty="0"/>
                  <a:t>This is known as an </a:t>
                </a:r>
                <a:r>
                  <a:rPr lang="en-GB" u="sng" dirty="0"/>
                  <a:t>infeasible</a:t>
                </a:r>
                <a:r>
                  <a:rPr lang="en-GB" dirty="0"/>
                  <a:t> problem, there is no feasible region!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GB" dirty="0"/>
                  <a:t>Constraints are inconsistent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22400"/>
                <a:ext cx="5553364" cy="4726854"/>
              </a:xfrm>
              <a:blipFill>
                <a:blip r:embed="rId2"/>
                <a:stretch>
                  <a:fillRect l="-989" t="-206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7AA871A-9FBB-42EC-9222-731EA985A5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73" y="1118553"/>
            <a:ext cx="5162550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812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Unbounded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What about if we remove both binding constraints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GB" dirty="0"/>
                  <a:t>Our profit line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now free to move to an unlimited profit (grey feasible region).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known as an </a:t>
                </a:r>
                <a:r>
                  <a:rPr lang="en-GB" u="sng" dirty="0"/>
                  <a:t>unbounded</a:t>
                </a:r>
                <a:r>
                  <a:rPr lang="en-GB" dirty="0"/>
                  <a:t> problem, there is no restriction on the objective</a:t>
                </a:r>
              </a:p>
              <a:p>
                <a:pPr marL="0" indent="0">
                  <a:buNone/>
                </a:pPr>
                <a:endParaRPr lang="en-GB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100" t="-2452" r="-262" b="-5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0CA7192C-6F9B-4D10-9010-B5CAD8401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781050"/>
            <a:ext cx="5295900" cy="529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24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Infinite Solutions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If our objective is parallel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 	</a:t>
                </a:r>
                <a14:m>
                  <m:oMath xmlns:m="http://schemas.openxmlformats.org/officeDocument/2006/math"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=6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+4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	</a:t>
                </a: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						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br>
                  <a:rPr lang="en-GB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		  	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			 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2000" u="sng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Optimal solution anywhere on the line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=144</m:t>
                    </m:r>
                  </m:oMath>
                </a14:m>
                <a:r>
                  <a:rPr lang="en-GB" b="0" dirty="0"/>
                  <a:t> from (0, 72) to (48, 0). Thus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=288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 that it still has an optimal solution at a vertex!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100" t="-2968" b="-2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CB4E71B-8CC6-4D62-AAF7-6665249CD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04888"/>
            <a:ext cx="5724525" cy="51720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D91F48-07F7-46DB-A7A5-439088C6D2CE}"/>
                  </a:ext>
                </a:extLst>
              </p:cNvPr>
              <p:cNvSpPr/>
              <p:nvPr/>
            </p:nvSpPr>
            <p:spPr>
              <a:xfrm>
                <a:off x="6597094" y="4988292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=100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D91F48-07F7-46DB-A7A5-439088C6D2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7094" y="4988292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788D00A-C703-4107-B81B-D8022062A093}"/>
                  </a:ext>
                </a:extLst>
              </p:cNvPr>
              <p:cNvSpPr/>
              <p:nvPr/>
            </p:nvSpPr>
            <p:spPr>
              <a:xfrm>
                <a:off x="6787201" y="3590925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=200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788D00A-C703-4107-B81B-D8022062A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7201" y="3590925"/>
                <a:ext cx="1720086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C37D992-504C-4201-A734-4AB11DEBB34C}"/>
                  </a:ext>
                </a:extLst>
              </p:cNvPr>
              <p:cNvSpPr/>
              <p:nvPr/>
            </p:nvSpPr>
            <p:spPr>
              <a:xfrm>
                <a:off x="7647244" y="270757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=288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C37D992-504C-4201-A734-4AB11DEBB3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7244" y="2707576"/>
                <a:ext cx="1720086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317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Optimality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An optimal solution always lies on the boundary of the feasible region: at a vertex, or along a whole edge (infinitely many solutions).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If an optimal solution exists, one is always at a vertex. The vertices are known as </a:t>
            </a:r>
            <a:r>
              <a:rPr lang="en-GB" u="sng" dirty="0"/>
              <a:t>Basic Feasible Solutions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u="sng" dirty="0"/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u="sng" dirty="0"/>
              <a:t>Basic Feasible Solution (BFS)</a:t>
            </a:r>
            <a:r>
              <a:rPr lang="en-GB" dirty="0"/>
              <a:t> is the intersection of a number of boundaries.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697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Graphical illustration of 3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Intersection of different planes with a cube</a:t>
                </a:r>
              </a:p>
              <a:p>
                <a:pPr marL="0" indent="0">
                  <a:buNone/>
                </a:pPr>
                <a:r>
                  <a:rPr lang="en-GB" dirty="0"/>
                  <a:t>e.g.</a:t>
                </a:r>
              </a:p>
              <a:p>
                <a:pPr marL="0" indent="0">
                  <a:buNone/>
                </a:pPr>
                <a:r>
                  <a:rPr lang="en-GB" dirty="0"/>
                  <a:t>minimise	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	</a:t>
                </a:r>
              </a:p>
              <a:p>
                <a:pPr marL="0" indent="0">
                  <a:buNone/>
                </a:pPr>
                <a:r>
                  <a:rPr lang="en-GB" b="0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Each corner of the cube is a BFS.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754" t="-2710" b="-16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101A0DB-03FC-436E-85C9-C076B4E0BD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7284" y="2137429"/>
            <a:ext cx="3867150" cy="36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6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Canonical Form (Matrices)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10"/>
                <a:ext cx="3941190" cy="2405454"/>
              </a:xfrm>
              <a:ln w="28575">
                <a:solidFill>
                  <a:schemeClr val="tx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000" dirty="0"/>
                  <a:t>Our linear programming model</a:t>
                </a:r>
              </a:p>
              <a:p>
                <a:pPr marL="0" indent="0">
                  <a:buNone/>
                </a:pPr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b="0" dirty="0"/>
              </a:p>
              <a:p>
                <a:pPr marL="0" indent="0">
                  <a:buNone/>
                </a:pPr>
                <a:r>
                  <a:rPr lang="en-GB" sz="2000" b="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10"/>
                <a:ext cx="3941190" cy="2405454"/>
              </a:xfrm>
              <a:blipFill>
                <a:blip r:embed="rId2"/>
                <a:stretch>
                  <a:fillRect l="-1382" t="-2256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3AA5A98-CCB6-4776-BF55-D518B17469E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46769" y="1487817"/>
                <a:ext cx="4289982" cy="23300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subject to: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200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and</a:t>
                </a:r>
                <a:b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sz="200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1600" u="sng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3AA5A98-CCB6-4776-BF55-D518B1746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769" y="1487817"/>
                <a:ext cx="4289982" cy="2330039"/>
              </a:xfrm>
              <a:prstGeom prst="rect">
                <a:avLst/>
              </a:prstGeom>
              <a:blipFill>
                <a:blip r:embed="rId3"/>
                <a:stretch>
                  <a:fillRect l="-1271" t="-20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0A442F2-8CDD-41B3-A473-0D23A68EB62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28461" y="4317476"/>
                <a:ext cx="4535078" cy="23300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>
                    <a:solidFill>
                      <a:schemeClr val="tx1"/>
                    </a:solidFill>
                  </a:rPr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0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0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000" dirty="0">
                  <a:solidFill>
                    <a:schemeClr val="tx1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>
                    <a:solidFill>
                      <a:schemeClr val="tx1"/>
                    </a:solidFill>
                  </a:rPr>
                  <a:t>subject to: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2000" dirty="0">
                    <a:solidFill>
                      <a:schemeClr val="tx1"/>
                    </a:solidFill>
                  </a:rPr>
                  <a:t>and</a:t>
                </a:r>
                <a:br>
                  <a:rPr lang="en-GB" sz="200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		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GB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1600" u="sng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0A442F2-8CDD-41B3-A473-0D23A68EB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8461" y="4317476"/>
                <a:ext cx="4535078" cy="2330039"/>
              </a:xfrm>
              <a:prstGeom prst="rect">
                <a:avLst/>
              </a:prstGeom>
              <a:blipFill>
                <a:blip r:embed="rId4"/>
                <a:stretch>
                  <a:fillRect l="-106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11DFFC-CC29-41D8-BD58-58F01D35B36E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779390" y="2652837"/>
            <a:ext cx="216737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A634743-B38E-4A5C-935B-06A45A5F3A23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rot="5400000">
            <a:off x="7344070" y="2569786"/>
            <a:ext cx="499620" cy="2995760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7816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Canonical Form (Matrices)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2292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Let</a:t>
                </a:r>
              </a:p>
              <a:p>
                <a:pPr marL="0" indent="0">
                  <a:buNone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e>
                          </m:mr>
                        </m:m>
                      </m:e>
                    </m:d>
                    <m:r>
                      <a:rPr lang="en-GB" b="0" i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        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2292332"/>
              </a:xfrm>
              <a:blipFill>
                <a:blip r:embed="rId2"/>
                <a:stretch>
                  <a:fillRect l="-1217" t="-45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/>
              <p:nvPr/>
            </p:nvSpPr>
            <p:spPr>
              <a:xfrm>
                <a:off x="1201918" y="3339840"/>
                <a:ext cx="5077905" cy="2742482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dirty="0"/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400" i="1" dirty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400" i="1" dirty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400" i="1" dirty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400" dirty="0"/>
              </a:p>
              <a:p>
                <a:r>
                  <a:rPr lang="en-GB" sz="2400" dirty="0"/>
                  <a:t>subject to:	</a:t>
                </a:r>
              </a:p>
              <a:p>
                <a:r>
                  <a:rPr lang="en-GB" sz="2400" dirty="0"/>
                  <a:t>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400" i="1" dirty="0">
                  <a:latin typeface="Cambria Math" panose="02040503050406030204" pitchFamily="18" charset="0"/>
                </a:endParaRPr>
              </a:p>
              <a:p>
                <a:r>
                  <a:rPr lang="en-GB" sz="2400" dirty="0"/>
                  <a:t>and</a:t>
                </a:r>
                <a:br>
                  <a:rPr lang="en-GB" sz="2400" i="1" dirty="0">
                    <a:latin typeface="Cambria Math" panose="02040503050406030204" pitchFamily="18" charset="0"/>
                  </a:rPr>
                </a:br>
                <a:r>
                  <a:rPr lang="en-GB" sz="2400" i="1" dirty="0">
                    <a:latin typeface="Cambria Math" panose="02040503050406030204" pitchFamily="18" charset="0"/>
                  </a:rPr>
                  <a:t> 		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400" i="1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4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1918" y="3339840"/>
                <a:ext cx="5077905" cy="2742482"/>
              </a:xfrm>
              <a:prstGeom prst="rect">
                <a:avLst/>
              </a:prstGeom>
              <a:blipFill>
                <a:blip r:embed="rId3"/>
                <a:stretch>
                  <a:fillRect l="-1551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/>
              <p:nvPr/>
            </p:nvSpPr>
            <p:spPr>
              <a:xfrm>
                <a:off x="7359977" y="3742441"/>
                <a:ext cx="3993823" cy="1945533"/>
              </a:xfrm>
              <a:prstGeom prst="rect">
                <a:avLst/>
              </a:prstGeom>
              <a:solidFill>
                <a:schemeClr val="accent5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u="sng" dirty="0"/>
                  <a:t>Canonical Form</a:t>
                </a:r>
              </a:p>
              <a:p>
                <a:endParaRPr lang="en-GB" sz="2400" dirty="0"/>
              </a:p>
              <a:p>
                <a:r>
                  <a:rPr lang="en-GB" sz="2400" dirty="0"/>
                  <a:t>maximise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sz="2400" b="1" dirty="0"/>
              </a:p>
              <a:p>
                <a:r>
                  <a:rPr lang="en-GB" sz="2400" dirty="0"/>
                  <a:t>subject to:  </a:t>
                </a:r>
                <a:r>
                  <a:rPr lang="en-GB" sz="2400" b="1" dirty="0"/>
                  <a:t>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sz="2400" b="1" i="1" dirty="0">
                  <a:latin typeface="Cambria Math" panose="02040503050406030204" pitchFamily="18" charset="0"/>
                </a:endParaRPr>
              </a:p>
              <a:p>
                <a:r>
                  <a:rPr lang="en-GB" sz="2400" dirty="0"/>
                  <a:t>and </a:t>
                </a:r>
                <a:r>
                  <a:rPr lang="en-GB" sz="2400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400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sz="2400" b="1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9977" y="3742441"/>
                <a:ext cx="3993823" cy="1945533"/>
              </a:xfrm>
              <a:prstGeom prst="rect">
                <a:avLst/>
              </a:prstGeom>
              <a:blipFill>
                <a:blip r:embed="rId4"/>
                <a:stretch>
                  <a:fillRect l="-2124" t="-2174" b="-559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6568B1-9B39-4168-9990-3809EAF6109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279823" y="4711081"/>
            <a:ext cx="1080154" cy="412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226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 general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184927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Let</a:t>
                </a:r>
              </a:p>
              <a:p>
                <a:pPr marL="0" indent="0">
                  <a:buNone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GB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sz="2400" i="1" dirty="0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mr>
                        </m:m>
                      </m:e>
                    </m:d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sz="2400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400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mr>
                        </m:m>
                      </m:e>
                    </m:d>
                    <m:r>
                      <a:rPr lang="en-GB" sz="2400" b="0" i="1" dirty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,         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mr>
                        </m:m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1849272"/>
              </a:xfrm>
              <a:blipFill>
                <a:blip r:embed="rId2"/>
                <a:stretch>
                  <a:fillRect l="-1217" t="-561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/>
              <p:nvPr/>
            </p:nvSpPr>
            <p:spPr>
              <a:xfrm>
                <a:off x="972532" y="3678072"/>
                <a:ext cx="3993823" cy="1945533"/>
              </a:xfrm>
              <a:prstGeom prst="rect">
                <a:avLst/>
              </a:prstGeom>
              <a:solidFill>
                <a:schemeClr val="accent5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u="sng" dirty="0"/>
                  <a:t>Canonical Form</a:t>
                </a:r>
              </a:p>
              <a:p>
                <a:endParaRPr lang="en-GB" sz="2400" dirty="0"/>
              </a:p>
              <a:p>
                <a:r>
                  <a:rPr lang="en-GB" sz="2400" dirty="0"/>
                  <a:t>maximise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sz="2400" b="1" dirty="0"/>
              </a:p>
              <a:p>
                <a:r>
                  <a:rPr lang="en-GB" sz="2400" dirty="0"/>
                  <a:t>subject to:  </a:t>
                </a:r>
                <a:r>
                  <a:rPr lang="en-GB" sz="2400" b="1" dirty="0"/>
                  <a:t>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sz="2400" b="1" i="1" dirty="0">
                  <a:latin typeface="Cambria Math" panose="02040503050406030204" pitchFamily="18" charset="0"/>
                </a:endParaRPr>
              </a:p>
              <a:p>
                <a:r>
                  <a:rPr lang="en-GB" sz="2400" dirty="0"/>
                  <a:t>and </a:t>
                </a:r>
                <a:r>
                  <a:rPr lang="en-GB" sz="2400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400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sz="2400" b="1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532" y="3678072"/>
                <a:ext cx="3993823" cy="1945533"/>
              </a:xfrm>
              <a:prstGeom prst="rect">
                <a:avLst/>
              </a:prstGeom>
              <a:blipFill>
                <a:blip r:embed="rId3"/>
                <a:stretch>
                  <a:fillRect l="-2280" t="-2167" b="-526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079657-1406-4D46-8C21-B0283FB687E2}"/>
                  </a:ext>
                </a:extLst>
              </p:cNvPr>
              <p:cNvSpPr/>
              <p:nvPr/>
            </p:nvSpPr>
            <p:spPr>
              <a:xfrm>
                <a:off x="6275895" y="3429000"/>
                <a:ext cx="5077905" cy="2855141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000" dirty="0"/>
                  <a:t>e.g.</a:t>
                </a:r>
                <a:endParaRPr lang="en-GB" sz="2000" dirty="0"/>
              </a:p>
              <a:p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000" i="1" dirty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000" i="1" dirty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000" dirty="0"/>
              </a:p>
              <a:p>
                <a:r>
                  <a:rPr lang="en-GB" sz="2000" dirty="0"/>
                  <a:t>subject to:	</a:t>
                </a:r>
              </a:p>
              <a:p>
                <a:r>
                  <a:rPr lang="en-GB" sz="2000" dirty="0"/>
                  <a:t>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  <m:m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b="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i="1" dirty="0">
                  <a:latin typeface="Cambria Math" panose="02040503050406030204" pitchFamily="18" charset="0"/>
                </a:endParaRPr>
              </a:p>
              <a:p>
                <a:r>
                  <a:rPr lang="en-GB" sz="2000" dirty="0"/>
                  <a:t>and</a:t>
                </a:r>
                <a:br>
                  <a:rPr lang="en-GB" sz="2000" i="1" dirty="0">
                    <a:latin typeface="Cambria Math" panose="02040503050406030204" pitchFamily="18" charset="0"/>
                  </a:rPr>
                </a:br>
                <a:r>
                  <a:rPr lang="en-GB" sz="2000" i="1" dirty="0">
                    <a:latin typeface="Cambria Math" panose="02040503050406030204" pitchFamily="18" charset="0"/>
                  </a:rPr>
                  <a:t> 		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sz="2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079657-1406-4D46-8C21-B0283FB687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5895" y="3429000"/>
                <a:ext cx="5077905" cy="2855141"/>
              </a:xfrm>
              <a:prstGeom prst="rect">
                <a:avLst/>
              </a:prstGeom>
              <a:blipFill>
                <a:blip r:embed="rId4"/>
                <a:stretch>
                  <a:fillRect l="-1074" t="-846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43D8E0-2182-42AC-A2FC-D9E4D7BCD546}"/>
                  </a:ext>
                </a:extLst>
              </p:cNvPr>
              <p:cNvSpPr txBox="1"/>
              <p:nvPr/>
            </p:nvSpPr>
            <p:spPr>
              <a:xfrm>
                <a:off x="524117" y="6022531"/>
                <a:ext cx="539198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/>
                  <a:t>What are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sz="2800" dirty="0"/>
                  <a:t> and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800" dirty="0"/>
                  <a:t> for the example?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43D8E0-2182-42AC-A2FC-D9E4D7BCD5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17" y="6022531"/>
                <a:ext cx="5391989" cy="523220"/>
              </a:xfrm>
              <a:prstGeom prst="rect">
                <a:avLst/>
              </a:prstGeom>
              <a:blipFill>
                <a:blip r:embed="rId5"/>
                <a:stretch>
                  <a:fillRect l="-2376" t="-11628" r="-1244" b="-325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2126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  <p:bldP spid="6" grpId="0" animBg="1"/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45432-CA52-4838-B7E4-94F673E26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Maximum and minimum equivalence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964C1-0811-4E9A-89E8-A8B1428456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maximise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subject to:  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:r>
                  <a:rPr lang="en-GB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Is equivalent to…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minimise     −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subject to:  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:r>
                  <a:rPr lang="en-GB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:r>
                  <a:rPr lang="en-GB" b="1" dirty="0"/>
                  <a:t>Additional homework, why?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964C1-0811-4E9A-89E8-A8B1428456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966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Solution via Python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/>
              <p:nvPr/>
            </p:nvSpPr>
            <p:spPr>
              <a:xfrm>
                <a:off x="838200" y="1432295"/>
                <a:ext cx="5077905" cy="22519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000" i="1" dirty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000" i="1" dirty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0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000" dirty="0"/>
              </a:p>
              <a:p>
                <a:r>
                  <a:rPr lang="en-GB" sz="2000" dirty="0"/>
                  <a:t>subject to:	</a:t>
                </a:r>
              </a:p>
              <a:p>
                <a:r>
                  <a:rPr lang="en-GB" sz="2000" dirty="0"/>
                  <a:t>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i="1" dirty="0">
                  <a:latin typeface="Cambria Math" panose="02040503050406030204" pitchFamily="18" charset="0"/>
                </a:endParaRPr>
              </a:p>
              <a:p>
                <a:r>
                  <a:rPr lang="en-GB" sz="2000" dirty="0"/>
                  <a:t>and</a:t>
                </a:r>
                <a:br>
                  <a:rPr lang="en-GB" sz="2000" i="1" dirty="0">
                    <a:latin typeface="Cambria Math" panose="02040503050406030204" pitchFamily="18" charset="0"/>
                  </a:rPr>
                </a:br>
                <a:r>
                  <a:rPr lang="en-GB" sz="2000" i="1" dirty="0">
                    <a:latin typeface="Cambria Math" panose="02040503050406030204" pitchFamily="18" charset="0"/>
                  </a:rPr>
                  <a:t> 		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32295"/>
                <a:ext cx="5077905" cy="2251963"/>
              </a:xfrm>
              <a:prstGeom prst="rect">
                <a:avLst/>
              </a:prstGeom>
              <a:blipFill>
                <a:blip r:embed="rId2"/>
                <a:stretch>
                  <a:fillRect l="-132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900E18A-BC3F-4B7A-9993-BFF3EDFF913E}"/>
              </a:ext>
            </a:extLst>
          </p:cNvPr>
          <p:cNvSpPr/>
          <p:nvPr/>
        </p:nvSpPr>
        <p:spPr>
          <a:xfrm>
            <a:off x="838200" y="4045134"/>
            <a:ext cx="4101445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/>
              <a:t>We are maximising.</a:t>
            </a:r>
          </a:p>
          <a:p>
            <a:endParaRPr lang="en-GB" sz="2000" dirty="0"/>
          </a:p>
          <a:p>
            <a:r>
              <a:rPr lang="en-GB" sz="2000" dirty="0"/>
              <a:t>The Python function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linprog</a:t>
            </a:r>
            <a:r>
              <a:rPr lang="en-GB" sz="2000" dirty="0"/>
              <a:t> minimises!</a:t>
            </a:r>
          </a:p>
          <a:p>
            <a:endParaRPr lang="en-GB" sz="2000" dirty="0"/>
          </a:p>
          <a:p>
            <a:r>
              <a:rPr lang="en-GB" sz="2000" dirty="0"/>
              <a:t>Notice that in the Python code we set c = [-5, -7]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49776F-AC13-E673-CF20-04030882DF97}"/>
              </a:ext>
            </a:extLst>
          </p:cNvPr>
          <p:cNvSpPr txBox="1"/>
          <p:nvPr/>
        </p:nvSpPr>
        <p:spPr>
          <a:xfrm>
            <a:off x="5580944" y="542570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hlinkClick r:id="rId3"/>
              </a:rPr>
              <a:t>scipy.optimize.linprog</a:t>
            </a:r>
            <a:r>
              <a:rPr lang="en-GB" dirty="0">
                <a:hlinkClick r:id="rId3"/>
              </a:rPr>
              <a:t> — SciPy documentation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85E9F1-C29A-5D8A-E9FE-A3ED823CC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7327" y="1383056"/>
            <a:ext cx="6257421" cy="3618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434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964C1-0811-4E9A-89E8-A8B142845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594"/>
            <a:ext cx="10515600" cy="47723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will use a friendlier way to express this next week, however it is important to: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get to understand the canonical form</a:t>
            </a:r>
          </a:p>
          <a:p>
            <a:r>
              <a:rPr lang="en-GB" dirty="0"/>
              <a:t>think about this in terms of Linear Algebra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2368C2C-C056-4209-AAAF-72C1EE32763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Solution via Python</a:t>
            </a:r>
          </a:p>
        </p:txBody>
      </p:sp>
    </p:spTree>
    <p:extLst>
      <p:ext uri="{BB962C8B-B14F-4D97-AF65-F5344CB8AC3E}">
        <p14:creationId xmlns:p14="http://schemas.microsoft.com/office/powerpoint/2010/main" val="2539416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766B3FC4-29EE-4095-A109-72328DF7F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Tutorial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964C1-0811-4E9A-89E8-A8B142845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1728"/>
            <a:ext cx="10515600" cy="4725235"/>
          </a:xfrm>
        </p:spPr>
        <p:txBody>
          <a:bodyPr>
            <a:normAutofit/>
          </a:bodyPr>
          <a:lstStyle/>
          <a:p>
            <a:r>
              <a:rPr lang="en-GB" dirty="0"/>
              <a:t>Solve a linear program with Python</a:t>
            </a:r>
          </a:p>
          <a:p>
            <a:r>
              <a:rPr lang="en-GB" dirty="0"/>
              <a:t>Solve a linear program with Excel</a:t>
            </a:r>
          </a:p>
          <a:p>
            <a:r>
              <a:rPr lang="en-GB" dirty="0"/>
              <a:t>Model a simple LP problem and solve</a:t>
            </a:r>
          </a:p>
          <a:p>
            <a:r>
              <a:rPr lang="en-GB" dirty="0"/>
              <a:t>Model a more complicated LP, we will start the next lecture with a discussion about this.</a:t>
            </a:r>
          </a:p>
        </p:txBody>
      </p:sp>
    </p:spTree>
    <p:extLst>
      <p:ext uri="{BB962C8B-B14F-4D97-AF65-F5344CB8AC3E}">
        <p14:creationId xmlns:p14="http://schemas.microsoft.com/office/powerpoint/2010/main" val="188742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F617A9-2F13-49FD-8864-10646A7CE04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B587AB4-D8C9-43A3-B80F-6729B49465FB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606370cc-c8d9-4222-8a4e-3c320f1e3034"/>
    <ds:schemaRef ds:uri="http://schemas.microsoft.com/office/infopath/2007/PartnerControls"/>
    <ds:schemaRef ds:uri="bf6b85bd-8a7e-4854-be4d-0780382295a8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1707</Words>
  <Application>Microsoft Office PowerPoint</Application>
  <PresentationFormat>Widescreen</PresentationFormat>
  <Paragraphs>284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Calibri</vt:lpstr>
      <vt:lpstr>Arial</vt:lpstr>
      <vt:lpstr>Calibri Light</vt:lpstr>
      <vt:lpstr>Cambria Math</vt:lpstr>
      <vt:lpstr>Courier New</vt:lpstr>
      <vt:lpstr>Office Theme</vt:lpstr>
      <vt:lpstr>Linear Programming 1</vt:lpstr>
      <vt:lpstr>Contents</vt:lpstr>
      <vt:lpstr>Introductory Example</vt:lpstr>
      <vt:lpstr>Linear Programming Model</vt:lpstr>
      <vt:lpstr>Linear Programming Model</vt:lpstr>
      <vt:lpstr>Linear Programming Model</vt:lpstr>
      <vt:lpstr>Linear Programming Model</vt:lpstr>
      <vt:lpstr>Linear Programming Model</vt:lpstr>
      <vt:lpstr>Linear Programming Model</vt:lpstr>
      <vt:lpstr>Observations</vt:lpstr>
      <vt:lpstr>Is it a suitable solution?</vt:lpstr>
      <vt:lpstr>Is it a suitable solution?</vt:lpstr>
      <vt:lpstr>Linear Programming Model</vt:lpstr>
      <vt:lpstr>Binding Constraints</vt:lpstr>
      <vt:lpstr>Binding Constraints</vt:lpstr>
      <vt:lpstr>Infeasible</vt:lpstr>
      <vt:lpstr>Unbounded</vt:lpstr>
      <vt:lpstr>Infinite Solutions</vt:lpstr>
      <vt:lpstr>Optimality</vt:lpstr>
      <vt:lpstr>Graphical illustration of 3 variables</vt:lpstr>
      <vt:lpstr>Canonical Form (Matrices)</vt:lpstr>
      <vt:lpstr>Canonical Form (Matrices)</vt:lpstr>
      <vt:lpstr>In general</vt:lpstr>
      <vt:lpstr>Maximum and minimum equivalence</vt:lpstr>
      <vt:lpstr>Solution via Python</vt:lpstr>
      <vt:lpstr>PowerPoint Presentation</vt:lpstr>
      <vt:lpstr>Tutorial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 1</dc:title>
  <dc:creator>Sam O'Neill</dc:creator>
  <cp:lastModifiedBy>Christos Tsallis</cp:lastModifiedBy>
  <cp:revision>3</cp:revision>
  <dcterms:created xsi:type="dcterms:W3CDTF">2019-10-08T20:55:29Z</dcterms:created>
  <dcterms:modified xsi:type="dcterms:W3CDTF">2026-10-17T12:57:06Z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