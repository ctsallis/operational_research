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61" r:id="rId7"/>
    <p:sldId id="294" r:id="rId8"/>
    <p:sldId id="293" r:id="rId9"/>
    <p:sldId id="287" r:id="rId10"/>
    <p:sldId id="289" r:id="rId11"/>
    <p:sldId id="290" r:id="rId12"/>
    <p:sldId id="288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13" r:id="rId26"/>
    <p:sldId id="314" r:id="rId27"/>
    <p:sldId id="307" r:id="rId28"/>
    <p:sldId id="308" r:id="rId29"/>
    <p:sldId id="311" r:id="rId30"/>
    <p:sldId id="309" r:id="rId31"/>
    <p:sldId id="316" r:id="rId32"/>
    <p:sldId id="310" r:id="rId33"/>
    <p:sldId id="312" r:id="rId34"/>
    <p:sldId id="315" r:id="rId35"/>
    <p:sldId id="317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0-23T11:33:38.512" v="4" actId="20577"/>
      <pc:docMkLst>
        <pc:docMk/>
      </pc:docMkLst>
      <pc:sldChg chg="modSp mod">
        <pc:chgData name="Sam O'Neill" userId="cb323814-a42a-4cfe-bc74-03f595e56f6e" providerId="ADAL" clId="{17ADD47D-E5AE-440A-99C5-4F3DA05BBA04}" dt="2025-10-23T11:33:38.512" v="4" actId="20577"/>
        <pc:sldMkLst>
          <pc:docMk/>
          <pc:sldMk cId="1906797595" sldId="299"/>
        </pc:sldMkLst>
        <pc:spChg chg="mod">
          <ac:chgData name="Sam O'Neill" userId="cb323814-a42a-4cfe-bc74-03f595e56f6e" providerId="ADAL" clId="{17ADD47D-E5AE-440A-99C5-4F3DA05BBA04}" dt="2025-10-23T11:33:38.512" v="4" actId="20577"/>
          <ac:spMkLst>
            <pc:docMk/>
            <pc:sldMk cId="1906797595" sldId="299"/>
            <ac:spMk id="6" creationId="{DB57E94D-7ABF-4564-B18E-07C6410587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23/10/2025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1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Mixed Integer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0DCA-349F-4E07-9481-BFF87791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 – MILP</a:t>
            </a:r>
          </a:p>
          <a:p>
            <a:r>
              <a:rPr lang="en-GB" dirty="0"/>
              <a:t>Binary Variables</a:t>
            </a:r>
          </a:p>
          <a:p>
            <a:pPr lvl="1"/>
            <a:r>
              <a:rPr lang="en-GB" dirty="0"/>
              <a:t>Knapsack Example</a:t>
            </a:r>
          </a:p>
          <a:p>
            <a:pPr lvl="1"/>
            <a:r>
              <a:rPr lang="en-GB" dirty="0"/>
              <a:t>Set Covering Problem Example</a:t>
            </a:r>
          </a:p>
          <a:p>
            <a:pPr lvl="1"/>
            <a:r>
              <a:rPr lang="en-GB" dirty="0"/>
              <a:t>Purchasing Problem</a:t>
            </a:r>
          </a:p>
        </p:txBody>
      </p:sp>
    </p:spTree>
    <p:extLst>
      <p:ext uri="{BB962C8B-B14F-4D97-AF65-F5344CB8AC3E}">
        <p14:creationId xmlns:p14="http://schemas.microsoft.com/office/powerpoint/2010/main" val="24644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Blank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4236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2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27342-B019-4230-BC68-60F4E0AD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/>
          </a:bodyPr>
          <a:lstStyle/>
          <a:p>
            <a:r>
              <a:rPr lang="en-GB" dirty="0"/>
              <a:t>Linear Objective</a:t>
            </a:r>
          </a:p>
          <a:p>
            <a:r>
              <a:rPr lang="en-GB" dirty="0"/>
              <a:t>Linear Constraints</a:t>
            </a:r>
          </a:p>
          <a:p>
            <a:r>
              <a:rPr lang="en-GB" dirty="0"/>
              <a:t>Some or all of the decision variables are restricted to be integers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e.g.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What is a Mixed-Integer Linear Program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34FDF3-D3CC-493E-B3AE-42951DF22101}"/>
                  </a:ext>
                </a:extLst>
              </p:cNvPr>
              <p:cNvSpPr/>
              <p:nvPr/>
            </p:nvSpPr>
            <p:spPr>
              <a:xfrm>
                <a:off x="1967345" y="3636390"/>
                <a:ext cx="4128655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934FDF3-D3CC-493E-B3AE-42951DF22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345" y="3636390"/>
                <a:ext cx="4128655" cy="2290000"/>
              </a:xfrm>
              <a:prstGeom prst="rect">
                <a:avLst/>
              </a:prstGeom>
              <a:blipFill>
                <a:blip r:embed="rId2"/>
                <a:stretch>
                  <a:fillRect l="-1329" t="-1802" b="-3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B19BF4-B3E2-47AE-8A23-8ECDC94ECE7C}"/>
                  </a:ext>
                </a:extLst>
              </p:cNvPr>
              <p:cNvSpPr/>
              <p:nvPr/>
            </p:nvSpPr>
            <p:spPr>
              <a:xfrm>
                <a:off x="6834670" y="3636390"/>
                <a:ext cx="4128655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</a:br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EB19BF4-B3E2-47AE-8A23-8ECDC94EC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4670" y="3636390"/>
                <a:ext cx="4128655" cy="2290000"/>
              </a:xfrm>
              <a:prstGeom prst="rect">
                <a:avLst/>
              </a:prstGeom>
              <a:blipFill>
                <a:blip r:embed="rId3"/>
                <a:stretch>
                  <a:fillRect l="-1182" t="-18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56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Linear Program Solution Without Integers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      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2000" dirty="0"/>
                  <a:t>and</a:t>
                </a:r>
                <a:b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sz="200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    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sz="20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6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u="sng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78BBEB-A064-4796-B5E0-3607E13F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1617038"/>
                <a:ext cx="4289982" cy="2330039"/>
              </a:xfrm>
              <a:prstGeom prst="rect">
                <a:avLst/>
              </a:prstGeom>
              <a:blipFill>
                <a:blip r:embed="rId2"/>
                <a:stretch>
                  <a:fillRect l="-1128" t="-20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19" y="4367638"/>
                <a:ext cx="4289982" cy="1388764"/>
              </a:xfrm>
              <a:prstGeom prst="rect">
                <a:avLst/>
              </a:prstGeom>
              <a:blipFill>
                <a:blip r:embed="rId3"/>
                <a:stretch>
                  <a:fillRect l="-1128" t="-34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71E226-A92A-42BD-B44C-D06557447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654" y="1450109"/>
            <a:ext cx="6581775" cy="4562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/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5145B-275F-437D-A101-CBEC8D0DD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735" y="2305628"/>
                <a:ext cx="166000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64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Optimal Solution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u="sng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=(1.9,2.9)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=13.95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AE0188A-A546-403F-9827-F8E68A1E2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399598"/>
                <a:ext cx="4289982" cy="1388764"/>
              </a:xfrm>
              <a:prstGeom prst="rect">
                <a:avLst/>
              </a:prstGeom>
              <a:blipFill>
                <a:blip r:embed="rId2"/>
                <a:stretch>
                  <a:fillRect l="-1128" t="-387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=(1,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GB" sz="1600" b="1" dirty="0"/>
                  <a:t>Infeasible!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16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3134656"/>
                <a:ext cx="4289982" cy="3042307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C90E30B-8361-908F-6F93-2BE69F5C555C}"/>
              </a:ext>
            </a:extLst>
          </p:cNvPr>
          <p:cNvGrpSpPr/>
          <p:nvPr/>
        </p:nvGrpSpPr>
        <p:grpSpPr>
          <a:xfrm>
            <a:off x="5246654" y="1450109"/>
            <a:ext cx="6581775" cy="4562475"/>
            <a:chOff x="5246654" y="1450109"/>
            <a:chExt cx="6581775" cy="45624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9D7DB87-1C37-46CF-9899-EE47228F1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6654" y="1450109"/>
              <a:ext cx="6581775" cy="45624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A30A218-CFB1-4A35-B5EF-78C48F20D340}"/>
                    </a:ext>
                  </a:extLst>
                </p:cNvPr>
                <p:cNvSpPr/>
                <p:nvPr/>
              </p:nvSpPr>
              <p:spPr>
                <a:xfrm>
                  <a:off x="9575735" y="2305628"/>
                  <a:ext cx="166000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+3.5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A30A218-CFB1-4A35-B5EF-78C48F20D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5735" y="2305628"/>
                  <a:ext cx="1660006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5192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Rounded Solutions</a:t>
            </a:r>
            <a:endParaRPr lang="en-GB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A88B-52B3-469E-A512-B72752EB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000" dirty="0"/>
                  <a:t>However!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20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,2)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20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585A4FB-0B6E-4E47-8A78-94F6A9737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22" y="1845728"/>
                <a:ext cx="4277755" cy="3684711"/>
              </a:xfrm>
              <a:prstGeom prst="rect">
                <a:avLst/>
              </a:prstGeom>
              <a:blipFill>
                <a:blip r:embed="rId2"/>
                <a:stretch>
                  <a:fillRect l="-113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DD79A2-BA06-43F6-A166-3DA22070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023" y="1497333"/>
            <a:ext cx="6715125" cy="4381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/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+3.5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C1189B2-A2BB-482B-894F-3064D0281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698" y="1845728"/>
                <a:ext cx="166000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6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AE6ED6-0FDE-D22E-C9FB-28161495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607" y="1376733"/>
            <a:ext cx="7293887" cy="5101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/>
          <a:lstStyle/>
          <a:p>
            <a:r>
              <a:rPr lang="en-GB" dirty="0"/>
              <a:t>Integer Solution via </a:t>
            </a:r>
            <a:r>
              <a:rPr lang="en-GB" dirty="0" err="1"/>
              <a:t>Pyomo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/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3A9BAE-B2B6-427C-97CF-F1B19CFC0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1619055"/>
                <a:ext cx="4128655" cy="2308324"/>
              </a:xfrm>
              <a:prstGeom prst="rect">
                <a:avLst/>
              </a:prstGeom>
              <a:blipFill>
                <a:blip r:embed="rId3"/>
                <a:stretch>
                  <a:fillRect l="-1329" t="-1587" b="-2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55C7E04-0C4C-4AA7-B4CD-8C9AA67BA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255" y="4067389"/>
            <a:ext cx="905001" cy="230537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/>
              <p:nvPr/>
            </p:nvSpPr>
            <p:spPr>
              <a:xfrm>
                <a:off x="979054" y="4700335"/>
                <a:ext cx="279731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u="sng" dirty="0"/>
                  <a:t>Optimal Solution</a:t>
                </a:r>
              </a:p>
              <a:p>
                <a:endParaRPr lang="en-GB" sz="1600" u="sng" dirty="0"/>
              </a:p>
              <a:p>
                <a:r>
                  <a:rPr lang="en-GB" sz="16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3AE2C3-8C49-4731-9C2D-D3E3C0103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54" y="4700335"/>
                <a:ext cx="2797313" cy="1077218"/>
              </a:xfrm>
              <a:prstGeom prst="rect">
                <a:avLst/>
              </a:prstGeom>
              <a:blipFill>
                <a:blip r:embed="rId5"/>
                <a:stretch>
                  <a:fillRect l="-1310" t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70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F331-FA4C-4E92-A9DC-B75BC327C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Binary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97D86-8A1E-4C21-88F2-2ADD855AA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72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342-B019-4230-BC68-60F4E0ADF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142"/>
                <a:ext cx="10515600" cy="4649821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A decision variable that is either 0 or 1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also an integer variable restricted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27342-B019-4230-BC68-60F4E0ADF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142"/>
                <a:ext cx="10515600" cy="4649821"/>
              </a:xfrm>
              <a:blipFill>
                <a:blip r:embed="rId2"/>
                <a:stretch>
                  <a:fillRect l="-1217" t="-2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What is a Binary Variable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EC7BD6E-EC9B-4D31-94F4-11E3C3D4AA2B}"/>
                  </a:ext>
                </a:extLst>
              </p:cNvPr>
              <p:cNvSpPr/>
              <p:nvPr/>
            </p:nvSpPr>
            <p:spPr>
              <a:xfrm>
                <a:off x="1106078" y="2274838"/>
                <a:ext cx="4314334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EC7BD6E-EC9B-4D31-94F4-11E3C3D4A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78" y="2274838"/>
                <a:ext cx="4314334" cy="2308324"/>
              </a:xfrm>
              <a:prstGeom prst="rect">
                <a:avLst/>
              </a:prstGeom>
              <a:blipFill>
                <a:blip r:embed="rId3"/>
                <a:stretch>
                  <a:fillRect l="-1130" t="-1319" b="-1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39D913-DBA6-41A7-A6FF-04DADB6B0718}"/>
                  </a:ext>
                </a:extLst>
              </p:cNvPr>
              <p:cNvSpPr/>
              <p:nvPr/>
            </p:nvSpPr>
            <p:spPr>
              <a:xfrm>
                <a:off x="6324207" y="2274838"/>
                <a:ext cx="4478910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  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+3.5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subject to: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≤12.5</m:t>
                      </m:r>
                    </m:oMath>
                    <m:oMath xmlns:m="http://schemas.openxmlformats.org/officeDocument/2006/math"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and</a:t>
                </a:r>
                <a:b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r>
                  <a:rPr lang="en-GB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aln/>
                      </m:rP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i="1" dirty="0">
                    <a:latin typeface="Cambria Math" panose="02040503050406030204" pitchFamily="18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GB" sz="1400" u="sng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39D913-DBA6-41A7-A6FF-04DADB6B07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207" y="2274838"/>
                <a:ext cx="4478910" cy="2585323"/>
              </a:xfrm>
              <a:prstGeom prst="rect">
                <a:avLst/>
              </a:prstGeom>
              <a:blipFill>
                <a:blip r:embed="rId4"/>
                <a:stretch>
                  <a:fillRect l="-1088" t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910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</a:t>
            </a:r>
            <a:endParaRPr lang="en-GB" u="sn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9BE875-AED9-4B43-8405-70C75D23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7 items, can only carry 10kg, which to pick to maximise value?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4B6D9F-40C1-4F8A-8A0C-65E39ED83B22}"/>
              </a:ext>
            </a:extLst>
          </p:cNvPr>
          <p:cNvSpPr/>
          <p:nvPr/>
        </p:nvSpPr>
        <p:spPr>
          <a:xfrm>
            <a:off x="1118681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E30B0-14A1-4354-AB88-EAADC51F6254}"/>
              </a:ext>
            </a:extLst>
          </p:cNvPr>
          <p:cNvSpPr/>
          <p:nvPr/>
        </p:nvSpPr>
        <p:spPr>
          <a:xfrm>
            <a:off x="2292485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3454BB-1A11-45E6-8C64-7ECE7B3FD3B9}"/>
              </a:ext>
            </a:extLst>
          </p:cNvPr>
          <p:cNvSpPr/>
          <p:nvPr/>
        </p:nvSpPr>
        <p:spPr>
          <a:xfrm>
            <a:off x="3466289" y="2524328"/>
            <a:ext cx="963038" cy="9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</a:t>
            </a:r>
          </a:p>
          <a:p>
            <a:pPr algn="ctr"/>
            <a:r>
              <a:rPr lang="en-GB" dirty="0"/>
              <a:t> 2kg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E8D87E-4888-4322-899C-5B4B73531CE1}"/>
              </a:ext>
            </a:extLst>
          </p:cNvPr>
          <p:cNvSpPr/>
          <p:nvPr/>
        </p:nvSpPr>
        <p:spPr>
          <a:xfrm>
            <a:off x="4786007" y="2524328"/>
            <a:ext cx="1196503" cy="15321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£100</a:t>
            </a:r>
          </a:p>
          <a:p>
            <a:pPr algn="ctr"/>
            <a:r>
              <a:rPr lang="en-GB" dirty="0"/>
              <a:t> 6kg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F3A4E8-F3FA-420B-B707-772125EB726F}"/>
              </a:ext>
            </a:extLst>
          </p:cNvPr>
          <p:cNvSpPr/>
          <p:nvPr/>
        </p:nvSpPr>
        <p:spPr>
          <a:xfrm>
            <a:off x="6209492" y="2524328"/>
            <a:ext cx="1196503" cy="15321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£100</a:t>
            </a:r>
          </a:p>
          <a:p>
            <a:pPr algn="ctr"/>
            <a:r>
              <a:rPr lang="en-GB" dirty="0"/>
              <a:t> 6kg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2D377C-9063-4BA8-8E03-1A4D97C01BE0}"/>
              </a:ext>
            </a:extLst>
          </p:cNvPr>
          <p:cNvSpPr/>
          <p:nvPr/>
        </p:nvSpPr>
        <p:spPr>
          <a:xfrm>
            <a:off x="1118681" y="3775953"/>
            <a:ext cx="1546698" cy="17882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£130</a:t>
            </a:r>
          </a:p>
          <a:p>
            <a:pPr algn="ctr"/>
            <a:r>
              <a:rPr lang="en-GB" dirty="0"/>
              <a:t> 8kg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31E75D-2538-4342-A4B9-EF964DBDB385}"/>
              </a:ext>
            </a:extLst>
          </p:cNvPr>
          <p:cNvSpPr/>
          <p:nvPr/>
        </p:nvSpPr>
        <p:spPr>
          <a:xfrm>
            <a:off x="2837234" y="3775953"/>
            <a:ext cx="1180289" cy="127114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£70</a:t>
            </a:r>
          </a:p>
          <a:p>
            <a:pPr algn="ctr"/>
            <a:r>
              <a:rPr lang="en-GB" dirty="0"/>
              <a:t> 3kg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550956-F06E-4B25-91B5-4F3A4E6A07F2}"/>
              </a:ext>
            </a:extLst>
          </p:cNvPr>
          <p:cNvGrpSpPr/>
          <p:nvPr/>
        </p:nvGrpSpPr>
        <p:grpSpPr>
          <a:xfrm>
            <a:off x="8174479" y="2764428"/>
            <a:ext cx="3189976" cy="3811317"/>
            <a:chOff x="8686798" y="2365646"/>
            <a:chExt cx="3189976" cy="3811317"/>
          </a:xfrm>
        </p:grpSpPr>
        <p:pic>
          <p:nvPicPr>
            <p:cNvPr id="18" name="Picture 2" descr="Image result for knapsack cartoon">
              <a:extLst>
                <a:ext uri="{FF2B5EF4-FFF2-40B4-BE49-F238E27FC236}">
                  <a16:creationId xmlns:a16="http://schemas.microsoft.com/office/drawing/2014/main" id="{EF88B0A5-A3A5-4FA7-9ED8-2F779E41D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798" y="2365646"/>
              <a:ext cx="3189976" cy="3811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A80403-07C6-4DA0-8029-7907A9C4C990}"/>
                </a:ext>
              </a:extLst>
            </p:cNvPr>
            <p:cNvSpPr txBox="1"/>
            <p:nvPr/>
          </p:nvSpPr>
          <p:spPr>
            <a:xfrm>
              <a:off x="10134794" y="2976664"/>
              <a:ext cx="6319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10kg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2277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6238E36-F671-44E2-A37A-C7A91B3D9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170221"/>
                  </p:ext>
                </p:extLst>
              </p:nvPr>
            </p:nvGraphicFramePr>
            <p:xfrm>
              <a:off x="6674177" y="1460919"/>
              <a:ext cx="489554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516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681003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Item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Weight (kg)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Value (£)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C6238E36-F671-44E2-A37A-C7A91B3D92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8170221"/>
                  </p:ext>
                </p:extLst>
              </p:nvPr>
            </p:nvGraphicFramePr>
            <p:xfrm>
              <a:off x="6674177" y="1460919"/>
              <a:ext cx="4895544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9516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819374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681003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37" t="-8197" r="-253275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6923" t="-8197" r="-93980" b="-7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1667" t="-8197" r="-1812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B4BF9A-C329-400F-AE3F-748A9A8F87B1}"/>
                  </a:ext>
                </a:extLst>
              </p:cNvPr>
              <p:cNvSpPr txBox="1"/>
              <p:nvPr/>
            </p:nvSpPr>
            <p:spPr>
              <a:xfrm>
                <a:off x="838200" y="1276253"/>
                <a:ext cx="2924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items and a capacity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B4BF9A-C329-400F-AE3F-748A9A8F8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76253"/>
                <a:ext cx="2924840" cy="369332"/>
              </a:xfrm>
              <a:prstGeom prst="rect">
                <a:avLst/>
              </a:prstGeom>
              <a:blipFill>
                <a:blip r:embed="rId4"/>
                <a:stretch>
                  <a:fillRect l="-1879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E1AEC58-0715-AB1E-519D-80BD50A3AC27}"/>
              </a:ext>
            </a:extLst>
          </p:cNvPr>
          <p:cNvGrpSpPr/>
          <p:nvPr/>
        </p:nvGrpSpPr>
        <p:grpSpPr>
          <a:xfrm>
            <a:off x="838200" y="1858145"/>
            <a:ext cx="6096000" cy="3553488"/>
            <a:chOff x="838200" y="1858145"/>
            <a:chExt cx="6096000" cy="35534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F37846F-943D-4BF2-B269-643BE66BF636}"/>
                    </a:ext>
                  </a:extLst>
                </p:cNvPr>
                <p:cNvSpPr/>
                <p:nvPr/>
              </p:nvSpPr>
              <p:spPr>
                <a:xfrm>
                  <a:off x="838200" y="1858145"/>
                  <a:ext cx="6096000" cy="2435795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r>
                    <a:rPr lang="en-GB" dirty="0"/>
                    <a:t>maximise		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GB" dirty="0"/>
                </a:p>
                <a:p>
                  <a:r>
                    <a:rPr lang="en-GB" dirty="0"/>
                    <a:t>subject to: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oMath>
                    </m:oMathPara>
                  </a14:m>
                  <a:endParaRPr lang="en-GB" dirty="0"/>
                </a:p>
                <a:p>
                  <a:r>
                    <a:rPr lang="en-GB" dirty="0"/>
                    <a:t>   	          	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F37846F-943D-4BF2-B269-643BE66BF6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1858145"/>
                  <a:ext cx="6096000" cy="2435795"/>
                </a:xfrm>
                <a:prstGeom prst="rect">
                  <a:avLst/>
                </a:prstGeom>
                <a:blipFill>
                  <a:blip r:embed="rId5"/>
                  <a:stretch>
                    <a:fillRect l="-900" t="-150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A3DC00-F0F5-4906-ADFA-EBD1C1CA722E}"/>
                    </a:ext>
                  </a:extLst>
                </p:cNvPr>
                <p:cNvSpPr txBox="1"/>
                <p:nvPr/>
              </p:nvSpPr>
              <p:spPr>
                <a:xfrm>
                  <a:off x="838200" y="5042301"/>
                  <a:ext cx="36147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For our example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a14:m>
                  <a:r>
                    <a:rPr lang="en-GB" dirty="0"/>
                    <a:t> and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A3DC00-F0F5-4906-ADFA-EBD1C1CA72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5042301"/>
                  <a:ext cx="361470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520" t="-8197" b="-24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7669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Knapsack Problem via </a:t>
            </a:r>
            <a:r>
              <a:rPr lang="en-GB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37846F-943D-4BF2-B269-643BE66BF636}"/>
                  </a:ext>
                </a:extLst>
              </p:cNvPr>
              <p:cNvSpPr/>
              <p:nvPr/>
            </p:nvSpPr>
            <p:spPr>
              <a:xfrm>
                <a:off x="960748" y="1349098"/>
                <a:ext cx="4176860" cy="248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Maximise		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subject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≤10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   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    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37846F-943D-4BF2-B269-643BE66BF6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48" y="1349098"/>
                <a:ext cx="4176860" cy="2482859"/>
              </a:xfrm>
              <a:prstGeom prst="rect">
                <a:avLst/>
              </a:prstGeom>
              <a:blipFill>
                <a:blip r:embed="rId2"/>
                <a:stretch>
                  <a:fillRect l="-1314" t="-12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986D5A-6EE9-4558-9842-A7DCFC713A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348293"/>
                  </p:ext>
                </p:extLst>
              </p:nvPr>
            </p:nvGraphicFramePr>
            <p:xfrm>
              <a:off x="470554" y="4118614"/>
              <a:ext cx="3770722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60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401347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294768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Item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Weight (kg)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Value (£) -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endParaRPr lang="en-GB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2734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9986D5A-6EE9-4558-9842-A7DCFC713A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2348293"/>
                  </p:ext>
                </p:extLst>
              </p:nvPr>
            </p:nvGraphicFramePr>
            <p:xfrm>
              <a:off x="470554" y="4118614"/>
              <a:ext cx="3770722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4607">
                      <a:extLst>
                        <a:ext uri="{9D8B030D-6E8A-4147-A177-3AD203B41FA5}">
                          <a16:colId xmlns:a16="http://schemas.microsoft.com/office/drawing/2014/main" val="1926681466"/>
                        </a:ext>
                      </a:extLst>
                    </a:gridCol>
                    <a:gridCol w="1401347">
                      <a:extLst>
                        <a:ext uri="{9D8B030D-6E8A-4147-A177-3AD203B41FA5}">
                          <a16:colId xmlns:a16="http://schemas.microsoft.com/office/drawing/2014/main" val="2776989404"/>
                        </a:ext>
                      </a:extLst>
                    </a:gridCol>
                    <a:gridCol w="1294768">
                      <a:extLst>
                        <a:ext uri="{9D8B030D-6E8A-4147-A177-3AD203B41FA5}">
                          <a16:colId xmlns:a16="http://schemas.microsoft.com/office/drawing/2014/main" val="290084743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8" t="-2000" r="-253977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957" t="-2000" r="-94348" b="-7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1080" t="-2000" r="-1878" b="-7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985406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012406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84538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191721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674672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62513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130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283523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400" dirty="0"/>
                            <a:t>70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101920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01CAB1A-C766-6FFC-F912-46506166C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583" y="1458298"/>
            <a:ext cx="7611948" cy="455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79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1A3B54-7426-4472-B580-E94AB5BF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/>
          </a:bodyPr>
          <a:lstStyle/>
          <a:p>
            <a:r>
              <a:rPr lang="en-US" sz="2400" dirty="0"/>
              <a:t>There are six cities in region R. The region must determine where to build fire stations. </a:t>
            </a:r>
          </a:p>
          <a:p>
            <a:r>
              <a:rPr lang="en-US" sz="2400" dirty="0"/>
              <a:t>The region wants to build the minimum number of fire stations and ensure that at least one fire station is within 15 minutes of each city.</a:t>
            </a:r>
          </a:p>
          <a:p>
            <a:endParaRPr lang="en-US" sz="1100" dirty="0"/>
          </a:p>
          <a:p>
            <a:pPr marL="0" indent="0">
              <a:buNone/>
            </a:pPr>
            <a:r>
              <a:rPr lang="en-US" sz="2400" dirty="0"/>
              <a:t> The times (in minutes) required to drive between cities are: </a:t>
            </a:r>
          </a:p>
          <a:p>
            <a:pPr marL="0" indent="0">
              <a:buNone/>
            </a:pPr>
            <a:endParaRPr lang="en-GB" sz="24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740908"/>
              </p:ext>
            </p:extLst>
          </p:nvPr>
        </p:nvGraphicFramePr>
        <p:xfrm>
          <a:off x="1824612" y="3896995"/>
          <a:ext cx="8128001" cy="2595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656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1A3B54-7426-4472-B580-E94AB5BF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97" y="1342894"/>
            <a:ext cx="9167041" cy="9846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400" dirty="0"/>
              <a:t>Think of the cities as a network.</a:t>
            </a:r>
          </a:p>
          <a:p>
            <a:pPr marL="0" indent="0">
              <a:buNone/>
            </a:pPr>
            <a:r>
              <a:rPr lang="en-GB" sz="2400" dirty="0"/>
              <a:t>Keep only the links of 15 minutes or less (entries ≤ 15 in the table).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124360"/>
              </p:ext>
            </p:extLst>
          </p:nvPr>
        </p:nvGraphicFramePr>
        <p:xfrm>
          <a:off x="401165" y="2599055"/>
          <a:ext cx="8128001" cy="2595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35FE97-3CD3-48BC-A4D9-430DE6A1AE72}"/>
              </a:ext>
            </a:extLst>
          </p:cNvPr>
          <p:cNvSpPr txBox="1">
            <a:spLocks/>
          </p:cNvSpPr>
          <p:nvPr/>
        </p:nvSpPr>
        <p:spPr>
          <a:xfrm>
            <a:off x="445797" y="5466411"/>
            <a:ext cx="9167041" cy="984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By inspection, build in cities 2 and 4.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Covers 1,2,6 and 3,4,5.</a:t>
            </a:r>
          </a:p>
        </p:txBody>
      </p:sp>
    </p:spTree>
    <p:extLst>
      <p:ext uri="{BB962C8B-B14F-4D97-AF65-F5344CB8AC3E}">
        <p14:creationId xmlns:p14="http://schemas.microsoft.com/office/powerpoint/2010/main" val="377027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637832"/>
              </p:ext>
            </p:extLst>
          </p:nvPr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9323895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Let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fire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station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built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  <m:r>
                              <m:rPr>
                                <m:nor/>
                              </m:rPr>
                              <a:rPr lang="en-GB" sz="2400" b="0" i="0" smtClean="0">
                                <a:latin typeface="Cambria Math" panose="02040503050406030204" pitchFamily="18" charset="0"/>
                              </a:rPr>
                              <m:t>                    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r>
                  <a:rPr lang="en-GB" sz="2400" dirty="0"/>
                  <a:t> 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Objective?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Minimise the number of fire stations built!</a:t>
                </a:r>
              </a:p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9323895" cy="4657580"/>
              </a:xfrm>
              <a:blipFill>
                <a:blip r:embed="rId2"/>
                <a:stretch>
                  <a:fillRect l="-1046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8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/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8138665" cy="465758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Constraints?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Consider City 1, who can reach it in 15 minutes?</a:t>
                </a:r>
              </a:p>
              <a:p>
                <a:r>
                  <a:rPr lang="en-GB" sz="2400" dirty="0"/>
                  <a:t>City 1 and City 2 </a:t>
                </a:r>
              </a:p>
              <a:p>
                <a:endParaRPr lang="en-GB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1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Consider City 2, who can reach it in 15 minutes?</a:t>
                </a:r>
              </a:p>
              <a:p>
                <a:r>
                  <a:rPr lang="en-GB" sz="2400" dirty="0"/>
                  <a:t>City 1, City 2 and City 6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2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8138665" cy="4657580"/>
              </a:xfrm>
              <a:blipFill>
                <a:blip r:embed="rId3"/>
                <a:stretch>
                  <a:fillRect l="-1199" t="-2487" b="-14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42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8A27961-09A4-4B98-B611-77D2EC878B16}"/>
              </a:ext>
            </a:extLst>
          </p:cNvPr>
          <p:cNvGraphicFramePr>
            <a:graphicFrameLocks noGrp="1"/>
          </p:cNvGraphicFramePr>
          <p:nvPr/>
        </p:nvGraphicFramePr>
        <p:xfrm>
          <a:off x="7480697" y="1071418"/>
          <a:ext cx="4104842" cy="2133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6406">
                  <a:extLst>
                    <a:ext uri="{9D8B030D-6E8A-4147-A177-3AD203B41FA5}">
                      <a16:colId xmlns:a16="http://schemas.microsoft.com/office/drawing/2014/main" val="104652081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476028075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46753874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949666296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1720813093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3087542261"/>
                    </a:ext>
                  </a:extLst>
                </a:gridCol>
                <a:gridCol w="586406">
                  <a:extLst>
                    <a:ext uri="{9D8B030D-6E8A-4147-A177-3AD203B41FA5}">
                      <a16:colId xmlns:a16="http://schemas.microsoft.com/office/drawing/2014/main" val="2817878240"/>
                    </a:ext>
                  </a:extLst>
                </a:gridCol>
              </a:tblGrid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913981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4090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02110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42314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487898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9493"/>
                  </a:ext>
                </a:extLst>
              </a:tr>
              <a:tr h="30070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1799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9383"/>
                <a:ext cx="7306559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:r>
                  <a:rPr lang="en-GB" sz="2400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	(City 1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2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	(City 3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4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5 Constraint)</a:t>
                </a:r>
              </a:p>
              <a:p>
                <a:pPr marL="0" indent="0">
                  <a:buNone/>
                </a:pPr>
                <a:r>
                  <a:rPr lang="en-GB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2400" dirty="0"/>
                  <a:t>	(City 6 Constraint)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9383"/>
                <a:ext cx="7306559" cy="4657580"/>
              </a:xfrm>
              <a:blipFill>
                <a:blip r:embed="rId3"/>
                <a:stretch>
                  <a:fillRect l="-1336" t="-1832" b="-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17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712F17-711D-489F-997B-7EE688F7E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383"/>
            <a:ext cx="7306559" cy="46575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2FA12C9-F212-4EB6-8B38-9DD0BD7EB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671783"/>
                <a:ext cx="1036320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3"/>
                                <m:mcJc m:val="center"/>
                              </m:mcPr>
                            </m:mc>
                          </m:mcs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/>
                          <m:e/>
                        </m:mr>
                      </m:m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3"/>
                                <m:mcJc m:val="center"/>
                              </m:mcPr>
                            </m:mc>
                          </m:mcs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 </m:t>
                            </m:r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/>
                          <m:e/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/>
                          <m:e/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/>
                          <m:e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/>
                          <m:e/>
                          <m:e/>
                          <m:e/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</m: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Content Placeholder 4">
                <a:extLst>
                  <a:ext uri="{FF2B5EF4-FFF2-40B4-BE49-F238E27FC236}">
                    <a16:creationId xmlns:a16="http://schemas.microsoft.com/office/drawing/2014/main" id="{22FA12C9-F212-4EB6-8B38-9DD0BD7EB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671783"/>
                <a:ext cx="10363200" cy="4657580"/>
              </a:xfrm>
              <a:prstGeom prst="rect">
                <a:avLst/>
              </a:prstGeom>
              <a:blipFill>
                <a:blip r:embed="rId2"/>
                <a:stretch>
                  <a:fillRect l="-941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34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Set Covering Problem - </a:t>
            </a:r>
            <a:r>
              <a:rPr lang="en-US" dirty="0"/>
              <a:t>Fire Stations Example 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4166994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8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subject to: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	       (City 1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2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	        (City 3 Constraint) 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4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5 Constraint)</a:t>
                </a:r>
              </a:p>
              <a:p>
                <a:pPr marL="0" indent="0">
                  <a:buNone/>
                </a:pPr>
                <a:r>
                  <a:rPr lang="en-GB" sz="18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sz="1800" dirty="0"/>
                  <a:t>      (City 6 Constraint)</a:t>
                </a:r>
              </a:p>
              <a:p>
                <a:pPr marL="0" indent="0">
                  <a:buNone/>
                </a:pPr>
                <a:endParaRPr lang="en-GB" sz="1800" dirty="0"/>
              </a:p>
              <a:p>
                <a:pPr marL="0" indent="0">
                  <a:buNone/>
                </a:pPr>
                <a:r>
                  <a:rPr lang="en-GB" sz="1800" dirty="0"/>
                  <a:t>and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8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8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8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800" dirty="0"/>
              </a:p>
              <a:p>
                <a:pPr marL="0" indent="0">
                  <a:buNone/>
                </a:pPr>
                <a:endParaRPr lang="en-GB" sz="1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4166994" cy="4657580"/>
              </a:xfrm>
              <a:blipFill>
                <a:blip r:embed="rId2"/>
                <a:stretch>
                  <a:fillRect l="-1170" t="-1178" r="-10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1BCACB5-32B2-A811-3B81-81D6CB21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437" y="1349185"/>
            <a:ext cx="7203974" cy="481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94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b="0" i="1" dirty="0">
                    <a:latin typeface="Cambria Math" panose="02040503050406030204" pitchFamily="18" charset="0"/>
                  </a:rPr>
                  <a:t> – </a:t>
                </a:r>
                <a:r>
                  <a:rPr lang="en-GB" sz="2400" dirty="0"/>
                  <a:t>All possible sets to choose from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– A given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GB" sz="2400" dirty="0"/>
                  <a:t> - Set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2400" dirty="0"/>
                  <a:t> chosen or not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Set of all elements contained in S</a:t>
                </a:r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329" t="-20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6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57E94D-7ABF-4564-B18E-07C6410587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General Set Covering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minimise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E712F17-711D-489F-997B-7EE688F7E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141" y="1428161"/>
                <a:ext cx="5562160" cy="4657580"/>
              </a:xfrm>
              <a:blipFill>
                <a:blip r:embed="rId2"/>
                <a:stretch>
                  <a:fillRect l="-1643" t="-18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4,5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={3,4}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400" dirty="0"/>
                  <a:t>Covers with 3 sets (the minimum is 2: {s1, s4})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400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08A163D-DDEA-4F46-8AC5-B1ED0960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01" y="1545257"/>
                <a:ext cx="5562160" cy="4657580"/>
              </a:xfrm>
              <a:prstGeom prst="rect">
                <a:avLst/>
              </a:prstGeom>
              <a:blipFill>
                <a:blip r:embed="rId3"/>
                <a:stretch>
                  <a:fillRect l="-1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966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5167"/>
                <a:ext cx="6967194" cy="47817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Maximise the expected profit given that you have a budget of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£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lang="en-GB" dirty="0"/>
                  <a:t> and can order a maximum of 10 kg per item.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addition, add the following:</a:t>
                </a:r>
              </a:p>
              <a:p>
                <a:r>
                  <a:rPr lang="en-GB" dirty="0"/>
                  <a:t>Minimum order placed must be at least 6 kg</a:t>
                </a:r>
              </a:p>
              <a:p>
                <a:pPr lvl="1"/>
                <a:r>
                  <a:rPr lang="en-GB" dirty="0"/>
                  <a:t>You can order at most 2 different items</a:t>
                </a:r>
              </a:p>
              <a:p>
                <a:pPr lvl="1"/>
                <a:r>
                  <a:rPr lang="en-GB" dirty="0"/>
                  <a:t>You can order either item 1 or item 4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5167"/>
                <a:ext cx="6967194" cy="4781796"/>
              </a:xfrm>
              <a:blipFill>
                <a:blip r:embed="rId2"/>
                <a:stretch>
                  <a:fillRect l="-1839" t="-2168" r="-1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1B876616-1C15-4AB5-BA64-DEC40A67D88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841ABB-95A8-4FD4-919D-68E4E4202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345541"/>
              </p:ext>
            </p:extLst>
          </p:nvPr>
        </p:nvGraphicFramePr>
        <p:xfrm>
          <a:off x="7682845" y="365125"/>
          <a:ext cx="413836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279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02936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</a:t>
                      </a:r>
                    </a:p>
                    <a:p>
                      <a:r>
                        <a:rPr lang="en-GB" dirty="0"/>
                        <a:t>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</a:t>
                      </a:r>
                    </a:p>
                    <a:p>
                      <a:r>
                        <a:rPr lang="en-GB" dirty="0"/>
                        <a:t>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978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6887"/>
                <a:ext cx="7429107" cy="481007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Maximum order of 10 kg per item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≥0,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≤10,  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6887"/>
                <a:ext cx="7429107" cy="4810076"/>
              </a:xfrm>
              <a:blipFill>
                <a:blip r:embed="rId2"/>
                <a:stretch>
                  <a:fillRect l="-1478" t="-31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519180"/>
              </p:ext>
            </p:extLst>
          </p:nvPr>
        </p:nvGraphicFramePr>
        <p:xfrm>
          <a:off x="7682845" y="365125"/>
          <a:ext cx="41383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279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02936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2234152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CED9EDD6-DDE7-4E00-956B-87651705295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Basic Model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AD87E-AAC5-49AC-83B9-908B2225A26E}"/>
                  </a:ext>
                </a:extLst>
              </p:cNvPr>
              <p:cNvSpPr txBox="1"/>
              <p:nvPr/>
            </p:nvSpPr>
            <p:spPr>
              <a:xfrm>
                <a:off x="7125092" y="2887682"/>
                <a:ext cx="49694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Profit (per kg) for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Cost (per kg) for item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7AD87E-AAC5-49AC-83B9-908B2225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092" y="2887682"/>
                <a:ext cx="4969498" cy="1200329"/>
              </a:xfrm>
              <a:prstGeom prst="rect">
                <a:avLst/>
              </a:prstGeom>
              <a:blipFill>
                <a:blip r:embed="rId3"/>
                <a:stretch>
                  <a:fillRect t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9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Minimum order per item is at least 6 kg</a:t>
                </a:r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What is wrong with this?</a:t>
                </a:r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Answer: I don’t have to order an item! </a:t>
                </a:r>
              </a:p>
              <a:p>
                <a:pPr marL="0" indent="0">
                  <a:buNone/>
                </a:pPr>
                <a:r>
                  <a:rPr lang="en-GB" dirty="0"/>
                  <a:t>This requires at least 6 kg of every item to be chosen.</a:t>
                </a:r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  <a:blipFill>
                <a:blip r:embed="rId2"/>
                <a:stretch>
                  <a:fillRect l="-819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Updated Problem</a:t>
            </a:r>
            <a:endParaRPr lang="en-GB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7BE5A-63D3-4501-98F2-13904E875854}"/>
              </a:ext>
            </a:extLst>
          </p:cNvPr>
          <p:cNvSpPr txBox="1"/>
          <p:nvPr/>
        </p:nvSpPr>
        <p:spPr>
          <a:xfrm>
            <a:off x="6825006" y="4760537"/>
            <a:ext cx="51886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 want to say the following.</a:t>
            </a:r>
          </a:p>
          <a:p>
            <a:endParaRPr lang="en-GB" dirty="0"/>
          </a:p>
          <a:p>
            <a:r>
              <a:rPr lang="en-GB" b="1" dirty="0"/>
              <a:t>IF</a:t>
            </a:r>
            <a:r>
              <a:rPr lang="en-GB" dirty="0"/>
              <a:t> I choose to order an Item </a:t>
            </a:r>
            <a:r>
              <a:rPr lang="en-GB" b="1" dirty="0"/>
              <a:t>THEN</a:t>
            </a:r>
          </a:p>
          <a:p>
            <a:r>
              <a:rPr lang="en-GB" b="1" dirty="0"/>
              <a:t>	</a:t>
            </a:r>
            <a:r>
              <a:rPr lang="en-GB" dirty="0"/>
              <a:t>I must order at least 6 kg and at most 10 kg</a:t>
            </a:r>
            <a:endParaRPr lang="en-GB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3AC71B-D6CF-4934-B8A1-1AE08E69646F}"/>
              </a:ext>
            </a:extLst>
          </p:cNvPr>
          <p:cNvCxnSpPr/>
          <p:nvPr/>
        </p:nvCxnSpPr>
        <p:spPr>
          <a:xfrm>
            <a:off x="6004874" y="5392132"/>
            <a:ext cx="6598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53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Minimum order per item is at least 6 kg</a:t>
                </a:r>
              </a:p>
              <a:p>
                <a:pPr marL="0" indent="0">
                  <a:buNone/>
                </a:pPr>
                <a:r>
                  <a:rPr lang="en-GB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(1)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(2)</m:t>
                      </m:r>
                    </m:oMath>
                  </m:oMathPara>
                </a14:m>
                <a:endParaRPr lang="en-GB" b="0" i="1" dirty="0"/>
              </a:p>
              <a:p>
                <a:pPr marL="0" indent="0">
                  <a:buNone/>
                </a:pPr>
                <a:r>
                  <a:rPr lang="en-GB" b="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6703243" cy="4970332"/>
              </a:xfrm>
              <a:blipFill>
                <a:blip r:embed="rId2"/>
                <a:stretch>
                  <a:fillRect l="-1456" t="-23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Binary Variables!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6C748-C0E5-41DF-9741-5DB58E9CC675}"/>
                  </a:ext>
                </a:extLst>
              </p:cNvPr>
              <p:cNvSpPr txBox="1"/>
              <p:nvPr/>
            </p:nvSpPr>
            <p:spPr>
              <a:xfrm>
                <a:off x="6221691" y="2887682"/>
                <a:ext cx="5872899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– 1 if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picked, 0 if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not picked</a:t>
                </a:r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b="0" dirty="0"/>
                  <a:t>, constraints (1) and (2) become: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i.e. You </a:t>
                </a:r>
                <a:r>
                  <a:rPr lang="en-GB" b="1" dirty="0"/>
                  <a:t>don’t</a:t>
                </a:r>
                <a:r>
                  <a:rPr lang="en-GB" dirty="0"/>
                  <a:t> choose item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– force lower and upper bounds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, constraints (1) and (2) become: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≥6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i.e. You </a:t>
                </a:r>
                <a:r>
                  <a:rPr lang="en-GB" b="1" dirty="0"/>
                  <a:t>do</a:t>
                </a:r>
                <a:r>
                  <a:rPr lang="en-GB" dirty="0"/>
                  <a:t> choose item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– force lower and upper bounds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6≤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26C748-C0E5-41DF-9741-5DB58E9CC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691" y="2887682"/>
                <a:ext cx="5872899" cy="4247317"/>
              </a:xfrm>
              <a:prstGeom prst="rect">
                <a:avLst/>
              </a:prstGeom>
              <a:blipFill>
                <a:blip r:embed="rId3"/>
                <a:stretch>
                  <a:fillRect l="-935" t="-8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50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 </a:t>
            </a:r>
            <a:r>
              <a:rPr lang="en-GB" dirty="0" err="1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46028B5-D713-444A-8C5B-9F197A6C91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06631"/>
                <a:ext cx="4638773" cy="49703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Minimum order per item is at least 6 kg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Maximise	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subject to: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200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46028B5-D713-444A-8C5B-9F197A6C9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6631"/>
                <a:ext cx="4638773" cy="4970332"/>
              </a:xfrm>
              <a:prstGeom prst="rect">
                <a:avLst/>
              </a:prstGeom>
              <a:blipFill>
                <a:blip r:embed="rId2"/>
                <a:stretch>
                  <a:fillRect l="-1447" t="-13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1BCC93E-64C9-A0F4-389B-E8CD9052C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96" y="1742234"/>
            <a:ext cx="6958988" cy="501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74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order at most 2 different items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  <a:blipFill>
                <a:blip r:embed="rId2"/>
                <a:stretch>
                  <a:fillRect l="-493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Additional Constraint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391480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 </a:t>
            </a:r>
            <a:r>
              <a:rPr lang="en-GB" dirty="0" err="1"/>
              <a:t>Pyomo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A070FD-2FBD-44F1-BCE6-C0DAC3A33F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206631"/>
                <a:ext cx="4223994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order at most 2 different items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A070FD-2FBD-44F1-BCE6-C0DAC3A33F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206631"/>
                <a:ext cx="4223994" cy="4970332"/>
              </a:xfrm>
              <a:blipFill>
                <a:blip r:embed="rId2"/>
                <a:stretch>
                  <a:fillRect l="-867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A47B6C8-F94A-ED6D-5201-9BDEA395D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689" y="1299991"/>
            <a:ext cx="7148790" cy="533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91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600" dirty="0"/>
                  <a:t>You can only order either item 1 or item 4, not both</a:t>
                </a:r>
              </a:p>
              <a:p>
                <a:pPr marL="0" indent="0">
                  <a:buNone/>
                </a:pPr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AAB4CA-C581-40AD-A67E-BBCA4F205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6631"/>
                <a:ext cx="7429107" cy="4970332"/>
              </a:xfrm>
              <a:blipFill>
                <a:blip r:embed="rId2"/>
                <a:stretch>
                  <a:fillRect l="-493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F9F96BF-1864-4775-AD5B-122B66937289}"/>
              </a:ext>
            </a:extLst>
          </p:cNvPr>
          <p:cNvGraphicFramePr>
            <a:graphicFrameLocks noGrp="1"/>
          </p:cNvGraphicFramePr>
          <p:nvPr/>
        </p:nvGraphicFramePr>
        <p:xfrm>
          <a:off x="7810630" y="365125"/>
          <a:ext cx="401058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21">
                  <a:extLst>
                    <a:ext uri="{9D8B030D-6E8A-4147-A177-3AD203B41FA5}">
                      <a16:colId xmlns:a16="http://schemas.microsoft.com/office/drawing/2014/main" val="2988077324"/>
                    </a:ext>
                  </a:extLst>
                </a:gridCol>
                <a:gridCol w="1137261">
                  <a:extLst>
                    <a:ext uri="{9D8B030D-6E8A-4147-A177-3AD203B41FA5}">
                      <a16:colId xmlns:a16="http://schemas.microsoft.com/office/drawing/2014/main" val="3948684592"/>
                    </a:ext>
                  </a:extLst>
                </a:gridCol>
                <a:gridCol w="1977400">
                  <a:extLst>
                    <a:ext uri="{9D8B030D-6E8A-4147-A177-3AD203B41FA5}">
                      <a16:colId xmlns:a16="http://schemas.microsoft.com/office/drawing/2014/main" val="3975468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Cost (per 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Expected Profit (per kg)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3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26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5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21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590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48738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</p:spTree>
    <p:extLst>
      <p:ext uri="{BB962C8B-B14F-4D97-AF65-F5344CB8AC3E}">
        <p14:creationId xmlns:p14="http://schemas.microsoft.com/office/powerpoint/2010/main" val="268538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0B0B7E-0A20-4067-96A0-A6B0EAA08C0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062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Purchasing Problem</a:t>
            </a:r>
            <a:endParaRPr lang="en-GB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0B82477-CCF4-48EB-8F46-22FDB6D87F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06631"/>
                <a:ext cx="4497371" cy="49703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You can only order either item 1 or item 4, not both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Maximise	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subject to: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≥6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1600" dirty="0"/>
                  <a:t>and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GB" sz="1600" i="1">
                          <a:latin typeface="Cambria Math" panose="02040503050406030204" pitchFamily="18" charset="0"/>
                        </a:rPr>
                        <m:t>,  ∀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sz="1600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1600" i="1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0B82477-CCF4-48EB-8F46-22FDB6D87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6631"/>
                <a:ext cx="4497371" cy="4970332"/>
              </a:xfrm>
              <a:prstGeom prst="rect">
                <a:avLst/>
              </a:prstGeom>
              <a:blipFill>
                <a:blip r:embed="rId2"/>
                <a:stretch>
                  <a:fillRect l="-814" t="-8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EDB2037-462E-754E-CFE1-9160DA881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71" y="1280908"/>
            <a:ext cx="6835138" cy="5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31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587AB4-D8C9-43A3-B80F-6729B49465FB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bf6b85bd-8a7e-4854-be4d-0780382295a8"/>
    <ds:schemaRef ds:uri="606370cc-c8d9-4222-8a4e-3c320f1e3034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5AB76-3B20-4758-80DF-EDDDD7C672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2172</Words>
  <Application>Microsoft Office PowerPoint</Application>
  <PresentationFormat>Widescreen</PresentationFormat>
  <Paragraphs>734</Paragraphs>
  <Slides>32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Calibri</vt:lpstr>
      <vt:lpstr>Arial</vt:lpstr>
      <vt:lpstr>Cambria Math</vt:lpstr>
      <vt:lpstr>Calibri Light</vt:lpstr>
      <vt:lpstr>Office Theme</vt:lpstr>
      <vt:lpstr>Mixed Integer Programming</vt:lpstr>
      <vt:lpstr>Contents</vt:lpstr>
      <vt:lpstr>Blank Slide</vt:lpstr>
      <vt:lpstr>Review</vt:lpstr>
      <vt:lpstr>PowerPoint Presentation</vt:lpstr>
      <vt:lpstr>Linear Program Solution Without Integers</vt:lpstr>
      <vt:lpstr>Rounded Solutions</vt:lpstr>
      <vt:lpstr>Rounded Solutions</vt:lpstr>
      <vt:lpstr>Integer Solution via Pyomo</vt:lpstr>
      <vt:lpstr>Binary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Integer Programming</dc:title>
  <dc:creator>Sam O'Neill</dc:creator>
  <cp:lastModifiedBy>Sam O'Neill</cp:lastModifiedBy>
  <cp:revision>2</cp:revision>
  <dcterms:created xsi:type="dcterms:W3CDTF">2019-10-08T20:55:29Z</dcterms:created>
  <dcterms:modified xsi:type="dcterms:W3CDTF">2025-10-23T11:34:01Z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