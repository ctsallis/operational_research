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94" r:id="rId8"/>
    <p:sldId id="293" r:id="rId9"/>
    <p:sldId id="287" r:id="rId10"/>
    <p:sldId id="289" r:id="rId11"/>
    <p:sldId id="290" r:id="rId12"/>
    <p:sldId id="288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13" r:id="rId26"/>
    <p:sldId id="314" r:id="rId27"/>
    <p:sldId id="307" r:id="rId28"/>
    <p:sldId id="308" r:id="rId29"/>
    <p:sldId id="311" r:id="rId30"/>
    <p:sldId id="309" r:id="rId31"/>
    <p:sldId id="316" r:id="rId32"/>
    <p:sldId id="310" r:id="rId33"/>
    <p:sldId id="312" r:id="rId34"/>
    <p:sldId id="315" r:id="rId35"/>
    <p:sldId id="31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0-23T11:33:38.512" v="4" actId="20577"/>
      <pc:docMkLst>
        <pc:docMk/>
      </pc:docMkLst>
      <pc:sldChg chg="modSp mod">
        <pc:chgData name="Sam O'Neill" userId="cb323814-a42a-4cfe-bc74-03f595e56f6e" providerId="ADAL" clId="{17ADD47D-E5AE-440A-99C5-4F3DA05BBA04}" dt="2025-10-23T11:33:38.512" v="4" actId="20577"/>
        <pc:sldMkLst>
          <pc:docMk/>
          <pc:sldMk cId="1906797595" sldId="299"/>
        </pc:sldMkLst>
        <pc:spChg chg="mod">
          <ac:chgData name="Sam O'Neill" userId="cb323814-a42a-4cfe-bc74-03f595e56f6e" providerId="ADAL" clId="{17ADD47D-E5AE-440A-99C5-4F3DA05BBA04}" dt="2025-10-23T11:33:38.512" v="4" actId="20577"/>
          <ac:spMkLst>
            <pc:docMk/>
            <pc:sldMk cId="1906797595" sldId="299"/>
            <ac:spMk id="6" creationId="{DB57E94D-7ABF-4564-B18E-07C6410587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Mixed Integer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 –MILP</a:t>
            </a:r>
          </a:p>
          <a:p>
            <a:r>
              <a:rPr lang="en-GB" dirty="0"/>
              <a:t>Binary Variables</a:t>
            </a:r>
          </a:p>
          <a:p>
            <a:pPr lvl="1"/>
            <a:r>
              <a:rPr lang="en-GB" dirty="0"/>
              <a:t>Knapsack Example</a:t>
            </a:r>
          </a:p>
          <a:p>
            <a:pPr lvl="1"/>
            <a:r>
              <a:rPr lang="en-GB" dirty="0"/>
              <a:t>Set Covering Problem Example</a:t>
            </a:r>
          </a:p>
          <a:p>
            <a:pPr lvl="1"/>
            <a:r>
              <a:rPr lang="en-GB" dirty="0"/>
              <a:t>Purchasing Problem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GB" dirty="0"/>
              <a:t>Linear Objective</a:t>
            </a:r>
          </a:p>
          <a:p>
            <a:r>
              <a:rPr lang="en-GB" dirty="0"/>
              <a:t>Linear Constraints</a:t>
            </a:r>
          </a:p>
          <a:p>
            <a:r>
              <a:rPr lang="en-GB" dirty="0"/>
              <a:t>Some or all of the decision variables are restricted to be integers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e.g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Mixed-Integer Linear Program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/>
              <p:nvPr/>
            </p:nvSpPr>
            <p:spPr>
              <a:xfrm>
                <a:off x="1967345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5" y="3636390"/>
                <a:ext cx="4128655" cy="2290000"/>
              </a:xfrm>
              <a:prstGeom prst="rect">
                <a:avLst/>
              </a:prstGeom>
              <a:blipFill>
                <a:blip r:embed="rId2"/>
                <a:stretch>
                  <a:fillRect l="-1329" t="-1802" b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/>
              <p:nvPr/>
            </p:nvSpPr>
            <p:spPr>
              <a:xfrm>
                <a:off x="6834670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670" y="3636390"/>
                <a:ext cx="4128655" cy="2290000"/>
              </a:xfrm>
              <a:prstGeom prst="rect">
                <a:avLst/>
              </a:prstGeom>
              <a:blipFill>
                <a:blip r:embed="rId3"/>
                <a:stretch>
                  <a:fillRect l="-1182" t="-1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5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 Solution Without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C90E30B-8361-908F-6F93-2BE69F5C555C}"/>
              </a:ext>
            </a:extLst>
          </p:cNvPr>
          <p:cNvGrpSpPr/>
          <p:nvPr/>
        </p:nvGrpSpPr>
        <p:grpSpPr>
          <a:xfrm>
            <a:off x="5246654" y="1450109"/>
            <a:ext cx="6581775" cy="4562475"/>
            <a:chOff x="5246654" y="1450109"/>
            <a:chExt cx="6581775" cy="45624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9D7DB87-1C37-46CF-9899-EE47228F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6654" y="1450109"/>
              <a:ext cx="6581775" cy="45624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/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+3.5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AE6ED6-0FDE-D22E-C9FB-28161495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07" y="1376733"/>
            <a:ext cx="7293887" cy="5101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3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5C7E04-0C4C-4AA7-B4CD-8C9AA67BA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255" y="4067389"/>
            <a:ext cx="905001" cy="23053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  <a:blipFill>
                <a:blip r:embed="rId5"/>
                <a:stretch>
                  <a:fillRect l="-1310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Binary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7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 decision variable that is either 0 or 1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also an integer variable restricted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  <a:blipFill>
                <a:blip r:embed="rId2"/>
                <a:stretch>
                  <a:fillRect l="-1217" t="-2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Binary Variable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/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  <a:blipFill>
                <a:blip r:embed="rId3"/>
                <a:stretch>
                  <a:fillRect l="-1130" t="-1319" b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/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  <a:blipFill>
                <a:blip r:embed="rId4"/>
                <a:stretch>
                  <a:fillRect l="-1088" t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1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9BE875-AED9-4B43-8405-70C75D23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7 items, can only carry 10kg, which to pick to maximise value?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4B6D9F-40C1-4F8A-8A0C-65E39ED83B22}"/>
              </a:ext>
            </a:extLst>
          </p:cNvPr>
          <p:cNvSpPr/>
          <p:nvPr/>
        </p:nvSpPr>
        <p:spPr>
          <a:xfrm>
            <a:off x="1118681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E30B0-14A1-4354-AB88-EAADC51F6254}"/>
              </a:ext>
            </a:extLst>
          </p:cNvPr>
          <p:cNvSpPr/>
          <p:nvPr/>
        </p:nvSpPr>
        <p:spPr>
          <a:xfrm>
            <a:off x="2292485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454BB-1A11-45E6-8C64-7ECE7B3FD3B9}"/>
              </a:ext>
            </a:extLst>
          </p:cNvPr>
          <p:cNvSpPr/>
          <p:nvPr/>
        </p:nvSpPr>
        <p:spPr>
          <a:xfrm>
            <a:off x="3466289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8D87E-4888-4322-899C-5B4B73531CE1}"/>
              </a:ext>
            </a:extLst>
          </p:cNvPr>
          <p:cNvSpPr/>
          <p:nvPr/>
        </p:nvSpPr>
        <p:spPr>
          <a:xfrm>
            <a:off x="4786007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3A4E8-F3FA-420B-B707-772125EB726F}"/>
              </a:ext>
            </a:extLst>
          </p:cNvPr>
          <p:cNvSpPr/>
          <p:nvPr/>
        </p:nvSpPr>
        <p:spPr>
          <a:xfrm>
            <a:off x="6209492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D377C-9063-4BA8-8E03-1A4D97C01BE0}"/>
              </a:ext>
            </a:extLst>
          </p:cNvPr>
          <p:cNvSpPr/>
          <p:nvPr/>
        </p:nvSpPr>
        <p:spPr>
          <a:xfrm>
            <a:off x="1118681" y="3775953"/>
            <a:ext cx="1546698" cy="1788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£130</a:t>
            </a:r>
          </a:p>
          <a:p>
            <a:pPr algn="ctr"/>
            <a:r>
              <a:rPr lang="en-GB" dirty="0"/>
              <a:t> 8kg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1E75D-2538-4342-A4B9-EF964DBDB385}"/>
              </a:ext>
            </a:extLst>
          </p:cNvPr>
          <p:cNvSpPr/>
          <p:nvPr/>
        </p:nvSpPr>
        <p:spPr>
          <a:xfrm>
            <a:off x="2837234" y="3775953"/>
            <a:ext cx="1180289" cy="12711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£70</a:t>
            </a:r>
          </a:p>
          <a:p>
            <a:pPr algn="ctr"/>
            <a:r>
              <a:rPr lang="en-GB" dirty="0"/>
              <a:t> 3kg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550956-F06E-4B25-91B5-4F3A4E6A07F2}"/>
              </a:ext>
            </a:extLst>
          </p:cNvPr>
          <p:cNvGrpSpPr/>
          <p:nvPr/>
        </p:nvGrpSpPr>
        <p:grpSpPr>
          <a:xfrm>
            <a:off x="8174479" y="2764428"/>
            <a:ext cx="3189976" cy="3811317"/>
            <a:chOff x="8686798" y="2365646"/>
            <a:chExt cx="3189976" cy="3811317"/>
          </a:xfrm>
        </p:grpSpPr>
        <p:pic>
          <p:nvPicPr>
            <p:cNvPr id="18" name="Picture 2" descr="Image result for knapsack cartoon">
              <a:extLst>
                <a:ext uri="{FF2B5EF4-FFF2-40B4-BE49-F238E27FC236}">
                  <a16:creationId xmlns:a16="http://schemas.microsoft.com/office/drawing/2014/main" id="{EF88B0A5-A3A5-4FA7-9ED8-2F779E41D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798" y="2365646"/>
              <a:ext cx="3189976" cy="3811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80403-07C6-4DA0-8029-7907A9C4C990}"/>
                </a:ext>
              </a:extLst>
            </p:cNvPr>
            <p:cNvSpPr txBox="1"/>
            <p:nvPr/>
          </p:nvSpPr>
          <p:spPr>
            <a:xfrm>
              <a:off x="10134794" y="2976664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27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37" t="-8197" r="-25327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923" t="-8197" r="-9398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667" t="-8197" r="-1812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/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and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blipFill>
                <a:blip r:embed="rId4"/>
                <a:stretch>
                  <a:fillRect l="-187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1AEC58-0715-AB1E-519D-80BD50A3AC27}"/>
              </a:ext>
            </a:extLst>
          </p:cNvPr>
          <p:cNvGrpSpPr/>
          <p:nvPr/>
        </p:nvGrpSpPr>
        <p:grpSpPr>
          <a:xfrm>
            <a:off x="838200" y="1858145"/>
            <a:ext cx="6096000" cy="3553488"/>
            <a:chOff x="838200" y="1858145"/>
            <a:chExt cx="6096000" cy="3553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/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r>
                    <a:rPr lang="en-GB" dirty="0"/>
                    <a:t>maximise		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subject to: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   	          	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  <a:blipFill>
                  <a:blip r:embed="rId5"/>
                  <a:stretch>
                    <a:fillRect l="-900" t="-15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/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For our example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a14:m>
                  <a:r>
                    <a:rPr lang="en-GB" dirty="0"/>
                    <a:t> and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20"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66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 via </a:t>
            </a:r>
            <a:r>
              <a:rPr lang="en-GB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/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  <a:blipFill>
                <a:blip r:embed="rId2"/>
                <a:stretch>
                  <a:fillRect l="-1314" t="-1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" t="-2000" r="-253977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957" t="-2000" r="-94348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1080" t="-2000" r="-1878" b="-7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01CAB1A-C766-6FFC-F912-46506166C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583" y="1458298"/>
            <a:ext cx="7611948" cy="45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9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US" sz="2400" dirty="0"/>
              <a:t>There are six cities in region R. The region must determine where to build fire stations. </a:t>
            </a:r>
          </a:p>
          <a:p>
            <a:r>
              <a:rPr lang="en-US" sz="2400" dirty="0"/>
              <a:t>The region wants to build the minimum number of fire stations and ensure that at least one fire station is within 15 minutes of each city.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2400" dirty="0"/>
              <a:t> The times (in minutes) required to drive between cities are: </a:t>
            </a:r>
          </a:p>
          <a:p>
            <a:pPr marL="0" indent="0">
              <a:buNone/>
            </a:pPr>
            <a:endParaRPr lang="en-GB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740908"/>
              </p:ext>
            </p:extLst>
          </p:nvPr>
        </p:nvGraphicFramePr>
        <p:xfrm>
          <a:off x="1824612" y="389699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65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97" y="1342894"/>
            <a:ext cx="9167041" cy="984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/>
              <a:t>Think of the cities as a network.</a:t>
            </a:r>
          </a:p>
          <a:p>
            <a:pPr marL="0" indent="0">
              <a:buNone/>
            </a:pPr>
            <a:r>
              <a:rPr lang="en-GB" sz="2400" dirty="0"/>
              <a:t>Keep only the links of 15 minutes or less (entries ≤ 15 in the table).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24360"/>
              </p:ext>
            </p:extLst>
          </p:nvPr>
        </p:nvGraphicFramePr>
        <p:xfrm>
          <a:off x="401165" y="259905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35FE97-3CD3-48BC-A4D9-430DE6A1AE72}"/>
              </a:ext>
            </a:extLst>
          </p:cNvPr>
          <p:cNvSpPr txBox="1">
            <a:spLocks/>
          </p:cNvSpPr>
          <p:nvPr/>
        </p:nvSpPr>
        <p:spPr>
          <a:xfrm>
            <a:off x="445797" y="5466411"/>
            <a:ext cx="9167041" cy="98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 inspection, build in cities 2 and 4.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Covers 1,2,6 and 3,4,5.</a:t>
            </a:r>
          </a:p>
        </p:txBody>
      </p:sp>
    </p:spTree>
    <p:extLst>
      <p:ext uri="{BB962C8B-B14F-4D97-AF65-F5344CB8AC3E}">
        <p14:creationId xmlns:p14="http://schemas.microsoft.com/office/powerpoint/2010/main" val="377027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37832"/>
              </p:ext>
            </p:extLst>
          </p:nvPr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Let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fire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station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built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Objective?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Minimise the number of fire stations built!</a:t>
                </a:r>
              </a:p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  <a:blipFill>
                <a:blip r:embed="rId2"/>
                <a:stretch>
                  <a:fillRect l="-1046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8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Constraints?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1, who can reach it in 15 minutes?</a:t>
                </a:r>
              </a:p>
              <a:p>
                <a:r>
                  <a:rPr lang="en-GB" sz="2400" dirty="0"/>
                  <a:t>City 1 and City 2 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1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2, who can reach it in 15 minutes?</a:t>
                </a:r>
              </a:p>
              <a:p>
                <a:r>
                  <a:rPr lang="en-GB" sz="2400" dirty="0"/>
                  <a:t>City 1, City 2  and City 6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  <a:blipFill>
                <a:blip r:embed="rId3"/>
                <a:stretch>
                  <a:fillRect l="-1199" t="-2487" b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42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1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3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4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5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6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  <a:blipFill>
                <a:blip r:embed="rId3"/>
                <a:stretch>
                  <a:fillRect l="-1336" t="-1832" b="-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12F17-711D-489F-997B-7EE688F7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383"/>
            <a:ext cx="7306559" cy="46575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 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  <a:blipFill>
                <a:blip r:embed="rId2"/>
                <a:stretch>
                  <a:fillRect l="-941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3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(City 1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2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 (City 3 Constraint) 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4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5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6 Constraint)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  <a:blipFill>
                <a:blip r:embed="rId2"/>
                <a:stretch>
                  <a:fillRect l="-1170" t="-1178" r="-10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BCACB5-32B2-A811-3B81-81D6CB21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37" y="1349185"/>
            <a:ext cx="7203974" cy="48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9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Covers with 3 sets (the minimum is 2: {s1, s4})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the expected profit given that you have a budget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GB" dirty="0"/>
                  <a:t> and can order a maximum of 10 kg per item.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addition, add the following:</a:t>
                </a:r>
              </a:p>
              <a:p>
                <a:r>
                  <a:rPr lang="en-GB" dirty="0"/>
                  <a:t>Minimum order placed must be at least 6 kg</a:t>
                </a:r>
              </a:p>
              <a:p>
                <a:pPr lvl="1"/>
                <a:r>
                  <a:rPr lang="en-GB" dirty="0"/>
                  <a:t>You can order at most 2 different items</a:t>
                </a:r>
              </a:p>
              <a:p>
                <a:pPr lvl="1"/>
                <a:r>
                  <a:rPr lang="en-GB" dirty="0"/>
                  <a:t>You can order either item 1 or item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  <a:blipFill>
                <a:blip r:embed="rId2"/>
                <a:stretch>
                  <a:fillRect l="-1839" t="-2168" r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1B876616-1C15-4AB5-BA64-DEC40A67D8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841ABB-95A8-4FD4-919D-68E4E4202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45541"/>
              </p:ext>
            </p:extLst>
          </p:nvPr>
        </p:nvGraphicFramePr>
        <p:xfrm>
          <a:off x="7682845" y="365125"/>
          <a:ext cx="41383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7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Maximum order of 10 kg per item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≤10,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  <a:blipFill>
                <a:blip r:embed="rId2"/>
                <a:stretch>
                  <a:fillRect l="-1478" t="-31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19180"/>
              </p:ext>
            </p:extLst>
          </p:nvPr>
        </p:nvGraphicFramePr>
        <p:xfrm>
          <a:off x="7682845" y="365125"/>
          <a:ext cx="4138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ED9EDD6-DDE7-4E00-956B-8765170529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Basic Model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/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Profit (per kg) for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(per kg) for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blipFill>
                <a:blip r:embed="rId3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What is wrong with this?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Answer: I don’t have to order an item! </a:t>
                </a:r>
              </a:p>
              <a:p>
                <a:pPr marL="0" indent="0">
                  <a:buNone/>
                </a:pPr>
                <a:r>
                  <a:rPr lang="en-GB" dirty="0"/>
                  <a:t>This requires at least 6 kg of every item to be chosen.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819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Updated Problem</a:t>
            </a:r>
            <a:endParaRPr lang="en-GB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7BE5A-63D3-4501-98F2-13904E875854}"/>
              </a:ext>
            </a:extLst>
          </p:cNvPr>
          <p:cNvSpPr txBox="1"/>
          <p:nvPr/>
        </p:nvSpPr>
        <p:spPr>
          <a:xfrm>
            <a:off x="6825006" y="4760537"/>
            <a:ext cx="5188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want to say the following.</a:t>
            </a:r>
          </a:p>
          <a:p>
            <a:endParaRPr lang="en-GB" dirty="0"/>
          </a:p>
          <a:p>
            <a:r>
              <a:rPr lang="en-GB" b="1" dirty="0"/>
              <a:t>IF</a:t>
            </a:r>
            <a:r>
              <a:rPr lang="en-GB" dirty="0"/>
              <a:t> I choose to order an Item </a:t>
            </a:r>
            <a:r>
              <a:rPr lang="en-GB" b="1" dirty="0"/>
              <a:t>THEN</a:t>
            </a:r>
          </a:p>
          <a:p>
            <a:r>
              <a:rPr lang="en-GB" b="1" dirty="0"/>
              <a:t>	</a:t>
            </a:r>
            <a:r>
              <a:rPr lang="en-GB" dirty="0"/>
              <a:t>I must order at least 6 kg and at most 10 kg</a:t>
            </a:r>
            <a:endParaRPr lang="en-GB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3AC71B-D6CF-4934-B8A1-1AE08E69646F}"/>
              </a:ext>
            </a:extLst>
          </p:cNvPr>
          <p:cNvCxnSpPr/>
          <p:nvPr/>
        </p:nvCxnSpPr>
        <p:spPr>
          <a:xfrm>
            <a:off x="6004874" y="5392132"/>
            <a:ext cx="6598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3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(1)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(2)</m:t>
                      </m:r>
                    </m:oMath>
                  </m:oMathPara>
                </a14:m>
                <a:endParaRPr lang="en-GB" b="0" i="1" dirty="0"/>
              </a:p>
              <a:p>
                <a:pPr marL="0" indent="0">
                  <a:buNone/>
                </a:pPr>
                <a:r>
                  <a:rPr lang="en-GB" b="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1456" t="-2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Binary Variables!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/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– 1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picked, 0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not picked</a:t>
                </a:r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don’t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6≤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blipFill>
                <a:blip r:embed="rId3"/>
                <a:stretch>
                  <a:fillRect l="-935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50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Minimum order per item is at least 6 kg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2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  <a:blipFill>
                <a:blip r:embed="rId2"/>
                <a:stretch>
                  <a:fillRect l="-1447" t="-1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1BCC93E-64C9-A0F4-389B-E8CD9052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96" y="1742234"/>
            <a:ext cx="6958988" cy="50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7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at most 2 different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Additional Constraint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39148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at most 2 different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  <a:blipFill>
                <a:blip r:embed="rId2"/>
                <a:stretch>
                  <a:fillRect l="-867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47B6C8-F94A-ED6D-5201-9BDEA395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689" y="1299991"/>
            <a:ext cx="7148790" cy="53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91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26853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  <a:blipFill>
                <a:blip r:embed="rId2"/>
                <a:stretch>
                  <a:fillRect l="-814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DB2037-462E-754E-CFE1-9160DA88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280908"/>
            <a:ext cx="6835138" cy="5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3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bf6b85bd-8a7e-4854-be4d-0780382295a8"/>
    <ds:schemaRef ds:uri="606370cc-c8d9-4222-8a4e-3c320f1e303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AB76-3B20-4758-80DF-EDDDD7C67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2172</Words>
  <Application>Microsoft Office PowerPoint</Application>
  <PresentationFormat>Widescreen</PresentationFormat>
  <Paragraphs>734</Paragraphs>
  <Slides>32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Arial</vt:lpstr>
      <vt:lpstr>Cambria Math</vt:lpstr>
      <vt:lpstr>Calibri Light</vt:lpstr>
      <vt:lpstr>Office Theme</vt:lpstr>
      <vt:lpstr>Mixed Integer Programming</vt:lpstr>
      <vt:lpstr>Contents</vt:lpstr>
      <vt:lpstr>Blank Slide</vt:lpstr>
      <vt:lpstr>Review</vt:lpstr>
      <vt:lpstr>PowerPoint Presentation</vt:lpstr>
      <vt:lpstr>Linear Program Solution Without Integers</vt:lpstr>
      <vt:lpstr>Rounded Solutions</vt:lpstr>
      <vt:lpstr>Rounded Solutions</vt:lpstr>
      <vt:lpstr>Integer Solution via Pyomo</vt:lpstr>
      <vt:lpstr>Binary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Integer Programming</dc:title>
  <dc:creator>Sam O'Neill</dc:creator>
  <cp:lastModifiedBy>Sam O'Neill</cp:lastModifiedBy>
  <cp:revision>2</cp:revision>
  <dcterms:created xsi:type="dcterms:W3CDTF">2019-10-08T20:55:29Z</dcterms:created>
  <dcterms:modified xsi:type="dcterms:W3CDTF">2025-10-23T11:34:01Z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