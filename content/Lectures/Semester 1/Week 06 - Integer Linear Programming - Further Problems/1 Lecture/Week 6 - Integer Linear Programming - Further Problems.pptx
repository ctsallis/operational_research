
<file path=[Content_Types].xml><?xml version="1.0" encoding="utf-8"?>
<Types xmlns="http://schemas.openxmlformats.org/package/2006/content-types">
  <Default Extension="fntdata" ContentType="application/x-fontdata"/>
  <Default Extension="gif" ContentType="image/gi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4"/>
  </p:sldMasterIdLst>
  <p:notesMasterIdLst>
    <p:notesMasterId r:id="rId33"/>
  </p:notesMasterIdLst>
  <p:sldIdLst>
    <p:sldId id="256" r:id="rId5"/>
    <p:sldId id="261" r:id="rId6"/>
    <p:sldId id="319" r:id="rId7"/>
    <p:sldId id="313" r:id="rId8"/>
    <p:sldId id="314" r:id="rId9"/>
    <p:sldId id="340" r:id="rId10"/>
    <p:sldId id="326" r:id="rId11"/>
    <p:sldId id="327" r:id="rId12"/>
    <p:sldId id="328" r:id="rId13"/>
    <p:sldId id="316" r:id="rId14"/>
    <p:sldId id="317" r:id="rId15"/>
    <p:sldId id="321" r:id="rId16"/>
    <p:sldId id="315" r:id="rId17"/>
    <p:sldId id="320" r:id="rId18"/>
    <p:sldId id="325" r:id="rId19"/>
    <p:sldId id="329" r:id="rId20"/>
    <p:sldId id="330" r:id="rId21"/>
    <p:sldId id="331" r:id="rId22"/>
    <p:sldId id="323" r:id="rId23"/>
    <p:sldId id="336" r:id="rId24"/>
    <p:sldId id="337" r:id="rId25"/>
    <p:sldId id="322" r:id="rId26"/>
    <p:sldId id="334" r:id="rId27"/>
    <p:sldId id="339" r:id="rId28"/>
    <p:sldId id="324" r:id="rId29"/>
    <p:sldId id="338" r:id="rId30"/>
    <p:sldId id="270" r:id="rId31"/>
    <p:sldId id="341" r:id="rId32"/>
  </p:sldIdLst>
  <p:sldSz cx="12192000" cy="6858000"/>
  <p:notesSz cx="7104063" cy="10234613"/>
  <p:embeddedFontLst>
    <p:embeddedFont>
      <p:font typeface="Cambria Math" panose="02040503050406030204" pitchFamily="18" charset="0"/>
      <p:regular r:id="rId34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FF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B5F63A61-086A-49C9-811F-8E094A9E2A80}" v="90" dt="2025-10-30T15:18:24.882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97" d="100"/>
          <a:sy n="97" d="100"/>
        </p:scale>
        <p:origin x="1074" y="30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slide" Target="slides/slide22.xml"/><Relationship Id="rId39" Type="http://schemas.microsoft.com/office/2016/11/relationships/changesInfo" Target="changesInfos/changesInfo1.xml"/><Relationship Id="rId21" Type="http://schemas.openxmlformats.org/officeDocument/2006/relationships/slide" Target="slides/slide17.xml"/><Relationship Id="rId34" Type="http://schemas.openxmlformats.org/officeDocument/2006/relationships/font" Target="fonts/font1.fntdata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slide" Target="slides/slide21.xml"/><Relationship Id="rId33" Type="http://schemas.openxmlformats.org/officeDocument/2006/relationships/notesMaster" Target="notesMasters/notesMaster1.xml"/><Relationship Id="rId38" Type="http://schemas.openxmlformats.org/officeDocument/2006/relationships/tableStyles" Target="tableStyles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slide" Target="slides/slide16.xml"/><Relationship Id="rId29" Type="http://schemas.openxmlformats.org/officeDocument/2006/relationships/slide" Target="slides/slide25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slide" Target="slides/slide20.xml"/><Relationship Id="rId32" Type="http://schemas.openxmlformats.org/officeDocument/2006/relationships/slide" Target="slides/slide28.xml"/><Relationship Id="rId37" Type="http://schemas.openxmlformats.org/officeDocument/2006/relationships/theme" Target="theme/theme1.xml"/><Relationship Id="rId40" Type="http://schemas.microsoft.com/office/2015/10/relationships/revisionInfo" Target="revisionInfo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slide" Target="slides/slide19.xml"/><Relationship Id="rId28" Type="http://schemas.openxmlformats.org/officeDocument/2006/relationships/slide" Target="slides/slide24.xml"/><Relationship Id="rId36" Type="http://schemas.openxmlformats.org/officeDocument/2006/relationships/viewProps" Target="viewProps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31" Type="http://schemas.openxmlformats.org/officeDocument/2006/relationships/slide" Target="slides/slide27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slide" Target="slides/slide23.xml"/><Relationship Id="rId30" Type="http://schemas.openxmlformats.org/officeDocument/2006/relationships/slide" Target="slides/slide26.xml"/><Relationship Id="rId35" Type="http://schemas.openxmlformats.org/officeDocument/2006/relationships/presProps" Target="presProps.xml"/><Relationship Id="rId8" Type="http://schemas.openxmlformats.org/officeDocument/2006/relationships/slide" Target="slides/slide4.xml"/><Relationship Id="rId3" Type="http://schemas.openxmlformats.org/officeDocument/2006/relationships/customXml" Target="../customXml/item3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Sam O'Neill" userId="cb323814-a42a-4cfe-bc74-03f595e56f6e" providerId="ADAL" clId="{F8775F2F-7D58-4E3A-809B-6E5A7C445775}"/>
    <pc:docChg chg="modSld">
      <pc:chgData name="Sam O'Neill" userId="cb323814-a42a-4cfe-bc74-03f595e56f6e" providerId="ADAL" clId="{F8775F2F-7D58-4E3A-809B-6E5A7C445775}" dt="2024-11-01T14:01:27.915" v="0"/>
      <pc:docMkLst>
        <pc:docMk/>
      </pc:docMkLst>
      <pc:sldChg chg="addSp">
        <pc:chgData name="Sam O'Neill" userId="cb323814-a42a-4cfe-bc74-03f595e56f6e" providerId="ADAL" clId="{F8775F2F-7D58-4E3A-809B-6E5A7C445775}" dt="2024-11-01T14:01:27.915" v="0"/>
        <pc:sldMkLst>
          <pc:docMk/>
          <pc:sldMk cId="110775907" sldId="256"/>
        </pc:sldMkLst>
      </pc:sldChg>
      <pc:sldChg chg="addSp">
        <pc:chgData name="Sam O'Neill" userId="cb323814-a42a-4cfe-bc74-03f595e56f6e" providerId="ADAL" clId="{F8775F2F-7D58-4E3A-809B-6E5A7C445775}" dt="2024-11-01T14:01:27.915" v="0"/>
        <pc:sldMkLst>
          <pc:docMk/>
          <pc:sldMk cId="181662958" sldId="313"/>
        </pc:sldMkLst>
      </pc:sldChg>
      <pc:sldChg chg="addSp">
        <pc:chgData name="Sam O'Neill" userId="cb323814-a42a-4cfe-bc74-03f595e56f6e" providerId="ADAL" clId="{F8775F2F-7D58-4E3A-809B-6E5A7C445775}" dt="2024-11-01T14:01:27.915" v="0"/>
        <pc:sldMkLst>
          <pc:docMk/>
          <pc:sldMk cId="3249660774" sldId="314"/>
        </pc:sldMkLst>
      </pc:sldChg>
      <pc:sldChg chg="addSp">
        <pc:chgData name="Sam O'Neill" userId="cb323814-a42a-4cfe-bc74-03f595e56f6e" providerId="ADAL" clId="{F8775F2F-7D58-4E3A-809B-6E5A7C445775}" dt="2024-11-01T14:01:27.915" v="0"/>
        <pc:sldMkLst>
          <pc:docMk/>
          <pc:sldMk cId="1055509658" sldId="315"/>
        </pc:sldMkLst>
      </pc:sldChg>
      <pc:sldChg chg="addSp">
        <pc:chgData name="Sam O'Neill" userId="cb323814-a42a-4cfe-bc74-03f595e56f6e" providerId="ADAL" clId="{F8775F2F-7D58-4E3A-809B-6E5A7C445775}" dt="2024-11-01T14:01:27.915" v="0"/>
        <pc:sldMkLst>
          <pc:docMk/>
          <pc:sldMk cId="2836535967" sldId="320"/>
        </pc:sldMkLst>
      </pc:sldChg>
      <pc:sldChg chg="addSp">
        <pc:chgData name="Sam O'Neill" userId="cb323814-a42a-4cfe-bc74-03f595e56f6e" providerId="ADAL" clId="{F8775F2F-7D58-4E3A-809B-6E5A7C445775}" dt="2024-11-01T14:01:27.915" v="0"/>
        <pc:sldMkLst>
          <pc:docMk/>
          <pc:sldMk cId="1230406103" sldId="321"/>
        </pc:sldMkLst>
      </pc:sldChg>
      <pc:sldChg chg="addSp">
        <pc:chgData name="Sam O'Neill" userId="cb323814-a42a-4cfe-bc74-03f595e56f6e" providerId="ADAL" clId="{F8775F2F-7D58-4E3A-809B-6E5A7C445775}" dt="2024-11-01T14:01:27.915" v="0"/>
        <pc:sldMkLst>
          <pc:docMk/>
          <pc:sldMk cId="1082327340" sldId="322"/>
        </pc:sldMkLst>
      </pc:sldChg>
      <pc:sldChg chg="addSp">
        <pc:chgData name="Sam O'Neill" userId="cb323814-a42a-4cfe-bc74-03f595e56f6e" providerId="ADAL" clId="{F8775F2F-7D58-4E3A-809B-6E5A7C445775}" dt="2024-11-01T14:01:27.915" v="0"/>
        <pc:sldMkLst>
          <pc:docMk/>
          <pc:sldMk cId="1625045880" sldId="326"/>
        </pc:sldMkLst>
      </pc:sldChg>
      <pc:sldChg chg="addSp">
        <pc:chgData name="Sam O'Neill" userId="cb323814-a42a-4cfe-bc74-03f595e56f6e" providerId="ADAL" clId="{F8775F2F-7D58-4E3A-809B-6E5A7C445775}" dt="2024-11-01T14:01:27.915" v="0"/>
        <pc:sldMkLst>
          <pc:docMk/>
          <pc:sldMk cId="3706880328" sldId="327"/>
        </pc:sldMkLst>
      </pc:sldChg>
      <pc:sldChg chg="addSp">
        <pc:chgData name="Sam O'Neill" userId="cb323814-a42a-4cfe-bc74-03f595e56f6e" providerId="ADAL" clId="{F8775F2F-7D58-4E3A-809B-6E5A7C445775}" dt="2024-11-01T14:01:27.915" v="0"/>
        <pc:sldMkLst>
          <pc:docMk/>
          <pc:sldMk cId="4174986005" sldId="329"/>
        </pc:sldMkLst>
      </pc:sldChg>
      <pc:sldChg chg="addSp">
        <pc:chgData name="Sam O'Neill" userId="cb323814-a42a-4cfe-bc74-03f595e56f6e" providerId="ADAL" clId="{F8775F2F-7D58-4E3A-809B-6E5A7C445775}" dt="2024-11-01T14:01:27.915" v="0"/>
        <pc:sldMkLst>
          <pc:docMk/>
          <pc:sldMk cId="3753985237" sldId="338"/>
        </pc:sldMkLst>
      </pc:sldChg>
    </pc:docChg>
  </pc:docChgLst>
  <pc:docChgLst>
    <pc:chgData name="Sam O'Neill" userId="cb323814-a42a-4cfe-bc74-03f595e56f6e" providerId="ADAL" clId="{EE38C5BB-5442-47D2-B77B-F9411AE41DC8}"/>
    <pc:docChg chg="undo custSel modSld">
      <pc:chgData name="Sam O'Neill" userId="cb323814-a42a-4cfe-bc74-03f595e56f6e" providerId="ADAL" clId="{EE38C5BB-5442-47D2-B77B-F9411AE41DC8}" dt="2025-10-30T15:18:24.882" v="93"/>
      <pc:docMkLst>
        <pc:docMk/>
      </pc:docMkLst>
      <pc:sldChg chg="delSp mod">
        <pc:chgData name="Sam O'Neill" userId="cb323814-a42a-4cfe-bc74-03f595e56f6e" providerId="ADAL" clId="{EE38C5BB-5442-47D2-B77B-F9411AE41DC8}" dt="2025-10-30T12:56:58.548" v="0" actId="33640"/>
        <pc:sldMkLst>
          <pc:docMk/>
          <pc:sldMk cId="110775907" sldId="256"/>
        </pc:sldMkLst>
        <pc:inkChg chg="del">
          <ac:chgData name="Sam O'Neill" userId="cb323814-a42a-4cfe-bc74-03f595e56f6e" providerId="ADAL" clId="{EE38C5BB-5442-47D2-B77B-F9411AE41DC8}" dt="2025-10-30T12:56:58.548" v="0" actId="33640"/>
          <ac:inkMkLst>
            <pc:docMk/>
            <pc:sldMk cId="110775907" sldId="256"/>
            <ac:inkMk id="4" creationId="{E9DB9925-4E43-9FA0-D6D6-E75246ACCDC2}"/>
          </ac:inkMkLst>
        </pc:inkChg>
      </pc:sldChg>
      <pc:sldChg chg="delSp modSp mod">
        <pc:chgData name="Sam O'Neill" userId="cb323814-a42a-4cfe-bc74-03f595e56f6e" providerId="ADAL" clId="{EE38C5BB-5442-47D2-B77B-F9411AE41DC8}" dt="2025-10-30T15:13:10.059" v="22" actId="20577"/>
        <pc:sldMkLst>
          <pc:docMk/>
          <pc:sldMk cId="181662958" sldId="313"/>
        </pc:sldMkLst>
        <pc:spChg chg="mod">
          <ac:chgData name="Sam O'Neill" userId="cb323814-a42a-4cfe-bc74-03f595e56f6e" providerId="ADAL" clId="{EE38C5BB-5442-47D2-B77B-F9411AE41DC8}" dt="2025-10-30T15:13:10.059" v="22" actId="20577"/>
          <ac:spMkLst>
            <pc:docMk/>
            <pc:sldMk cId="181662958" sldId="313"/>
            <ac:spMk id="5" creationId="{1E712F17-711D-489F-997B-7EE688F7E743}"/>
          </ac:spMkLst>
        </pc:spChg>
        <pc:spChg chg="mod">
          <ac:chgData name="Sam O'Neill" userId="cb323814-a42a-4cfe-bc74-03f595e56f6e" providerId="ADAL" clId="{EE38C5BB-5442-47D2-B77B-F9411AE41DC8}" dt="2025-10-30T15:12:51.755" v="10" actId="20577"/>
          <ac:spMkLst>
            <pc:docMk/>
            <pc:sldMk cId="181662958" sldId="313"/>
            <ac:spMk id="8" creationId="{608A163D-DDEA-4F46-8AC5-B1ED09607FF4}"/>
          </ac:spMkLst>
        </pc:spChg>
        <pc:inkChg chg="del">
          <ac:chgData name="Sam O'Neill" userId="cb323814-a42a-4cfe-bc74-03f595e56f6e" providerId="ADAL" clId="{EE38C5BB-5442-47D2-B77B-F9411AE41DC8}" dt="2025-10-30T12:57:01.850" v="1" actId="33639"/>
          <ac:inkMkLst>
            <pc:docMk/>
            <pc:sldMk cId="181662958" sldId="313"/>
            <ac:inkMk id="2" creationId="{FF2C46FB-2B59-AEF5-719A-C60BAB3CF3B5}"/>
          </ac:inkMkLst>
        </pc:inkChg>
      </pc:sldChg>
      <pc:sldChg chg="delSp modSp mod">
        <pc:chgData name="Sam O'Neill" userId="cb323814-a42a-4cfe-bc74-03f595e56f6e" providerId="ADAL" clId="{EE38C5BB-5442-47D2-B77B-F9411AE41DC8}" dt="2025-10-30T15:13:19.250" v="23"/>
        <pc:sldMkLst>
          <pc:docMk/>
          <pc:sldMk cId="3249660774" sldId="314"/>
        </pc:sldMkLst>
        <pc:spChg chg="mod">
          <ac:chgData name="Sam O'Neill" userId="cb323814-a42a-4cfe-bc74-03f595e56f6e" providerId="ADAL" clId="{EE38C5BB-5442-47D2-B77B-F9411AE41DC8}" dt="2025-10-30T15:13:19.250" v="23"/>
          <ac:spMkLst>
            <pc:docMk/>
            <pc:sldMk cId="3249660774" sldId="314"/>
            <ac:spMk id="5" creationId="{1E712F17-711D-489F-997B-7EE688F7E743}"/>
          </ac:spMkLst>
        </pc:spChg>
        <pc:inkChg chg="del">
          <ac:chgData name="Sam O'Neill" userId="cb323814-a42a-4cfe-bc74-03f595e56f6e" providerId="ADAL" clId="{EE38C5BB-5442-47D2-B77B-F9411AE41DC8}" dt="2025-10-30T12:57:01.850" v="1" actId="33639"/>
          <ac:inkMkLst>
            <pc:docMk/>
            <pc:sldMk cId="3249660774" sldId="314"/>
            <ac:inkMk id="2" creationId="{FB0E3860-DA8C-C12E-2BD2-EC085A72886C}"/>
          </ac:inkMkLst>
        </pc:inkChg>
      </pc:sldChg>
      <pc:sldChg chg="delSp mod">
        <pc:chgData name="Sam O'Neill" userId="cb323814-a42a-4cfe-bc74-03f595e56f6e" providerId="ADAL" clId="{EE38C5BB-5442-47D2-B77B-F9411AE41DC8}" dt="2025-10-30T12:57:01.850" v="1" actId="33639"/>
        <pc:sldMkLst>
          <pc:docMk/>
          <pc:sldMk cId="1055509658" sldId="315"/>
        </pc:sldMkLst>
        <pc:inkChg chg="del">
          <ac:chgData name="Sam O'Neill" userId="cb323814-a42a-4cfe-bc74-03f595e56f6e" providerId="ADAL" clId="{EE38C5BB-5442-47D2-B77B-F9411AE41DC8}" dt="2025-10-30T12:57:01.850" v="1" actId="33639"/>
          <ac:inkMkLst>
            <pc:docMk/>
            <pc:sldMk cId="1055509658" sldId="315"/>
            <ac:inkMk id="4" creationId="{7AB9DD9C-F9F9-BB00-3586-1B2780EF6F52}"/>
          </ac:inkMkLst>
        </pc:inkChg>
      </pc:sldChg>
      <pc:sldChg chg="delSp mod">
        <pc:chgData name="Sam O'Neill" userId="cb323814-a42a-4cfe-bc74-03f595e56f6e" providerId="ADAL" clId="{EE38C5BB-5442-47D2-B77B-F9411AE41DC8}" dt="2025-10-30T12:57:01.850" v="1" actId="33639"/>
        <pc:sldMkLst>
          <pc:docMk/>
          <pc:sldMk cId="2836535967" sldId="320"/>
        </pc:sldMkLst>
        <pc:inkChg chg="del">
          <ac:chgData name="Sam O'Neill" userId="cb323814-a42a-4cfe-bc74-03f595e56f6e" providerId="ADAL" clId="{EE38C5BB-5442-47D2-B77B-F9411AE41DC8}" dt="2025-10-30T12:57:01.850" v="1" actId="33639"/>
          <ac:inkMkLst>
            <pc:docMk/>
            <pc:sldMk cId="2836535967" sldId="320"/>
            <ac:inkMk id="3" creationId="{2930710D-7FDE-6310-A7BD-D81CEF415248}"/>
          </ac:inkMkLst>
        </pc:inkChg>
      </pc:sldChg>
      <pc:sldChg chg="delSp mod">
        <pc:chgData name="Sam O'Neill" userId="cb323814-a42a-4cfe-bc74-03f595e56f6e" providerId="ADAL" clId="{EE38C5BB-5442-47D2-B77B-F9411AE41DC8}" dt="2025-10-30T12:57:01.850" v="1" actId="33639"/>
        <pc:sldMkLst>
          <pc:docMk/>
          <pc:sldMk cId="1230406103" sldId="321"/>
        </pc:sldMkLst>
        <pc:inkChg chg="del">
          <ac:chgData name="Sam O'Neill" userId="cb323814-a42a-4cfe-bc74-03f595e56f6e" providerId="ADAL" clId="{EE38C5BB-5442-47D2-B77B-F9411AE41DC8}" dt="2025-10-30T12:57:01.850" v="1" actId="33639"/>
          <ac:inkMkLst>
            <pc:docMk/>
            <pc:sldMk cId="1230406103" sldId="321"/>
            <ac:inkMk id="2" creationId="{ABEF82FD-A74F-A495-F6AD-C1187B171C4E}"/>
          </ac:inkMkLst>
        </pc:inkChg>
      </pc:sldChg>
      <pc:sldChg chg="delSp mod">
        <pc:chgData name="Sam O'Neill" userId="cb323814-a42a-4cfe-bc74-03f595e56f6e" providerId="ADAL" clId="{EE38C5BB-5442-47D2-B77B-F9411AE41DC8}" dt="2025-10-30T12:57:01.850" v="1" actId="33639"/>
        <pc:sldMkLst>
          <pc:docMk/>
          <pc:sldMk cId="1082327340" sldId="322"/>
        </pc:sldMkLst>
        <pc:inkChg chg="del">
          <ac:chgData name="Sam O'Neill" userId="cb323814-a42a-4cfe-bc74-03f595e56f6e" providerId="ADAL" clId="{EE38C5BB-5442-47D2-B77B-F9411AE41DC8}" dt="2025-10-30T12:57:01.850" v="1" actId="33639"/>
          <ac:inkMkLst>
            <pc:docMk/>
            <pc:sldMk cId="1082327340" sldId="322"/>
            <ac:inkMk id="3" creationId="{8D462B51-3DA2-3661-69CB-DE43DFE3ECBC}"/>
          </ac:inkMkLst>
        </pc:inkChg>
      </pc:sldChg>
      <pc:sldChg chg="delSp modSp mod">
        <pc:chgData name="Sam O'Neill" userId="cb323814-a42a-4cfe-bc74-03f595e56f6e" providerId="ADAL" clId="{EE38C5BB-5442-47D2-B77B-F9411AE41DC8}" dt="2025-10-30T15:18:24.882" v="93"/>
        <pc:sldMkLst>
          <pc:docMk/>
          <pc:sldMk cId="1625045880" sldId="326"/>
        </pc:sldMkLst>
        <pc:spChg chg="mod">
          <ac:chgData name="Sam O'Neill" userId="cb323814-a42a-4cfe-bc74-03f595e56f6e" providerId="ADAL" clId="{EE38C5BB-5442-47D2-B77B-F9411AE41DC8}" dt="2025-10-30T15:18:24.882" v="93"/>
          <ac:spMkLst>
            <pc:docMk/>
            <pc:sldMk cId="1625045880" sldId="326"/>
            <ac:spMk id="6" creationId="{6A28C7C5-377C-4768-84F0-9C0F1340C812}"/>
          </ac:spMkLst>
        </pc:spChg>
        <pc:inkChg chg="del">
          <ac:chgData name="Sam O'Neill" userId="cb323814-a42a-4cfe-bc74-03f595e56f6e" providerId="ADAL" clId="{EE38C5BB-5442-47D2-B77B-F9411AE41DC8}" dt="2025-10-30T12:57:01.850" v="1" actId="33639"/>
          <ac:inkMkLst>
            <pc:docMk/>
            <pc:sldMk cId="1625045880" sldId="326"/>
            <ac:inkMk id="3" creationId="{FB7EF570-2977-0BA1-9A65-981EA29BB634}"/>
          </ac:inkMkLst>
        </pc:inkChg>
      </pc:sldChg>
      <pc:sldChg chg="delSp modSp mod">
        <pc:chgData name="Sam O'Neill" userId="cb323814-a42a-4cfe-bc74-03f595e56f6e" providerId="ADAL" clId="{EE38C5BB-5442-47D2-B77B-F9411AE41DC8}" dt="2025-10-30T15:17:28.936" v="91" actId="20577"/>
        <pc:sldMkLst>
          <pc:docMk/>
          <pc:sldMk cId="3706880328" sldId="327"/>
        </pc:sldMkLst>
        <pc:spChg chg="mod">
          <ac:chgData name="Sam O'Neill" userId="cb323814-a42a-4cfe-bc74-03f595e56f6e" providerId="ADAL" clId="{EE38C5BB-5442-47D2-B77B-F9411AE41DC8}" dt="2025-10-30T15:17:28.936" v="91" actId="20577"/>
          <ac:spMkLst>
            <pc:docMk/>
            <pc:sldMk cId="3706880328" sldId="327"/>
            <ac:spMk id="6" creationId="{6A28C7C5-377C-4768-84F0-9C0F1340C812}"/>
          </ac:spMkLst>
        </pc:spChg>
        <pc:spChg chg="mod">
          <ac:chgData name="Sam O'Neill" userId="cb323814-a42a-4cfe-bc74-03f595e56f6e" providerId="ADAL" clId="{EE38C5BB-5442-47D2-B77B-F9411AE41DC8}" dt="2025-10-30T15:13:52.332" v="38" actId="20577"/>
          <ac:spMkLst>
            <pc:docMk/>
            <pc:sldMk cId="3706880328" sldId="327"/>
            <ac:spMk id="9" creationId="{5A07AD26-4600-4F11-BBFA-E9F0C8908A24}"/>
          </ac:spMkLst>
        </pc:spChg>
        <pc:inkChg chg="del">
          <ac:chgData name="Sam O'Neill" userId="cb323814-a42a-4cfe-bc74-03f595e56f6e" providerId="ADAL" clId="{EE38C5BB-5442-47D2-B77B-F9411AE41DC8}" dt="2025-10-30T12:57:01.850" v="1" actId="33639"/>
          <ac:inkMkLst>
            <pc:docMk/>
            <pc:sldMk cId="3706880328" sldId="327"/>
            <ac:inkMk id="3" creationId="{470FA660-F02C-FE33-7DAC-3C247B1B8F86}"/>
          </ac:inkMkLst>
        </pc:inkChg>
      </pc:sldChg>
      <pc:sldChg chg="delSp mod">
        <pc:chgData name="Sam O'Neill" userId="cb323814-a42a-4cfe-bc74-03f595e56f6e" providerId="ADAL" clId="{EE38C5BB-5442-47D2-B77B-F9411AE41DC8}" dt="2025-10-30T12:57:01.850" v="1" actId="33639"/>
        <pc:sldMkLst>
          <pc:docMk/>
          <pc:sldMk cId="4174986005" sldId="329"/>
        </pc:sldMkLst>
        <pc:inkChg chg="del">
          <ac:chgData name="Sam O'Neill" userId="cb323814-a42a-4cfe-bc74-03f595e56f6e" providerId="ADAL" clId="{EE38C5BB-5442-47D2-B77B-F9411AE41DC8}" dt="2025-10-30T12:57:01.850" v="1" actId="33639"/>
          <ac:inkMkLst>
            <pc:docMk/>
            <pc:sldMk cId="4174986005" sldId="329"/>
            <ac:inkMk id="3" creationId="{4B980CD1-8C35-90FB-1840-80113D0392E3}"/>
          </ac:inkMkLst>
        </pc:inkChg>
      </pc:sldChg>
      <pc:sldChg chg="delSp mod">
        <pc:chgData name="Sam O'Neill" userId="cb323814-a42a-4cfe-bc74-03f595e56f6e" providerId="ADAL" clId="{EE38C5BB-5442-47D2-B77B-F9411AE41DC8}" dt="2025-10-30T12:57:01.850" v="1" actId="33639"/>
        <pc:sldMkLst>
          <pc:docMk/>
          <pc:sldMk cId="3753985237" sldId="338"/>
        </pc:sldMkLst>
        <pc:inkChg chg="del">
          <ac:chgData name="Sam O'Neill" userId="cb323814-a42a-4cfe-bc74-03f595e56f6e" providerId="ADAL" clId="{EE38C5BB-5442-47D2-B77B-F9411AE41DC8}" dt="2025-10-30T12:57:01.850" v="1" actId="33639"/>
          <ac:inkMkLst>
            <pc:docMk/>
            <pc:sldMk cId="3753985237" sldId="338"/>
            <ac:inkMk id="5" creationId="{FB0332BA-395E-7C47-C3E1-0F8AC6E95B19}"/>
          </ac:inkMkLst>
        </pc:inkChg>
      </pc:sldChg>
      <pc:sldChg chg="modSp">
        <pc:chgData name="Sam O'Neill" userId="cb323814-a42a-4cfe-bc74-03f595e56f6e" providerId="ADAL" clId="{EE38C5BB-5442-47D2-B77B-F9411AE41DC8}" dt="2025-10-30T15:13:24.872" v="24"/>
        <pc:sldMkLst>
          <pc:docMk/>
          <pc:sldMk cId="2736963958" sldId="340"/>
        </pc:sldMkLst>
        <pc:spChg chg="mod">
          <ac:chgData name="Sam O'Neill" userId="cb323814-a42a-4cfe-bc74-03f595e56f6e" providerId="ADAL" clId="{EE38C5BB-5442-47D2-B77B-F9411AE41DC8}" dt="2025-10-30T15:13:24.872" v="24"/>
          <ac:spMkLst>
            <pc:docMk/>
            <pc:sldMk cId="2736963958" sldId="340"/>
            <ac:spMk id="5" creationId="{1E712F17-711D-489F-997B-7EE688F7E743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078427" cy="513508"/>
          </a:xfrm>
          <a:prstGeom prst="rect">
            <a:avLst/>
          </a:prstGeom>
        </p:spPr>
        <p:txBody>
          <a:bodyPr vert="horz" lIns="99075" tIns="49538" rIns="99075" bIns="49538" rtlCol="0"/>
          <a:lstStyle>
            <a:lvl1pPr algn="l">
              <a:defRPr sz="1300"/>
            </a:lvl1pPr>
          </a:lstStyle>
          <a:p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4023992" y="0"/>
            <a:ext cx="3078427" cy="513508"/>
          </a:xfrm>
          <a:prstGeom prst="rect">
            <a:avLst/>
          </a:prstGeom>
        </p:spPr>
        <p:txBody>
          <a:bodyPr vert="horz" lIns="99075" tIns="49538" rIns="99075" bIns="49538" rtlCol="0"/>
          <a:lstStyle>
            <a:lvl1pPr algn="r">
              <a:defRPr sz="1300"/>
            </a:lvl1pPr>
          </a:lstStyle>
          <a:p>
            <a:fld id="{CE2B88C7-E17D-454C-BBE4-15F8CA17A050}" type="datetimeFigureOut">
              <a:rPr lang="en-GB" smtClean="0"/>
              <a:t>30/10/2025</a:t>
            </a:fld>
            <a:endParaRPr lang="en-GB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482600" y="1279525"/>
            <a:ext cx="6140450" cy="34544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9075" tIns="49538" rIns="99075" bIns="49538" rtlCol="0" anchor="ctr"/>
          <a:lstStyle/>
          <a:p>
            <a:endParaRPr lang="en-GB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710407" y="4925407"/>
            <a:ext cx="5683250" cy="4029879"/>
          </a:xfrm>
          <a:prstGeom prst="rect">
            <a:avLst/>
          </a:prstGeom>
        </p:spPr>
        <p:txBody>
          <a:bodyPr vert="horz" lIns="99075" tIns="49538" rIns="99075" bIns="49538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9721107"/>
            <a:ext cx="3078427" cy="513507"/>
          </a:xfrm>
          <a:prstGeom prst="rect">
            <a:avLst/>
          </a:prstGeom>
        </p:spPr>
        <p:txBody>
          <a:bodyPr vert="horz" lIns="99075" tIns="49538" rIns="99075" bIns="49538" rtlCol="0" anchor="b"/>
          <a:lstStyle>
            <a:lvl1pPr algn="l">
              <a:defRPr sz="1300"/>
            </a:lvl1pPr>
          </a:lstStyle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4023992" y="9721107"/>
            <a:ext cx="3078427" cy="513507"/>
          </a:xfrm>
          <a:prstGeom prst="rect">
            <a:avLst/>
          </a:prstGeom>
        </p:spPr>
        <p:txBody>
          <a:bodyPr vert="horz" lIns="99075" tIns="49538" rIns="99075" bIns="49538" rtlCol="0" anchor="b"/>
          <a:lstStyle>
            <a:lvl1pPr algn="r">
              <a:defRPr sz="1300"/>
            </a:lvl1pPr>
          </a:lstStyle>
          <a:p>
            <a:fld id="{3F2E764E-E514-44DF-A9FE-1CB2FE180C01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09251229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F2E764E-E514-44DF-A9FE-1CB2FE180C01}" type="slidenum">
              <a:rPr lang="en-GB" smtClean="0"/>
              <a:t>8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53185390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38023C0-102F-44C4-AC02-61E31C6A261D}" type="slidenum">
              <a:rPr lang="en-GB" smtClean="0"/>
              <a:t>27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048908018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38023C0-102F-44C4-AC02-61E31C6A261D}" type="slidenum">
              <a:rPr lang="en-GB" smtClean="0"/>
              <a:t>28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8000263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FABBAC1-2D9D-438C-84FD-5677FB2015C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9D2278A-87EE-4087-BA9C-1A154C61C46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EB11740-48CC-4B20-9618-94656899CD1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A039F1-953F-4A39-846E-4A181A4AE2B1}" type="datetimeFigureOut">
              <a:rPr lang="en-GB" smtClean="0"/>
              <a:t>30/10/2025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19E45EF-1488-4E98-8F1B-3F4788AC25B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4DB6FCC-0BC2-4AA4-925B-22D3EF2D8ED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C2DA03-7716-40DA-A4AB-15144CA67394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13779797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4767EFA-FACA-468A-B2A7-2E32FD0B90B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9802430-43F1-4C28-BE1C-28ED37EE7D6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FFBB0AA-51D3-4839-A908-7015E2EFF79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A039F1-953F-4A39-846E-4A181A4AE2B1}" type="datetimeFigureOut">
              <a:rPr lang="en-GB" smtClean="0"/>
              <a:t>30/10/2025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4DC416D-0726-4084-B6F6-452A521AF9F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07677A2-00AB-4338-8691-A71099F2EF0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C2DA03-7716-40DA-A4AB-15144CA67394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9139539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0A5ED08-8FF7-4847-92F6-6DF83E4A65C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EB1DE87-CB76-4E70-AECB-9CBE3F30236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121CDAD-5A24-4E23-A4A4-0BE4EE23C12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A039F1-953F-4A39-846E-4A181A4AE2B1}" type="datetimeFigureOut">
              <a:rPr lang="en-GB" smtClean="0"/>
              <a:t>30/10/2025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E282401-4EE4-4C50-BED8-58196B379CD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CB306CF-8C34-4765-AF17-57F5E452AAB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C2DA03-7716-40DA-A4AB-15144CA67394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11101172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E9B6DC1-2D4C-4500-A124-3A2178B42C5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3270328-3EAB-407A-BC9A-67303094D46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6D10CF3-44D5-426B-90EA-C3216942EA6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9F800DC-C93C-49EB-B420-A7C8AD13CA1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A039F1-953F-4A39-846E-4A181A4AE2B1}" type="datetimeFigureOut">
              <a:rPr lang="en-GB" smtClean="0"/>
              <a:t>30/10/2025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1842C8C-018B-4C45-BF70-2979A1913F6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5E6DF55-225F-4BDE-BA17-DD5E62A2C5A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C2DA03-7716-40DA-A4AB-15144CA67394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59936153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E5C8F6E-783B-419D-8F7A-1EE4DB2F752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ECFF0B8-F056-4E7E-96D0-CFC881A80F8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CCCB7B8-D30F-432A-A39F-D2824661AA6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A7D116FF-A0B3-48D2-A545-15D737D03DD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D0F53AA2-3036-4360-B9B2-BFD386DB687B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BA0757EF-E8E3-4492-A3C9-A83CE780FBE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A039F1-953F-4A39-846E-4A181A4AE2B1}" type="datetimeFigureOut">
              <a:rPr lang="en-GB" smtClean="0"/>
              <a:t>30/10/2025</a:t>
            </a:fld>
            <a:endParaRPr lang="en-GB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1CE87707-4C6F-4EF0-93C1-82BE22E8A47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7E476A2F-BA81-404B-9F96-2E208657477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C2DA03-7716-40DA-A4AB-15144CA67394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30545302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D140136-FC6F-49F7-B359-BF7D0864AEB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8708460E-A6D9-4EA4-8CD9-79B728F7B04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A039F1-953F-4A39-846E-4A181A4AE2B1}" type="datetimeFigureOut">
              <a:rPr lang="en-GB" smtClean="0"/>
              <a:t>30/10/2025</a:t>
            </a:fld>
            <a:endParaRPr lang="en-GB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F04E9CEA-31CF-495F-BF82-1B4015A1034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CEC68A0-EE84-4811-A17B-F2B5C415814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C2DA03-7716-40DA-A4AB-15144CA67394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57132259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4E83A0D1-DFE6-4040-807F-A93930F021B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A039F1-953F-4A39-846E-4A181A4AE2B1}" type="datetimeFigureOut">
              <a:rPr lang="en-GB" smtClean="0"/>
              <a:t>30/10/2025</a:t>
            </a:fld>
            <a:endParaRPr lang="en-GB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885175EF-2BEA-46E1-8408-918366AC73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F215D81-516E-4FBF-B580-FFD158DF605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C2DA03-7716-40DA-A4AB-15144CA67394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50688163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1C2555A-2F2B-4172-B1F4-AB4425A72D9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5D83D13-EE9C-4E69-A844-8F30111F364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A7D11B3-CD25-4C10-90FA-CDFC2010B19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EF23933-0DD6-4845-AC19-36722E8711A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A039F1-953F-4A39-846E-4A181A4AE2B1}" type="datetimeFigureOut">
              <a:rPr lang="en-GB" smtClean="0"/>
              <a:t>30/10/2025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16B2963-B911-4CBA-9CE0-BA9B6C0CF73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79A3CC0-592A-49FC-87EC-1F3156F27C0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C2DA03-7716-40DA-A4AB-15144CA67394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90811341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5C85835-588D-4F39-814A-E404E353B93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20F9445E-A078-4E35-A97B-9EA7C9974A4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4AD55AA-1343-4DA0-A1A1-C8031518BA4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04BE6E0-6DE4-43F8-8D0C-02419D43CCA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A039F1-953F-4A39-846E-4A181A4AE2B1}" type="datetimeFigureOut">
              <a:rPr lang="en-GB" smtClean="0"/>
              <a:t>30/10/2025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EBF1EF2-7817-4456-8AE3-85AA5F05D7E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E30F326-DBF6-4284-ACAC-626F7579420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C2DA03-7716-40DA-A4AB-15144CA67394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97013387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6DC0DE9-F1A0-46B8-AFDA-AB87D705A12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74C441D-4127-4ED9-833F-CD2D839F522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503F0E1-708B-4A1D-8674-AF136F1A363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A039F1-953F-4A39-846E-4A181A4AE2B1}" type="datetimeFigureOut">
              <a:rPr lang="en-GB" smtClean="0"/>
              <a:t>30/10/2025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1A81D14-2BA8-4E09-BF3E-21B3C55D36D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485FBFF-6587-4941-B27A-D8ACF8D52A3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C2DA03-7716-40DA-A4AB-15144CA67394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14290006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45283187-306D-41AF-8D48-1F019C83236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3550706-0F3D-4D07-97D7-5B4C39D95A6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6505F43-656E-4D61-B3A3-E658893D43D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A039F1-953F-4A39-846E-4A181A4AE2B1}" type="datetimeFigureOut">
              <a:rPr lang="en-GB" smtClean="0"/>
              <a:t>30/10/2025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7282740-B97C-41EF-A674-99F8FF99178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ACCC395-1B08-44ED-BE5A-AD0032621D6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C2DA03-7716-40DA-A4AB-15144CA67394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10630725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19A06B44-7335-44F0-B60B-F8039489CD0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E8C67D6-82BB-4E0E-8D6F-ECCAFEC5453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2635D0A-85B9-4327-B0DD-1D2A4FC64E9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6A039F1-953F-4A39-846E-4A181A4AE2B1}" type="datetimeFigureOut">
              <a:rPr lang="en-GB" smtClean="0"/>
              <a:t>30/10/2025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CBA259C-4727-433D-9628-60CAD269560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05CC516-E88A-4038-AA89-4BF3F93C3B2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5C2DA03-7716-40DA-A4AB-15144CA67394}" type="slidenum">
              <a:rPr lang="en-GB" smtClean="0"/>
              <a:t>‹#›</a:t>
            </a:fld>
            <a:endParaRPr lang="en-GB"/>
          </a:p>
        </p:txBody>
      </p:sp>
      <p:sp>
        <p:nvSpPr>
          <p:cNvPr id="7" name="MSIPCMContentMarking" descr="{&quot;HashCode&quot;:269651335,&quot;Placement&quot;:&quot;Footer&quot;}">
            <a:extLst>
              <a:ext uri="{FF2B5EF4-FFF2-40B4-BE49-F238E27FC236}">
                <a16:creationId xmlns:a16="http://schemas.microsoft.com/office/drawing/2014/main" id="{64B23A5A-228F-4E95-8C6A-4486B3D720E7}"/>
              </a:ext>
            </a:extLst>
          </p:cNvPr>
          <p:cNvSpPr txBox="1"/>
          <p:nvPr userDrawn="1"/>
        </p:nvSpPr>
        <p:spPr>
          <a:xfrm>
            <a:off x="0" y="6595656"/>
            <a:ext cx="1283967" cy="262344"/>
          </a:xfrm>
          <a:prstGeom prst="rect">
            <a:avLst/>
          </a:prstGeom>
          <a:noFill/>
        </p:spPr>
        <p:txBody>
          <a:bodyPr vert="horz" wrap="square" lIns="0" tIns="0" rIns="0" bIns="0" rtlCol="0" anchor="ctr" anchorCtr="1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lang="en-GB" sz="1000">
                <a:solidFill>
                  <a:srgbClr val="000000"/>
                </a:solidFill>
                <a:latin typeface="Calibri" panose="020F0502020204030204" pitchFamily="34" charset="0"/>
              </a:rPr>
              <a:t>Sensitivity: Internal</a:t>
            </a:r>
          </a:p>
        </p:txBody>
      </p:sp>
    </p:spTree>
    <p:extLst>
      <p:ext uri="{BB962C8B-B14F-4D97-AF65-F5344CB8AC3E}">
        <p14:creationId xmlns:p14="http://schemas.microsoft.com/office/powerpoint/2010/main" val="323187855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8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4.png"/><Relationship Id="rId4" Type="http://schemas.openxmlformats.org/officeDocument/2006/relationships/image" Target="../media/image9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hyperlink" Target="https://brilliant.org/wiki/vertex-cover/" TargetMode="Externa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gif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png"/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png"/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png"/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0.png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7.png"/><Relationship Id="rId2" Type="http://schemas.openxmlformats.org/officeDocument/2006/relationships/image" Target="../media/image36.png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gurobi.com/resource/modeling-examples-using-the-gurobi-python-api-in-jupyter-notebook/" TargetMode="External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A85F331-FA4C-4E92-A9DC-B75BC327C4AF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GB"/>
              <a:t>Integer Linear Programming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8D97D86-8A1E-4C21-88F2-2ADD855AA1D7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GB"/>
              <a:t>Further Problems</a:t>
            </a:r>
          </a:p>
        </p:txBody>
      </p:sp>
    </p:spTree>
    <p:extLst>
      <p:ext uri="{BB962C8B-B14F-4D97-AF65-F5344CB8AC3E}">
        <p14:creationId xmlns:p14="http://schemas.microsoft.com/office/powerpoint/2010/main" val="11077590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3E593E6-3D2F-4C7E-80B2-F78D636A9E0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706293"/>
          </a:xfrm>
        </p:spPr>
        <p:txBody>
          <a:bodyPr/>
          <a:lstStyle/>
          <a:p>
            <a:r>
              <a:rPr lang="en-GB"/>
              <a:t>Blank Slide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198A88B-52B3-469E-A512-B72752EB786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450109"/>
            <a:ext cx="10515600" cy="4726854"/>
          </a:xfrm>
        </p:spPr>
        <p:txBody>
          <a:bodyPr>
            <a:normAutofit/>
          </a:bodyPr>
          <a:lstStyle/>
          <a:p>
            <a:pPr marL="0" indent="0">
              <a:buNone/>
            </a:pPr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48423616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14AB85B7-9AA6-408C-BC63-C0EAB623D4D1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GB"/>
              <a:t>Minimum Set Cover</a:t>
            </a:r>
          </a:p>
        </p:txBody>
      </p:sp>
      <p:sp>
        <p:nvSpPr>
          <p:cNvPr id="5" name="Subtitle 4">
            <a:extLst>
              <a:ext uri="{FF2B5EF4-FFF2-40B4-BE49-F238E27FC236}">
                <a16:creationId xmlns:a16="http://schemas.microsoft.com/office/drawing/2014/main" id="{E34F33BF-BD07-4F3D-8A32-44A442B86B28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4364696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>
            <a:extLst>
              <a:ext uri="{FF2B5EF4-FFF2-40B4-BE49-F238E27FC236}">
                <a16:creationId xmlns:a16="http://schemas.microsoft.com/office/drawing/2014/main" id="{DB57E94D-7ABF-4564-B18E-07C64105872B}"/>
              </a:ext>
            </a:extLst>
          </p:cNvPr>
          <p:cNvSpPr txBox="1">
            <a:spLocks/>
          </p:cNvSpPr>
          <p:nvPr/>
        </p:nvSpPr>
        <p:spPr>
          <a:xfrm>
            <a:off x="838200" y="365125"/>
            <a:ext cx="10515600" cy="70629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GB"/>
              <a:t>General Set Covering Problem</a:t>
            </a:r>
            <a:endParaRPr lang="en-GB" u="sng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5" name="Content Placeholder 4">
                <a:extLst>
                  <a:ext uri="{FF2B5EF4-FFF2-40B4-BE49-F238E27FC236}">
                    <a16:creationId xmlns:a16="http://schemas.microsoft.com/office/drawing/2014/main" id="{1E712F17-711D-489F-997B-7EE688F7E743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452141" y="1428161"/>
                <a:ext cx="5562160" cy="4657580"/>
              </a:xfrm>
            </p:spPr>
            <p:txBody>
              <a:bodyPr>
                <a:normAutofit/>
              </a:bodyPr>
              <a:lstStyle/>
              <a:p>
                <a:pPr marL="0" indent="0">
                  <a:buNone/>
                </a:pPr>
                <a:r>
                  <a:rPr lang="en-GB" sz="2400" dirty="0"/>
                  <a:t>minimise 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nary>
                        <m:naryPr>
                          <m:chr m:val="∑"/>
                          <m:supHide m:val="on"/>
                          <m:ctrlPr>
                            <a:rPr lang="en-GB" sz="2400" i="1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en-GB" sz="2400" b="0" i="1" smtClean="0">
                              <a:latin typeface="Cambria Math" panose="02040503050406030204" pitchFamily="18" charset="0"/>
                            </a:rPr>
                            <m:t>𝑡</m:t>
                          </m:r>
                          <m:r>
                            <a:rPr lang="en-GB" sz="2400" b="0" i="1" smtClean="0">
                              <a:latin typeface="Cambria Math" panose="02040503050406030204" pitchFamily="18" charset="0"/>
                            </a:rPr>
                            <m:t>∈</m:t>
                          </m:r>
                          <m:r>
                            <a:rPr lang="en-GB" sz="2400" b="0" i="1" smtClean="0">
                              <a:latin typeface="Cambria Math" panose="02040503050406030204" pitchFamily="18" charset="0"/>
                            </a:rPr>
                            <m:t>𝑆</m:t>
                          </m:r>
                        </m:sub>
                        <m:sup/>
                        <m:e>
                          <m:sSub>
                            <m:sSubPr>
                              <m:ctrlPr>
                                <a:rPr lang="en-GB" sz="24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GB" sz="2400" i="1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GB" sz="2400" b="0" i="1" smtClean="0"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sub>
                          </m:sSub>
                        </m:e>
                      </m:nary>
                    </m:oMath>
                  </m:oMathPara>
                </a14:m>
                <a:endParaRPr lang="en-GB" sz="2400" dirty="0"/>
              </a:p>
              <a:p>
                <a:pPr marL="0" indent="0">
                  <a:buNone/>
                </a:pPr>
                <a:r>
                  <a:rPr lang="en-GB" sz="2400" dirty="0"/>
                  <a:t>subject to: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nary>
                        <m:naryPr>
                          <m:chr m:val="∑"/>
                          <m:supHide m:val="on"/>
                          <m:ctrlPr>
                            <a:rPr lang="en-GB" sz="2400" i="1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en-GB" sz="2400" b="0" i="1" smtClean="0">
                              <a:latin typeface="Cambria Math" panose="02040503050406030204" pitchFamily="18" charset="0"/>
                            </a:rPr>
                            <m:t>𝑡</m:t>
                          </m:r>
                          <m:r>
                            <a:rPr lang="en-GB" sz="2400" i="1">
                              <a:latin typeface="Cambria Math" panose="02040503050406030204" pitchFamily="18" charset="0"/>
                            </a:rPr>
                            <m:t>:</m:t>
                          </m:r>
                          <m:r>
                            <a:rPr lang="en-GB" sz="2400" i="1">
                              <a:latin typeface="Cambria Math" panose="02040503050406030204" pitchFamily="18" charset="0"/>
                            </a:rPr>
                            <m:t>𝑒</m:t>
                          </m:r>
                          <m:r>
                            <a:rPr lang="en-GB" sz="2400" i="1">
                              <a:latin typeface="Cambria Math" panose="02040503050406030204" pitchFamily="18" charset="0"/>
                            </a:rPr>
                            <m:t>∈</m:t>
                          </m:r>
                          <m:r>
                            <a:rPr lang="en-GB" sz="2400" b="0" i="1" smtClean="0">
                              <a:latin typeface="Cambria Math" panose="02040503050406030204" pitchFamily="18" charset="0"/>
                            </a:rPr>
                            <m:t>𝑡</m:t>
                          </m:r>
                        </m:sub>
                        <m:sup/>
                        <m:e>
                          <m:sSub>
                            <m:sSubPr>
                              <m:ctrlPr>
                                <a:rPr lang="en-GB" sz="24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GB" sz="2400" i="1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GB" sz="2400" b="0" i="1" smtClean="0"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sub>
                          </m:sSub>
                          <m:r>
                            <a:rPr lang="en-GB" sz="2400" i="1">
                              <a:latin typeface="Cambria Math" panose="02040503050406030204" pitchFamily="18" charset="0"/>
                            </a:rPr>
                            <m:t>≥1</m:t>
                          </m:r>
                        </m:e>
                      </m:nary>
                      <m:r>
                        <a:rPr lang="en-GB" sz="2400" i="1">
                          <a:latin typeface="Cambria Math" panose="02040503050406030204" pitchFamily="18" charset="0"/>
                        </a:rPr>
                        <m:t>,  ∀</m:t>
                      </m:r>
                      <m:r>
                        <a:rPr lang="en-GB" sz="2400" i="1">
                          <a:latin typeface="Cambria Math" panose="02040503050406030204" pitchFamily="18" charset="0"/>
                        </a:rPr>
                        <m:t>𝑒</m:t>
                      </m:r>
                      <m:r>
                        <a:rPr lang="en-GB" sz="2400" i="1">
                          <a:latin typeface="Cambria Math" panose="02040503050406030204" pitchFamily="18" charset="0"/>
                        </a:rPr>
                        <m:t>∈</m:t>
                      </m:r>
                      <m:r>
                        <a:rPr lang="en-GB" sz="2400" i="1">
                          <a:latin typeface="Cambria Math" panose="02040503050406030204" pitchFamily="18" charset="0"/>
                        </a:rPr>
                        <m:t>𝑈</m:t>
                      </m:r>
                    </m:oMath>
                  </m:oMathPara>
                </a14:m>
                <a:endParaRPr lang="en-GB" sz="2400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GB" sz="24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sz="2400" i="1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GB" sz="2400" b="0" i="1" smtClean="0">
                              <a:latin typeface="Cambria Math" panose="02040503050406030204" pitchFamily="18" charset="0"/>
                            </a:rPr>
                            <m:t>𝑡</m:t>
                          </m:r>
                        </m:sub>
                      </m:sSub>
                      <m:r>
                        <a:rPr lang="en-GB" sz="2400" i="1">
                          <a:latin typeface="Cambria Math" panose="02040503050406030204" pitchFamily="18" charset="0"/>
                        </a:rPr>
                        <m:t>∈{0,1}</m:t>
                      </m:r>
                    </m:oMath>
                  </m:oMathPara>
                </a14:m>
                <a:endParaRPr lang="en-GB" sz="2400" dirty="0"/>
              </a:p>
            </p:txBody>
          </p:sp>
        </mc:Choice>
        <mc:Fallback>
          <p:sp>
            <p:nvSpPr>
              <p:cNvPr id="5" name="Content Placeholder 4">
                <a:extLst>
                  <a:ext uri="{FF2B5EF4-FFF2-40B4-BE49-F238E27FC236}">
                    <a16:creationId xmlns:a16="http://schemas.microsoft.com/office/drawing/2014/main" id="{1E712F17-711D-489F-997B-7EE688F7E743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452141" y="1428161"/>
                <a:ext cx="5562160" cy="4657580"/>
              </a:xfrm>
              <a:blipFill>
                <a:blip r:embed="rId2"/>
                <a:stretch>
                  <a:fillRect l="-1643" t="-1832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8" name="Content Placeholder 4">
                <a:extLst>
                  <a:ext uri="{FF2B5EF4-FFF2-40B4-BE49-F238E27FC236}">
                    <a16:creationId xmlns:a16="http://schemas.microsoft.com/office/drawing/2014/main" id="{608A163D-DDEA-4F46-8AC5-B1ED09607FF4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6014301" y="1545257"/>
                <a:ext cx="5562160" cy="4657580"/>
              </a:xfrm>
              <a:prstGeom prst="rect">
                <a:avLst/>
              </a:prstGeom>
            </p:spPr>
            <p:txBody>
              <a:bodyPr vert="horz" lIns="91440" tIns="45720" rIns="91440" bIns="45720" rtlCol="0">
                <a:normAutofit/>
              </a:bodyPr>
              <a:lstStyle>
                <a:lvl1pPr marL="228600" indent="-228600" algn="l" defTabSz="9144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2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685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5146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indent="0">
                  <a:buFont typeface="Arial" panose="020B0604020202020204" pitchFamily="34" charset="0"/>
                  <a:buNone/>
                </a:pPr>
                <a14:m>
                  <m:oMath xmlns:m="http://schemas.openxmlformats.org/officeDocument/2006/math">
                    <m:r>
                      <a:rPr lang="en-GB" sz="2400" b="0" i="1" smtClean="0">
                        <a:latin typeface="Cambria Math" panose="02040503050406030204" pitchFamily="18" charset="0"/>
                      </a:rPr>
                      <m:t>𝑆</m:t>
                    </m:r>
                  </m:oMath>
                </a14:m>
                <a:r>
                  <a:rPr lang="en-GB" sz="2400" b="0" i="1" dirty="0">
                    <a:latin typeface="Cambria Math" panose="02040503050406030204" pitchFamily="18" charset="0"/>
                  </a:rPr>
                  <a:t> – </a:t>
                </a:r>
                <a:r>
                  <a:rPr lang="en-GB" sz="2400" dirty="0"/>
                  <a:t>All possible sets to choose from</a:t>
                </a:r>
              </a:p>
              <a:p>
                <a:pPr marL="0" indent="0">
                  <a:buNone/>
                </a:pPr>
                <a14:m>
                  <m:oMath xmlns:m="http://schemas.openxmlformats.org/officeDocument/2006/math">
                    <m:r>
                      <a:rPr lang="en-GB" sz="2400" b="0" i="1" smtClean="0">
                        <a:latin typeface="Cambria Math" panose="02040503050406030204" pitchFamily="18" charset="0"/>
                      </a:rPr>
                      <m:t>𝑡</m:t>
                    </m:r>
                    <m:r>
                      <a:rPr lang="en-GB" sz="2400" i="1">
                        <a:latin typeface="Cambria Math" panose="02040503050406030204" pitchFamily="18" charset="0"/>
                      </a:rPr>
                      <m:t>∈</m:t>
                    </m:r>
                    <m:r>
                      <a:rPr lang="en-GB" sz="2400" i="1">
                        <a:latin typeface="Cambria Math" panose="02040503050406030204" pitchFamily="18" charset="0"/>
                      </a:rPr>
                      <m:t>𝑆</m:t>
                    </m:r>
                  </m:oMath>
                </a14:m>
                <a:r>
                  <a:rPr lang="en-GB" sz="2400" dirty="0"/>
                  <a:t> – A given set </a:t>
                </a:r>
                <a14:m>
                  <m:oMath xmlns:m="http://schemas.openxmlformats.org/officeDocument/2006/math">
                    <m:r>
                      <a:rPr lang="en-GB" sz="2400" b="0" i="1" smtClean="0">
                        <a:latin typeface="Cambria Math" panose="02040503050406030204" pitchFamily="18" charset="0"/>
                      </a:rPr>
                      <m:t>𝑡</m:t>
                    </m:r>
                  </m:oMath>
                </a14:m>
                <a:endParaRPr lang="en-GB" sz="2400" b="0" i="1" dirty="0">
                  <a:latin typeface="Cambria Math" panose="02040503050406030204" pitchFamily="18" charset="0"/>
                </a:endParaRPr>
              </a:p>
              <a:p>
                <a:pPr marL="0" indent="0">
                  <a:buFont typeface="Arial" panose="020B0604020202020204" pitchFamily="34" charset="0"/>
                  <a:buNone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GB" sz="2400" b="0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sz="2400" b="0" i="1" dirty="0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GB" sz="2400" b="0" i="1" dirty="0" smtClean="0">
                            <a:latin typeface="Cambria Math" panose="02040503050406030204" pitchFamily="18" charset="0"/>
                          </a:rPr>
                          <m:t>𝑡</m:t>
                        </m:r>
                      </m:sub>
                    </m:sSub>
                  </m:oMath>
                </a14:m>
                <a:r>
                  <a:rPr lang="en-GB" sz="2400" dirty="0"/>
                  <a:t> - Set </a:t>
                </a:r>
                <a14:m>
                  <m:oMath xmlns:m="http://schemas.openxmlformats.org/officeDocument/2006/math">
                    <m:r>
                      <a:rPr lang="en-GB" sz="2400" b="0" i="1" smtClean="0">
                        <a:latin typeface="Cambria Math" panose="02040503050406030204" pitchFamily="18" charset="0"/>
                      </a:rPr>
                      <m:t>𝑡</m:t>
                    </m:r>
                  </m:oMath>
                </a14:m>
                <a:r>
                  <a:rPr lang="en-GB" sz="2400" dirty="0"/>
                  <a:t> chosen or not</a:t>
                </a:r>
              </a:p>
              <a:p>
                <a:pPr marL="0" indent="0">
                  <a:buFont typeface="Arial" panose="020B0604020202020204" pitchFamily="34" charset="0"/>
                  <a:buNone/>
                </a:pPr>
                <a14:m>
                  <m:oMath xmlns:m="http://schemas.openxmlformats.org/officeDocument/2006/math">
                    <m:r>
                      <a:rPr lang="en-GB" sz="2400" b="0" i="1" smtClean="0">
                        <a:latin typeface="Cambria Math" panose="02040503050406030204" pitchFamily="18" charset="0"/>
                      </a:rPr>
                      <m:t>𝑁</m:t>
                    </m:r>
                  </m:oMath>
                </a14:m>
                <a:r>
                  <a:rPr lang="en-GB" sz="2400" dirty="0"/>
                  <a:t> – number of sets |S|</a:t>
                </a:r>
              </a:p>
              <a:p>
                <a:pPr marL="0" indent="0">
                  <a:buFont typeface="Arial" panose="020B0604020202020204" pitchFamily="34" charset="0"/>
                  <a:buNone/>
                </a:pPr>
                <a:endParaRPr lang="en-GB" sz="2400" dirty="0"/>
              </a:p>
              <a:p>
                <a:pPr marL="0" indent="0">
                  <a:buFont typeface="Arial" panose="020B0604020202020204" pitchFamily="34" charset="0"/>
                  <a:buNone/>
                </a:pPr>
                <a14:m>
                  <m:oMath xmlns:m="http://schemas.openxmlformats.org/officeDocument/2006/math">
                    <m:r>
                      <a:rPr lang="en-GB" sz="2400" b="0" i="1" smtClean="0">
                        <a:latin typeface="Cambria Math" panose="02040503050406030204" pitchFamily="18" charset="0"/>
                      </a:rPr>
                      <m:t>𝑈</m:t>
                    </m:r>
                    <m:r>
                      <a:rPr lang="en-GB" sz="2400" b="0" i="1" smtClean="0">
                        <a:latin typeface="Cambria Math" panose="02040503050406030204" pitchFamily="18" charset="0"/>
                      </a:rPr>
                      <m:t>=</m:t>
                    </m:r>
                  </m:oMath>
                </a14:m>
                <a:r>
                  <a:rPr lang="en-GB" sz="2400" dirty="0"/>
                  <a:t> Set of all elements contained in S</a:t>
                </a:r>
              </a:p>
            </p:txBody>
          </p:sp>
        </mc:Choice>
        <mc:Fallback>
          <p:sp>
            <p:nvSpPr>
              <p:cNvPr id="8" name="Content Placeholder 4">
                <a:extLst>
                  <a:ext uri="{FF2B5EF4-FFF2-40B4-BE49-F238E27FC236}">
                    <a16:creationId xmlns:a16="http://schemas.microsoft.com/office/drawing/2014/main" id="{608A163D-DDEA-4F46-8AC5-B1ED09607FF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014301" y="1545257"/>
                <a:ext cx="5562160" cy="4657580"/>
              </a:xfrm>
              <a:prstGeom prst="rect">
                <a:avLst/>
              </a:prstGeom>
              <a:blipFill>
                <a:blip r:embed="rId3"/>
                <a:stretch>
                  <a:fillRect l="-329" t="-2092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8166295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>
            <a:extLst>
              <a:ext uri="{FF2B5EF4-FFF2-40B4-BE49-F238E27FC236}">
                <a16:creationId xmlns:a16="http://schemas.microsoft.com/office/drawing/2014/main" id="{DB57E94D-7ABF-4564-B18E-07C64105872B}"/>
              </a:ext>
            </a:extLst>
          </p:cNvPr>
          <p:cNvSpPr txBox="1">
            <a:spLocks/>
          </p:cNvSpPr>
          <p:nvPr/>
        </p:nvSpPr>
        <p:spPr>
          <a:xfrm>
            <a:off x="838200" y="365125"/>
            <a:ext cx="10515600" cy="70629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GB"/>
              <a:t>General Set Covering Problem</a:t>
            </a:r>
            <a:endParaRPr lang="en-GB" u="sng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5" name="Content Placeholder 4">
                <a:extLst>
                  <a:ext uri="{FF2B5EF4-FFF2-40B4-BE49-F238E27FC236}">
                    <a16:creationId xmlns:a16="http://schemas.microsoft.com/office/drawing/2014/main" id="{1E712F17-711D-489F-997B-7EE688F7E743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452141" y="1428161"/>
                <a:ext cx="5562160" cy="4657580"/>
              </a:xfrm>
            </p:spPr>
            <p:txBody>
              <a:bodyPr>
                <a:normAutofit/>
              </a:bodyPr>
              <a:lstStyle/>
              <a:p>
                <a:pPr marL="0" indent="0">
                  <a:buNone/>
                </a:pPr>
                <a:r>
                  <a:rPr lang="en-GB" sz="2400" dirty="0"/>
                  <a:t>minimise 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nary>
                        <m:naryPr>
                          <m:chr m:val="∑"/>
                          <m:supHide m:val="on"/>
                          <m:ctrlPr>
                            <a:rPr lang="en-GB" sz="2400" i="1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en-GB" sz="2400" i="1">
                              <a:latin typeface="Cambria Math" panose="02040503050406030204" pitchFamily="18" charset="0"/>
                            </a:rPr>
                            <m:t>𝑡</m:t>
                          </m:r>
                          <m:r>
                            <a:rPr lang="en-GB" sz="2400" i="1">
                              <a:latin typeface="Cambria Math" panose="02040503050406030204" pitchFamily="18" charset="0"/>
                            </a:rPr>
                            <m:t>∈</m:t>
                          </m:r>
                          <m:r>
                            <a:rPr lang="en-GB" sz="2400" i="1">
                              <a:latin typeface="Cambria Math" panose="02040503050406030204" pitchFamily="18" charset="0"/>
                            </a:rPr>
                            <m:t>𝑆</m:t>
                          </m:r>
                        </m:sub>
                        <m:sup/>
                        <m:e>
                          <m:sSub>
                            <m:sSubPr>
                              <m:ctrlPr>
                                <a:rPr lang="en-GB" sz="24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GB" sz="2400" i="1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GB" sz="2400" i="1"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sub>
                          </m:sSub>
                        </m:e>
                      </m:nary>
                    </m:oMath>
                  </m:oMathPara>
                </a14:m>
                <a:endParaRPr lang="en-GB" sz="2400" dirty="0"/>
              </a:p>
              <a:p>
                <a:pPr marL="0" indent="0">
                  <a:buNone/>
                </a:pPr>
                <a:r>
                  <a:rPr lang="en-GB" sz="2400" dirty="0"/>
                  <a:t>subject to: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nary>
                        <m:naryPr>
                          <m:chr m:val="∑"/>
                          <m:supHide m:val="on"/>
                          <m:ctrlPr>
                            <a:rPr lang="en-GB" sz="2400" i="1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en-GB" sz="2400" i="1">
                              <a:latin typeface="Cambria Math" panose="02040503050406030204" pitchFamily="18" charset="0"/>
                            </a:rPr>
                            <m:t>𝑡</m:t>
                          </m:r>
                          <m:r>
                            <a:rPr lang="en-GB" sz="2400" i="1">
                              <a:latin typeface="Cambria Math" panose="02040503050406030204" pitchFamily="18" charset="0"/>
                            </a:rPr>
                            <m:t>:</m:t>
                          </m:r>
                          <m:r>
                            <a:rPr lang="en-GB" sz="2400" i="1">
                              <a:latin typeface="Cambria Math" panose="02040503050406030204" pitchFamily="18" charset="0"/>
                            </a:rPr>
                            <m:t>𝑒</m:t>
                          </m:r>
                          <m:r>
                            <a:rPr lang="en-GB" sz="2400" i="1">
                              <a:latin typeface="Cambria Math" panose="02040503050406030204" pitchFamily="18" charset="0"/>
                            </a:rPr>
                            <m:t>∈</m:t>
                          </m:r>
                          <m:r>
                            <a:rPr lang="en-GB" sz="2400" i="1">
                              <a:latin typeface="Cambria Math" panose="02040503050406030204" pitchFamily="18" charset="0"/>
                            </a:rPr>
                            <m:t>𝑡</m:t>
                          </m:r>
                        </m:sub>
                        <m:sup/>
                        <m:e>
                          <m:sSub>
                            <m:sSubPr>
                              <m:ctrlPr>
                                <a:rPr lang="en-GB" sz="24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GB" sz="2400" i="1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GB" sz="2400" i="1"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sub>
                          </m:sSub>
                          <m:r>
                            <a:rPr lang="en-GB" sz="2400" i="1">
                              <a:latin typeface="Cambria Math" panose="02040503050406030204" pitchFamily="18" charset="0"/>
                            </a:rPr>
                            <m:t>≥1</m:t>
                          </m:r>
                        </m:e>
                      </m:nary>
                      <m:r>
                        <a:rPr lang="en-GB" sz="2400" i="1">
                          <a:latin typeface="Cambria Math" panose="02040503050406030204" pitchFamily="18" charset="0"/>
                        </a:rPr>
                        <m:t>,  ∀</m:t>
                      </m:r>
                      <m:r>
                        <a:rPr lang="en-GB" sz="2400" i="1">
                          <a:latin typeface="Cambria Math" panose="02040503050406030204" pitchFamily="18" charset="0"/>
                        </a:rPr>
                        <m:t>𝑒</m:t>
                      </m:r>
                      <m:r>
                        <a:rPr lang="en-GB" sz="2400" i="1">
                          <a:latin typeface="Cambria Math" panose="02040503050406030204" pitchFamily="18" charset="0"/>
                        </a:rPr>
                        <m:t>∈</m:t>
                      </m:r>
                      <m:r>
                        <a:rPr lang="en-GB" sz="2400" i="1">
                          <a:latin typeface="Cambria Math" panose="02040503050406030204" pitchFamily="18" charset="0"/>
                        </a:rPr>
                        <m:t>𝑈</m:t>
                      </m:r>
                    </m:oMath>
                  </m:oMathPara>
                </a14:m>
                <a:endParaRPr lang="en-GB" sz="2400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GB" sz="24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sz="2400" i="1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GB" sz="2400" i="1">
                              <a:latin typeface="Cambria Math" panose="02040503050406030204" pitchFamily="18" charset="0"/>
                            </a:rPr>
                            <m:t>𝑡</m:t>
                          </m:r>
                        </m:sub>
                      </m:sSub>
                      <m:r>
                        <a:rPr lang="en-GB" sz="2400" i="1">
                          <a:latin typeface="Cambria Math" panose="02040503050406030204" pitchFamily="18" charset="0"/>
                        </a:rPr>
                        <m:t>∈{0,1}</m:t>
                      </m:r>
                    </m:oMath>
                  </m:oMathPara>
                </a14:m>
                <a:endParaRPr lang="en-GB" sz="2400" dirty="0"/>
              </a:p>
            </p:txBody>
          </p:sp>
        </mc:Choice>
        <mc:Fallback>
          <p:sp>
            <p:nvSpPr>
              <p:cNvPr id="5" name="Content Placeholder 4">
                <a:extLst>
                  <a:ext uri="{FF2B5EF4-FFF2-40B4-BE49-F238E27FC236}">
                    <a16:creationId xmlns:a16="http://schemas.microsoft.com/office/drawing/2014/main" id="{1E712F17-711D-489F-997B-7EE688F7E743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452141" y="1428161"/>
                <a:ext cx="5562160" cy="4657580"/>
              </a:xfrm>
              <a:blipFill>
                <a:blip r:embed="rId2"/>
                <a:stretch>
                  <a:fillRect l="-1643" t="-1832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" name="Content Placeholder 4">
                <a:extLst>
                  <a:ext uri="{FF2B5EF4-FFF2-40B4-BE49-F238E27FC236}">
                    <a16:creationId xmlns:a16="http://schemas.microsoft.com/office/drawing/2014/main" id="{608A163D-DDEA-4F46-8AC5-B1ED09607FF4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6014301" y="1545257"/>
                <a:ext cx="5562160" cy="4657580"/>
              </a:xfrm>
              <a:prstGeom prst="rect">
                <a:avLst/>
              </a:prstGeom>
            </p:spPr>
            <p:txBody>
              <a:bodyPr vert="horz" lIns="91440" tIns="45720" rIns="91440" bIns="45720" rtlCol="0">
                <a:normAutofit lnSpcReduction="10000"/>
              </a:bodyPr>
              <a:lstStyle>
                <a:lvl1pPr marL="228600" indent="-228600" algn="l" defTabSz="9144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2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685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5146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indent="0">
                  <a:buFont typeface="Arial" panose="020B0604020202020204" pitchFamily="34" charset="0"/>
                  <a:buNone/>
                </a:pPr>
                <a:r>
                  <a:rPr lang="en-GB" sz="2400" b="0"/>
                  <a:t>Example</a:t>
                </a:r>
              </a:p>
              <a:p>
                <a:pPr marL="0" indent="0">
                  <a:buFont typeface="Arial" panose="020B0604020202020204" pitchFamily="34" charset="0"/>
                  <a:buNone/>
                </a:pPr>
                <a:endParaRPr lang="en-GB" sz="2400" i="1">
                  <a:latin typeface="Cambria Math" panose="02040503050406030204" pitchFamily="18" charset="0"/>
                </a:endParaRPr>
              </a:p>
              <a:p>
                <a:pPr marL="0" indent="0">
                  <a:buFont typeface="Arial" panose="020B0604020202020204" pitchFamily="34" charset="0"/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2400" b="0" i="1" smtClean="0">
                          <a:latin typeface="Cambria Math" panose="02040503050406030204" pitchFamily="18" charset="0"/>
                        </a:rPr>
                        <m:t>𝑎</m:t>
                      </m:r>
                      <m:r>
                        <a:rPr lang="en-GB" sz="2400" b="0" i="1" smtClean="0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{"/>
                          <m:endChr m:val="}"/>
                          <m:ctrlPr>
                            <a:rPr lang="en-GB" sz="24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GB" sz="2400" b="0" i="1" smtClean="0">
                              <a:latin typeface="Cambria Math" panose="02040503050406030204" pitchFamily="18" charset="0"/>
                            </a:rPr>
                            <m:t>1,2,5</m:t>
                          </m:r>
                        </m:e>
                      </m:d>
                      <m:r>
                        <a:rPr lang="en-GB" sz="2400" b="0" i="1" smtClean="0">
                          <a:latin typeface="Cambria Math" panose="02040503050406030204" pitchFamily="18" charset="0"/>
                        </a:rPr>
                        <m:t>,  </m:t>
                      </m:r>
                      <m:r>
                        <a:rPr lang="en-GB" sz="2400" b="0" i="1" smtClean="0">
                          <a:latin typeface="Cambria Math" panose="02040503050406030204" pitchFamily="18" charset="0"/>
                        </a:rPr>
                        <m:t>𝑏</m:t>
                      </m:r>
                      <m:r>
                        <a:rPr lang="en-GB" sz="2400" b="0" i="1" smtClean="0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{"/>
                          <m:endChr m:val="}"/>
                          <m:ctrlPr>
                            <a:rPr lang="en-GB" sz="24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GB" sz="2400" b="0" i="1" smtClean="0">
                              <a:latin typeface="Cambria Math" panose="02040503050406030204" pitchFamily="18" charset="0"/>
                            </a:rPr>
                            <m:t>2,3</m:t>
                          </m:r>
                        </m:e>
                      </m:d>
                      <m:r>
                        <a:rPr lang="en-GB" sz="2400" b="0" i="1" smtClean="0">
                          <a:latin typeface="Cambria Math" panose="02040503050406030204" pitchFamily="18" charset="0"/>
                        </a:rPr>
                        <m:t>,</m:t>
                      </m:r>
                    </m:oMath>
                  </m:oMathPara>
                </a14:m>
                <a:endParaRPr lang="en-GB" sz="2400" b="0" i="1">
                  <a:latin typeface="Cambria Math" panose="02040503050406030204" pitchFamily="18" charset="0"/>
                </a:endParaRPr>
              </a:p>
              <a:p>
                <a:pPr marL="0" indent="0">
                  <a:buFont typeface="Arial" panose="020B0604020202020204" pitchFamily="34" charset="0"/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2400" b="0" i="1" smtClean="0">
                          <a:latin typeface="Cambria Math" panose="02040503050406030204" pitchFamily="18" charset="0"/>
                        </a:rPr>
                        <m:t>  </m:t>
                      </m:r>
                      <m:r>
                        <a:rPr lang="en-GB" sz="2400" b="0" i="1" smtClean="0">
                          <a:latin typeface="Cambria Math" panose="02040503050406030204" pitchFamily="18" charset="0"/>
                        </a:rPr>
                        <m:t>𝑐</m:t>
                      </m:r>
                      <m:r>
                        <a:rPr lang="en-GB" sz="2400" b="0" i="1" smtClean="0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{"/>
                          <m:endChr m:val="}"/>
                          <m:ctrlPr>
                            <a:rPr lang="en-GB" sz="24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GB" sz="2400" b="0" i="1" smtClean="0">
                              <a:latin typeface="Cambria Math" panose="02040503050406030204" pitchFamily="18" charset="0"/>
                            </a:rPr>
                            <m:t>4,5</m:t>
                          </m:r>
                        </m:e>
                      </m:d>
                      <m:r>
                        <a:rPr lang="en-GB" sz="2400" b="0" i="1" smtClean="0">
                          <a:latin typeface="Cambria Math" panose="02040503050406030204" pitchFamily="18" charset="0"/>
                        </a:rPr>
                        <m:t>,  </m:t>
                      </m:r>
                      <m:r>
                        <a:rPr lang="en-GB" sz="2400" b="0" i="1" smtClean="0">
                          <a:latin typeface="Cambria Math" panose="02040503050406030204" pitchFamily="18" charset="0"/>
                        </a:rPr>
                        <m:t>𝑑</m:t>
                      </m:r>
                      <m:r>
                        <a:rPr lang="en-GB" sz="2400" b="0" i="1" smtClean="0">
                          <a:latin typeface="Cambria Math" panose="02040503050406030204" pitchFamily="18" charset="0"/>
                        </a:rPr>
                        <m:t>={3,4}</m:t>
                      </m:r>
                    </m:oMath>
                  </m:oMathPara>
                </a14:m>
                <a:endParaRPr lang="en-GB" sz="2400"/>
              </a:p>
              <a:p>
                <a:pPr marL="0" indent="0">
                  <a:buFont typeface="Arial" panose="020B0604020202020204" pitchFamily="34" charset="0"/>
                  <a:buNone/>
                </a:pPr>
                <a:endParaRPr lang="en-GB" sz="2400"/>
              </a:p>
              <a:p>
                <a:pPr marL="0" indent="0">
                  <a:buFont typeface="Arial" panose="020B0604020202020204" pitchFamily="34" charset="0"/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2400" b="0" i="1" smtClean="0">
                          <a:latin typeface="Cambria Math" panose="02040503050406030204" pitchFamily="18" charset="0"/>
                        </a:rPr>
                        <m:t>𝑆</m:t>
                      </m:r>
                      <m:r>
                        <a:rPr lang="en-GB" sz="2400" b="0" i="1" smtClean="0">
                          <a:latin typeface="Cambria Math" panose="02040503050406030204" pitchFamily="18" charset="0"/>
                        </a:rPr>
                        <m:t>={</m:t>
                      </m:r>
                      <m:r>
                        <a:rPr lang="en-GB" sz="2400" b="0" i="1" smtClean="0">
                          <a:latin typeface="Cambria Math" panose="02040503050406030204" pitchFamily="18" charset="0"/>
                        </a:rPr>
                        <m:t>𝑎</m:t>
                      </m:r>
                      <m:r>
                        <a:rPr lang="en-GB" sz="2400" b="0" i="1" smtClean="0">
                          <a:latin typeface="Cambria Math" panose="02040503050406030204" pitchFamily="18" charset="0"/>
                        </a:rPr>
                        <m:t>,</m:t>
                      </m:r>
                      <m:r>
                        <a:rPr lang="en-GB" sz="2400" b="0" i="1" smtClean="0">
                          <a:latin typeface="Cambria Math" panose="02040503050406030204" pitchFamily="18" charset="0"/>
                        </a:rPr>
                        <m:t>𝑏</m:t>
                      </m:r>
                      <m:r>
                        <a:rPr lang="en-GB" sz="2400" b="0" i="1" smtClean="0">
                          <a:latin typeface="Cambria Math" panose="02040503050406030204" pitchFamily="18" charset="0"/>
                        </a:rPr>
                        <m:t>,</m:t>
                      </m:r>
                      <m:r>
                        <a:rPr lang="en-GB" sz="2400" b="0" i="1" smtClean="0">
                          <a:latin typeface="Cambria Math" panose="02040503050406030204" pitchFamily="18" charset="0"/>
                        </a:rPr>
                        <m:t>𝑐</m:t>
                      </m:r>
                      <m:r>
                        <a:rPr lang="en-GB" sz="2400" b="0" i="1" smtClean="0">
                          <a:latin typeface="Cambria Math" panose="02040503050406030204" pitchFamily="18" charset="0"/>
                        </a:rPr>
                        <m:t>,</m:t>
                      </m:r>
                      <m:r>
                        <a:rPr lang="en-GB" sz="2400" b="0" i="1" smtClean="0">
                          <a:latin typeface="Cambria Math" panose="02040503050406030204" pitchFamily="18" charset="0"/>
                        </a:rPr>
                        <m:t>𝑑</m:t>
                      </m:r>
                      <m:r>
                        <a:rPr lang="en-GB" sz="2400" b="0" i="1" smtClean="0">
                          <a:latin typeface="Cambria Math" panose="02040503050406030204" pitchFamily="18" charset="0"/>
                        </a:rPr>
                        <m:t>}</m:t>
                      </m:r>
                    </m:oMath>
                  </m:oMathPara>
                </a14:m>
                <a:endParaRPr lang="en-GB" sz="2400"/>
              </a:p>
              <a:p>
                <a:pPr marL="0" indent="0">
                  <a:buFont typeface="Arial" panose="020B0604020202020204" pitchFamily="34" charset="0"/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2400" b="0" i="1" smtClean="0">
                          <a:latin typeface="Cambria Math" panose="02040503050406030204" pitchFamily="18" charset="0"/>
                        </a:rPr>
                        <m:t>𝑈</m:t>
                      </m:r>
                      <m:r>
                        <a:rPr lang="en-GB" sz="2400" b="0" i="1" smtClean="0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{"/>
                          <m:endChr m:val="}"/>
                          <m:ctrlPr>
                            <a:rPr lang="en-GB" sz="24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GB" sz="2400" b="0" i="1" smtClean="0">
                              <a:latin typeface="Cambria Math" panose="02040503050406030204" pitchFamily="18" charset="0"/>
                            </a:rPr>
                            <m:t>1,2,3,4,5</m:t>
                          </m:r>
                        </m:e>
                      </m:d>
                    </m:oMath>
                    <m:oMath xmlns:m="http://schemas.openxmlformats.org/officeDocument/2006/math">
                      <m:r>
                        <a:rPr lang="en-GB" sz="2400" b="0" i="1" smtClean="0">
                          <a:latin typeface="Cambria Math" panose="02040503050406030204" pitchFamily="18" charset="0"/>
                        </a:rPr>
                        <m:t>𝑁</m:t>
                      </m:r>
                      <m:r>
                        <a:rPr lang="en-GB" sz="2400" b="0" i="1" smtClean="0">
                          <a:latin typeface="Cambria Math" panose="02040503050406030204" pitchFamily="18" charset="0"/>
                        </a:rPr>
                        <m:t>=4</m:t>
                      </m:r>
                    </m:oMath>
                  </m:oMathPara>
                </a14:m>
                <a:endParaRPr lang="en-GB" sz="2400" b="0"/>
              </a:p>
              <a:p>
                <a:pPr marL="0" indent="0">
                  <a:buFont typeface="Arial" panose="020B0604020202020204" pitchFamily="34" charset="0"/>
                  <a:buNone/>
                </a:pPr>
                <a:endParaRPr lang="en-GB" sz="2400"/>
              </a:p>
              <a:p>
                <a:pPr marL="0" indent="0">
                  <a:buFont typeface="Arial" panose="020B0604020202020204" pitchFamily="34" charset="0"/>
                  <a:buNone/>
                </a:pPr>
                <a:r>
                  <a:rPr lang="en-GB" sz="2400"/>
                  <a:t>Pick the minimum number of sets to get all elements in </a:t>
                </a:r>
                <a14:m>
                  <m:oMath xmlns:m="http://schemas.openxmlformats.org/officeDocument/2006/math">
                    <m:r>
                      <a:rPr lang="en-GB" sz="2400" b="0" i="1" smtClean="0">
                        <a:latin typeface="Cambria Math" panose="02040503050406030204" pitchFamily="18" charset="0"/>
                      </a:rPr>
                      <m:t>𝑈</m:t>
                    </m:r>
                  </m:oMath>
                </a14:m>
                <a:endParaRPr lang="en-GB" sz="2400"/>
              </a:p>
              <a:p>
                <a:pPr marL="0" indent="0">
                  <a:buFont typeface="Arial" panose="020B0604020202020204" pitchFamily="34" charset="0"/>
                  <a:buNone/>
                </a:pPr>
                <a:r>
                  <a:rPr lang="en-GB" sz="2400" b="0"/>
                  <a:t>Answer by inspection?</a:t>
                </a:r>
              </a:p>
              <a:p>
                <a:pPr marL="0" indent="0">
                  <a:buFont typeface="Arial" panose="020B0604020202020204" pitchFamily="34" charset="0"/>
                  <a:buNone/>
                </a:pPr>
                <a:endParaRPr lang="en-GB" sz="2400"/>
              </a:p>
            </p:txBody>
          </p:sp>
        </mc:Choice>
        <mc:Fallback xmlns="">
          <p:sp>
            <p:nvSpPr>
              <p:cNvPr id="8" name="Content Placeholder 4">
                <a:extLst>
                  <a:ext uri="{FF2B5EF4-FFF2-40B4-BE49-F238E27FC236}">
                    <a16:creationId xmlns:a16="http://schemas.microsoft.com/office/drawing/2014/main" id="{608A163D-DDEA-4F46-8AC5-B1ED09607FF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014301" y="1545257"/>
                <a:ext cx="5562160" cy="4657580"/>
              </a:xfrm>
              <a:prstGeom prst="rect">
                <a:avLst/>
              </a:prstGeom>
              <a:blipFill>
                <a:blip r:embed="rId3"/>
                <a:stretch>
                  <a:fillRect l="-1754" t="-2484" r="-164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24966077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>
            <a:extLst>
              <a:ext uri="{FF2B5EF4-FFF2-40B4-BE49-F238E27FC236}">
                <a16:creationId xmlns:a16="http://schemas.microsoft.com/office/drawing/2014/main" id="{DB57E94D-7ABF-4564-B18E-07C64105872B}"/>
              </a:ext>
            </a:extLst>
          </p:cNvPr>
          <p:cNvSpPr txBox="1">
            <a:spLocks/>
          </p:cNvSpPr>
          <p:nvPr/>
        </p:nvSpPr>
        <p:spPr>
          <a:xfrm>
            <a:off x="838200" y="365125"/>
            <a:ext cx="10515600" cy="70629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GB"/>
              <a:t>General Set Covering Problem</a:t>
            </a:r>
            <a:endParaRPr lang="en-GB" u="sng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5" name="Content Placeholder 4">
                <a:extLst>
                  <a:ext uri="{FF2B5EF4-FFF2-40B4-BE49-F238E27FC236}">
                    <a16:creationId xmlns:a16="http://schemas.microsoft.com/office/drawing/2014/main" id="{1E712F17-711D-489F-997B-7EE688F7E743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452141" y="1428161"/>
                <a:ext cx="5562160" cy="4657580"/>
              </a:xfrm>
            </p:spPr>
            <p:txBody>
              <a:bodyPr>
                <a:normAutofit/>
              </a:bodyPr>
              <a:lstStyle/>
              <a:p>
                <a:pPr marL="0" indent="0">
                  <a:buNone/>
                </a:pPr>
                <a:r>
                  <a:rPr lang="en-GB" sz="2400" dirty="0"/>
                  <a:t>minimise 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nary>
                        <m:naryPr>
                          <m:chr m:val="∑"/>
                          <m:supHide m:val="on"/>
                          <m:ctrlPr>
                            <a:rPr lang="en-GB" sz="2400" i="1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en-GB" sz="2400" i="1">
                              <a:latin typeface="Cambria Math" panose="02040503050406030204" pitchFamily="18" charset="0"/>
                            </a:rPr>
                            <m:t>𝑡</m:t>
                          </m:r>
                          <m:r>
                            <a:rPr lang="en-GB" sz="2400" i="1">
                              <a:latin typeface="Cambria Math" panose="02040503050406030204" pitchFamily="18" charset="0"/>
                            </a:rPr>
                            <m:t>∈</m:t>
                          </m:r>
                          <m:r>
                            <a:rPr lang="en-GB" sz="2400" i="1">
                              <a:latin typeface="Cambria Math" panose="02040503050406030204" pitchFamily="18" charset="0"/>
                            </a:rPr>
                            <m:t>𝑆</m:t>
                          </m:r>
                        </m:sub>
                        <m:sup/>
                        <m:e>
                          <m:sSub>
                            <m:sSubPr>
                              <m:ctrlPr>
                                <a:rPr lang="en-GB" sz="24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GB" sz="2400" i="1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GB" sz="2400" i="1"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sub>
                          </m:sSub>
                        </m:e>
                      </m:nary>
                    </m:oMath>
                  </m:oMathPara>
                </a14:m>
                <a:endParaRPr lang="en-GB" sz="2400" dirty="0"/>
              </a:p>
              <a:p>
                <a:pPr marL="0" indent="0">
                  <a:buNone/>
                </a:pPr>
                <a:r>
                  <a:rPr lang="en-GB" sz="2400" dirty="0"/>
                  <a:t>subject to: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nary>
                        <m:naryPr>
                          <m:chr m:val="∑"/>
                          <m:supHide m:val="on"/>
                          <m:ctrlPr>
                            <a:rPr lang="en-GB" sz="2400" i="1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en-GB" sz="2400" i="1">
                              <a:latin typeface="Cambria Math" panose="02040503050406030204" pitchFamily="18" charset="0"/>
                            </a:rPr>
                            <m:t>𝑡</m:t>
                          </m:r>
                          <m:r>
                            <a:rPr lang="en-GB" sz="2400" i="1">
                              <a:latin typeface="Cambria Math" panose="02040503050406030204" pitchFamily="18" charset="0"/>
                            </a:rPr>
                            <m:t>:</m:t>
                          </m:r>
                          <m:r>
                            <a:rPr lang="en-GB" sz="2400" i="1">
                              <a:latin typeface="Cambria Math" panose="02040503050406030204" pitchFamily="18" charset="0"/>
                            </a:rPr>
                            <m:t>𝑒</m:t>
                          </m:r>
                          <m:r>
                            <a:rPr lang="en-GB" sz="2400" i="1">
                              <a:latin typeface="Cambria Math" panose="02040503050406030204" pitchFamily="18" charset="0"/>
                            </a:rPr>
                            <m:t>∈</m:t>
                          </m:r>
                          <m:r>
                            <a:rPr lang="en-GB" sz="2400" i="1">
                              <a:latin typeface="Cambria Math" panose="02040503050406030204" pitchFamily="18" charset="0"/>
                            </a:rPr>
                            <m:t>𝑡</m:t>
                          </m:r>
                        </m:sub>
                        <m:sup/>
                        <m:e>
                          <m:sSub>
                            <m:sSubPr>
                              <m:ctrlPr>
                                <a:rPr lang="en-GB" sz="24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GB" sz="2400" i="1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GB" sz="2400" i="1"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sub>
                          </m:sSub>
                          <m:r>
                            <a:rPr lang="en-GB" sz="2400" i="1">
                              <a:latin typeface="Cambria Math" panose="02040503050406030204" pitchFamily="18" charset="0"/>
                            </a:rPr>
                            <m:t>≥1</m:t>
                          </m:r>
                        </m:e>
                      </m:nary>
                      <m:r>
                        <a:rPr lang="en-GB" sz="2400" i="1">
                          <a:latin typeface="Cambria Math" panose="02040503050406030204" pitchFamily="18" charset="0"/>
                        </a:rPr>
                        <m:t>,  ∀</m:t>
                      </m:r>
                      <m:r>
                        <a:rPr lang="en-GB" sz="2400" i="1">
                          <a:latin typeface="Cambria Math" panose="02040503050406030204" pitchFamily="18" charset="0"/>
                        </a:rPr>
                        <m:t>𝑒</m:t>
                      </m:r>
                      <m:r>
                        <a:rPr lang="en-GB" sz="2400" i="1">
                          <a:latin typeface="Cambria Math" panose="02040503050406030204" pitchFamily="18" charset="0"/>
                        </a:rPr>
                        <m:t>∈</m:t>
                      </m:r>
                      <m:r>
                        <a:rPr lang="en-GB" sz="2400" i="1">
                          <a:latin typeface="Cambria Math" panose="02040503050406030204" pitchFamily="18" charset="0"/>
                        </a:rPr>
                        <m:t>𝑈</m:t>
                      </m:r>
                    </m:oMath>
                  </m:oMathPara>
                </a14:m>
                <a:endParaRPr lang="en-GB" sz="2400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GB" sz="24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sz="2400" i="1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GB" sz="2400" i="1">
                              <a:latin typeface="Cambria Math" panose="02040503050406030204" pitchFamily="18" charset="0"/>
                            </a:rPr>
                            <m:t>𝑡</m:t>
                          </m:r>
                        </m:sub>
                      </m:sSub>
                      <m:r>
                        <a:rPr lang="en-GB" sz="2400" i="1">
                          <a:latin typeface="Cambria Math" panose="02040503050406030204" pitchFamily="18" charset="0"/>
                        </a:rPr>
                        <m:t>∈{0,1}</m:t>
                      </m:r>
                    </m:oMath>
                  </m:oMathPara>
                </a14:m>
                <a:endParaRPr lang="en-GB" sz="2400" dirty="0"/>
              </a:p>
            </p:txBody>
          </p:sp>
        </mc:Choice>
        <mc:Fallback>
          <p:sp>
            <p:nvSpPr>
              <p:cNvPr id="5" name="Content Placeholder 4">
                <a:extLst>
                  <a:ext uri="{FF2B5EF4-FFF2-40B4-BE49-F238E27FC236}">
                    <a16:creationId xmlns:a16="http://schemas.microsoft.com/office/drawing/2014/main" id="{1E712F17-711D-489F-997B-7EE688F7E743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452141" y="1428161"/>
                <a:ext cx="5562160" cy="4657580"/>
              </a:xfrm>
              <a:blipFill>
                <a:blip r:embed="rId2"/>
                <a:stretch>
                  <a:fillRect l="-1643" t="-1832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" name="Content Placeholder 4">
                <a:extLst>
                  <a:ext uri="{FF2B5EF4-FFF2-40B4-BE49-F238E27FC236}">
                    <a16:creationId xmlns:a16="http://schemas.microsoft.com/office/drawing/2014/main" id="{608A163D-DDEA-4F46-8AC5-B1ED09607FF4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6014301" y="1545257"/>
                <a:ext cx="5562160" cy="4657580"/>
              </a:xfrm>
              <a:prstGeom prst="rect">
                <a:avLst/>
              </a:prstGeom>
            </p:spPr>
            <p:txBody>
              <a:bodyPr vert="horz" lIns="91440" tIns="45720" rIns="91440" bIns="45720" rtlCol="0">
                <a:normAutofit fontScale="70000" lnSpcReduction="20000"/>
              </a:bodyPr>
              <a:lstStyle>
                <a:lvl1pPr marL="228600" indent="-228600" algn="l" defTabSz="9144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2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685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5146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indent="0">
                  <a:buFont typeface="Arial" panose="020B0604020202020204" pitchFamily="34" charset="0"/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2400" b="0" i="1" smtClean="0">
                          <a:latin typeface="Cambria Math" panose="02040503050406030204" pitchFamily="18" charset="0"/>
                        </a:rPr>
                        <m:t>𝑎</m:t>
                      </m:r>
                      <m:r>
                        <a:rPr lang="en-GB" sz="2400" b="0" i="1" smtClean="0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{"/>
                          <m:endChr m:val="}"/>
                          <m:ctrlPr>
                            <a:rPr lang="en-GB" sz="24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GB" sz="2400" b="0" i="1" smtClean="0">
                              <a:latin typeface="Cambria Math" panose="02040503050406030204" pitchFamily="18" charset="0"/>
                            </a:rPr>
                            <m:t>1,2,5</m:t>
                          </m:r>
                        </m:e>
                      </m:d>
                      <m:r>
                        <a:rPr lang="en-GB" sz="2400" b="0" i="1" smtClean="0">
                          <a:latin typeface="Cambria Math" panose="02040503050406030204" pitchFamily="18" charset="0"/>
                        </a:rPr>
                        <m:t>,  </m:t>
                      </m:r>
                      <m:r>
                        <a:rPr lang="en-GB" sz="2400" b="0" i="1" smtClean="0">
                          <a:latin typeface="Cambria Math" panose="02040503050406030204" pitchFamily="18" charset="0"/>
                        </a:rPr>
                        <m:t>𝑏</m:t>
                      </m:r>
                      <m:r>
                        <a:rPr lang="en-GB" sz="2400" b="0" i="1" smtClean="0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{"/>
                          <m:endChr m:val="}"/>
                          <m:ctrlPr>
                            <a:rPr lang="en-GB" sz="24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GB" sz="2400" b="0" i="1" smtClean="0">
                              <a:latin typeface="Cambria Math" panose="02040503050406030204" pitchFamily="18" charset="0"/>
                            </a:rPr>
                            <m:t>2,3</m:t>
                          </m:r>
                        </m:e>
                      </m:d>
                      <m:r>
                        <a:rPr lang="en-GB" sz="2400" b="0" i="1" smtClean="0">
                          <a:latin typeface="Cambria Math" panose="02040503050406030204" pitchFamily="18" charset="0"/>
                        </a:rPr>
                        <m:t>,  </m:t>
                      </m:r>
                      <m:r>
                        <a:rPr lang="en-GB" sz="2400" b="0" i="1" smtClean="0">
                          <a:latin typeface="Cambria Math" panose="02040503050406030204" pitchFamily="18" charset="0"/>
                        </a:rPr>
                        <m:t>𝑐</m:t>
                      </m:r>
                      <m:r>
                        <a:rPr lang="en-GB" sz="2400" b="0" i="1" smtClean="0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{"/>
                          <m:endChr m:val="}"/>
                          <m:ctrlPr>
                            <a:rPr lang="en-GB" sz="24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GB" sz="2400" b="0" i="1" smtClean="0">
                              <a:latin typeface="Cambria Math" panose="02040503050406030204" pitchFamily="18" charset="0"/>
                            </a:rPr>
                            <m:t>4,5</m:t>
                          </m:r>
                        </m:e>
                      </m:d>
                      <m:r>
                        <a:rPr lang="en-GB" sz="2400" b="0" i="1" smtClean="0">
                          <a:latin typeface="Cambria Math" panose="02040503050406030204" pitchFamily="18" charset="0"/>
                        </a:rPr>
                        <m:t>,  </m:t>
                      </m:r>
                      <m:r>
                        <a:rPr lang="en-GB" sz="2400" b="0" i="1" smtClean="0">
                          <a:latin typeface="Cambria Math" panose="02040503050406030204" pitchFamily="18" charset="0"/>
                        </a:rPr>
                        <m:t>𝑑</m:t>
                      </m:r>
                      <m:r>
                        <a:rPr lang="en-GB" sz="2400" b="0" i="1" smtClean="0">
                          <a:latin typeface="Cambria Math" panose="02040503050406030204" pitchFamily="18" charset="0"/>
                        </a:rPr>
                        <m:t>={3,4}</m:t>
                      </m:r>
                    </m:oMath>
                  </m:oMathPara>
                </a14:m>
                <a:endParaRPr lang="en-GB" sz="2400"/>
              </a:p>
              <a:p>
                <a:pPr marL="0" indent="0">
                  <a:buNone/>
                </a:pPr>
                <a:endParaRPr lang="en-GB" sz="2400" i="1">
                  <a:latin typeface="Cambria Math" panose="02040503050406030204" pitchFamily="18" charset="0"/>
                </a:endParaRP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2400" i="1">
                          <a:latin typeface="Cambria Math" panose="02040503050406030204" pitchFamily="18" charset="0"/>
                        </a:rPr>
                        <m:t>𝑆</m:t>
                      </m:r>
                      <m:r>
                        <a:rPr lang="en-GB" sz="2400" i="1">
                          <a:latin typeface="Cambria Math" panose="02040503050406030204" pitchFamily="18" charset="0"/>
                        </a:rPr>
                        <m:t>={</m:t>
                      </m:r>
                      <m:r>
                        <a:rPr lang="en-GB" sz="2400" b="0" i="1" smtClean="0">
                          <a:latin typeface="Cambria Math" panose="02040503050406030204" pitchFamily="18" charset="0"/>
                        </a:rPr>
                        <m:t>𝑎</m:t>
                      </m:r>
                      <m:r>
                        <a:rPr lang="en-GB" sz="2400" b="0" i="1" smtClean="0">
                          <a:latin typeface="Cambria Math" panose="02040503050406030204" pitchFamily="18" charset="0"/>
                        </a:rPr>
                        <m:t>,</m:t>
                      </m:r>
                      <m:r>
                        <a:rPr lang="en-GB" sz="2400" b="0" i="1" smtClean="0">
                          <a:latin typeface="Cambria Math" panose="02040503050406030204" pitchFamily="18" charset="0"/>
                        </a:rPr>
                        <m:t>𝑏</m:t>
                      </m:r>
                      <m:r>
                        <a:rPr lang="en-GB" sz="2400" b="0" i="1" smtClean="0">
                          <a:latin typeface="Cambria Math" panose="02040503050406030204" pitchFamily="18" charset="0"/>
                        </a:rPr>
                        <m:t>,</m:t>
                      </m:r>
                      <m:r>
                        <a:rPr lang="en-GB" sz="2400" b="0" i="1" smtClean="0">
                          <a:latin typeface="Cambria Math" panose="02040503050406030204" pitchFamily="18" charset="0"/>
                        </a:rPr>
                        <m:t>𝑐</m:t>
                      </m:r>
                      <m:r>
                        <a:rPr lang="en-GB" sz="2400" b="0" i="1" smtClean="0">
                          <a:latin typeface="Cambria Math" panose="02040503050406030204" pitchFamily="18" charset="0"/>
                        </a:rPr>
                        <m:t>,</m:t>
                      </m:r>
                      <m:r>
                        <a:rPr lang="en-GB" sz="2400" b="0" i="1" smtClean="0">
                          <a:latin typeface="Cambria Math" panose="02040503050406030204" pitchFamily="18" charset="0"/>
                        </a:rPr>
                        <m:t>𝑑</m:t>
                      </m:r>
                      <m:r>
                        <a:rPr lang="en-GB" sz="2400" i="1">
                          <a:latin typeface="Cambria Math" panose="02040503050406030204" pitchFamily="18" charset="0"/>
                        </a:rPr>
                        <m:t>}</m:t>
                      </m:r>
                    </m:oMath>
                  </m:oMathPara>
                </a14:m>
                <a:endParaRPr lang="en-GB" sz="2400"/>
              </a:p>
              <a:p>
                <a:pPr marL="0" indent="0">
                  <a:buFont typeface="Arial" panose="020B0604020202020204" pitchFamily="34" charset="0"/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2400" b="0" i="1" smtClean="0">
                          <a:latin typeface="Cambria Math" panose="02040503050406030204" pitchFamily="18" charset="0"/>
                        </a:rPr>
                        <m:t>𝑈</m:t>
                      </m:r>
                      <m:r>
                        <a:rPr lang="en-GB" sz="2400" b="0" i="1" smtClean="0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{"/>
                          <m:endChr m:val="}"/>
                          <m:ctrlPr>
                            <a:rPr lang="en-GB" sz="24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GB" sz="2400" b="0" i="1" smtClean="0">
                              <a:latin typeface="Cambria Math" panose="02040503050406030204" pitchFamily="18" charset="0"/>
                            </a:rPr>
                            <m:t>1,2,3,4,5</m:t>
                          </m:r>
                        </m:e>
                      </m:d>
                    </m:oMath>
                    <m:oMath xmlns:m="http://schemas.openxmlformats.org/officeDocument/2006/math">
                      <m:r>
                        <a:rPr lang="en-GB" sz="2400" b="0" i="1" smtClean="0">
                          <a:latin typeface="Cambria Math" panose="02040503050406030204" pitchFamily="18" charset="0"/>
                        </a:rPr>
                        <m:t>𝑁</m:t>
                      </m:r>
                      <m:r>
                        <a:rPr lang="en-GB" sz="2400" b="0" i="0" smtClean="0">
                          <a:latin typeface="Cambria Math" panose="02040503050406030204" pitchFamily="18" charset="0"/>
                        </a:rPr>
                        <m:t>=4</m:t>
                      </m:r>
                    </m:oMath>
                  </m:oMathPara>
                </a14:m>
                <a:endParaRPr lang="en-GB" sz="2400" b="0"/>
              </a:p>
              <a:p>
                <a:pPr marL="0" indent="0">
                  <a:buFont typeface="Arial" panose="020B0604020202020204" pitchFamily="34" charset="0"/>
                  <a:buNone/>
                </a:pPr>
                <a:endParaRPr lang="en-GB" sz="2400"/>
              </a:p>
              <a:p>
                <a:pPr marL="0" indent="0">
                  <a:buNone/>
                </a:pPr>
                <a:r>
                  <a:rPr lang="en-GB" sz="2400"/>
                  <a:t>minimise 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GB" sz="24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sz="2400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GB" sz="2400" b="0" i="1" smtClean="0">
                              <a:latin typeface="Cambria Math" panose="02040503050406030204" pitchFamily="18" charset="0"/>
                            </a:rPr>
                            <m:t>𝑎</m:t>
                          </m:r>
                        </m:sub>
                      </m:sSub>
                      <m:r>
                        <a:rPr lang="en-GB" sz="2400" b="0" i="1" smtClean="0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GB" sz="24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sz="2400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GB" sz="2400" b="0" i="1" smtClean="0">
                              <a:latin typeface="Cambria Math" panose="02040503050406030204" pitchFamily="18" charset="0"/>
                            </a:rPr>
                            <m:t>𝑏</m:t>
                          </m:r>
                        </m:sub>
                      </m:sSub>
                      <m:r>
                        <a:rPr lang="en-GB" sz="2400" b="0" i="1" smtClean="0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GB" sz="24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sz="2400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GB" sz="2400" b="0" i="1" smtClean="0">
                              <a:latin typeface="Cambria Math" panose="02040503050406030204" pitchFamily="18" charset="0"/>
                            </a:rPr>
                            <m:t>𝑐</m:t>
                          </m:r>
                        </m:sub>
                      </m:sSub>
                      <m:r>
                        <a:rPr lang="en-GB" sz="2400" b="0" i="1" smtClean="0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GB" sz="24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sz="2400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GB" sz="2400" b="0" i="1" smtClean="0">
                              <a:latin typeface="Cambria Math" panose="02040503050406030204" pitchFamily="18" charset="0"/>
                            </a:rPr>
                            <m:t>𝑑</m:t>
                          </m:r>
                        </m:sub>
                      </m:sSub>
                    </m:oMath>
                  </m:oMathPara>
                </a14:m>
                <a:endParaRPr lang="en-GB" sz="2400"/>
              </a:p>
              <a:p>
                <a:pPr marL="0" indent="0">
                  <a:buNone/>
                </a:pPr>
                <a:r>
                  <a:rPr lang="en-GB" sz="2400"/>
                  <a:t>subject to: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GB" sz="24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sz="2400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GB" sz="2400" b="0" i="1" smtClean="0">
                              <a:latin typeface="Cambria Math" panose="02040503050406030204" pitchFamily="18" charset="0"/>
                            </a:rPr>
                            <m:t>𝑎</m:t>
                          </m:r>
                        </m:sub>
                      </m:sSub>
                      <m:r>
                        <a:rPr lang="en-GB" sz="2400" b="0" i="1" smtClean="0">
                          <a:latin typeface="Cambria Math" panose="02040503050406030204" pitchFamily="18" charset="0"/>
                        </a:rPr>
                        <m:t>≥1</m:t>
                      </m:r>
                    </m:oMath>
                    <m:oMath xmlns:m="http://schemas.openxmlformats.org/officeDocument/2006/math">
                      <m:sSub>
                        <m:sSubPr>
                          <m:ctrlPr>
                            <a:rPr lang="en-GB" sz="24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sz="2400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GB" sz="2400" b="0" i="1" smtClean="0">
                              <a:latin typeface="Cambria Math" panose="02040503050406030204" pitchFamily="18" charset="0"/>
                            </a:rPr>
                            <m:t>𝑎</m:t>
                          </m:r>
                        </m:sub>
                      </m:sSub>
                      <m:r>
                        <a:rPr lang="en-GB" sz="2400" b="0" i="1" smtClean="0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GB" sz="24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sz="2400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GB" sz="2400" b="0" i="1" smtClean="0">
                              <a:latin typeface="Cambria Math" panose="02040503050406030204" pitchFamily="18" charset="0"/>
                            </a:rPr>
                            <m:t>𝑏</m:t>
                          </m:r>
                        </m:sub>
                      </m:sSub>
                      <m:r>
                        <a:rPr lang="en-GB" sz="2400" b="0" i="1" smtClean="0">
                          <a:latin typeface="Cambria Math" panose="02040503050406030204" pitchFamily="18" charset="0"/>
                        </a:rPr>
                        <m:t>≥1</m:t>
                      </m:r>
                    </m:oMath>
                    <m:oMath xmlns:m="http://schemas.openxmlformats.org/officeDocument/2006/math">
                      <m:sSub>
                        <m:sSubPr>
                          <m:ctrlPr>
                            <a:rPr lang="en-GB" sz="24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sz="2400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GB" sz="2400" b="0" i="1" smtClean="0">
                              <a:latin typeface="Cambria Math" panose="02040503050406030204" pitchFamily="18" charset="0"/>
                            </a:rPr>
                            <m:t>𝑏</m:t>
                          </m:r>
                        </m:sub>
                      </m:sSub>
                      <m:r>
                        <a:rPr lang="en-GB" sz="2400" b="0" i="1" smtClean="0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GB" sz="24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sz="2400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GB" sz="2400" b="0" i="1" smtClean="0">
                              <a:latin typeface="Cambria Math" panose="02040503050406030204" pitchFamily="18" charset="0"/>
                            </a:rPr>
                            <m:t>𝑑</m:t>
                          </m:r>
                        </m:sub>
                      </m:sSub>
                      <m:r>
                        <a:rPr lang="en-GB" sz="2400" b="0" i="1" smtClean="0">
                          <a:latin typeface="Cambria Math" panose="02040503050406030204" pitchFamily="18" charset="0"/>
                        </a:rPr>
                        <m:t>≥1</m:t>
                      </m:r>
                    </m:oMath>
                    <m:oMath xmlns:m="http://schemas.openxmlformats.org/officeDocument/2006/math">
                      <m:sSub>
                        <m:sSubPr>
                          <m:ctrlPr>
                            <a:rPr lang="en-GB" sz="24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sz="2400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GB" sz="2400" b="0" i="1" smtClean="0">
                              <a:latin typeface="Cambria Math" panose="02040503050406030204" pitchFamily="18" charset="0"/>
                            </a:rPr>
                            <m:t>𝑐</m:t>
                          </m:r>
                        </m:sub>
                      </m:sSub>
                      <m:r>
                        <a:rPr lang="en-GB" sz="2400" b="0" i="1" smtClean="0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GB" sz="24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sz="2400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GB" sz="2400" b="0" i="1" smtClean="0">
                              <a:latin typeface="Cambria Math" panose="02040503050406030204" pitchFamily="18" charset="0"/>
                            </a:rPr>
                            <m:t>𝑑</m:t>
                          </m:r>
                        </m:sub>
                      </m:sSub>
                      <m:r>
                        <a:rPr lang="en-GB" sz="2400" b="0" i="1" smtClean="0">
                          <a:latin typeface="Cambria Math" panose="02040503050406030204" pitchFamily="18" charset="0"/>
                        </a:rPr>
                        <m:t>≥1</m:t>
                      </m:r>
                    </m:oMath>
                    <m:oMath xmlns:m="http://schemas.openxmlformats.org/officeDocument/2006/math">
                      <m:sSub>
                        <m:sSubPr>
                          <m:ctrlPr>
                            <a:rPr lang="en-GB" sz="24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sz="2400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GB" sz="2400" b="0" i="1" smtClean="0">
                              <a:latin typeface="Cambria Math" panose="02040503050406030204" pitchFamily="18" charset="0"/>
                            </a:rPr>
                            <m:t>𝑎</m:t>
                          </m:r>
                        </m:sub>
                      </m:sSub>
                      <m:r>
                        <a:rPr lang="en-GB" sz="2400" b="0" i="1" smtClean="0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GB" sz="24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sz="2400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GB" sz="2400" b="0" i="1" smtClean="0">
                              <a:latin typeface="Cambria Math" panose="02040503050406030204" pitchFamily="18" charset="0"/>
                            </a:rPr>
                            <m:t>𝑐</m:t>
                          </m:r>
                        </m:sub>
                      </m:sSub>
                      <m:r>
                        <a:rPr lang="en-GB" sz="2400" b="0" i="1" smtClean="0">
                          <a:latin typeface="Cambria Math" panose="02040503050406030204" pitchFamily="18" charset="0"/>
                        </a:rPr>
                        <m:t>≥1</m:t>
                      </m:r>
                    </m:oMath>
                  </m:oMathPara>
                </a14:m>
                <a:endParaRPr lang="en-GB" sz="2400" b="0" i="1">
                  <a:latin typeface="Cambria Math" panose="02040503050406030204" pitchFamily="18" charset="0"/>
                </a:endParaRPr>
              </a:p>
              <a:p>
                <a:pPr marL="0" indent="0">
                  <a:buNone/>
                </a:pPr>
                <a:endParaRPr lang="en-GB" sz="2400" i="1">
                  <a:latin typeface="Cambria Math" panose="02040503050406030204" pitchFamily="18" charset="0"/>
                </a:endParaRP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GB" sz="24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sz="2400" i="1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GB" sz="2400" i="1">
                              <a:latin typeface="Cambria Math" panose="02040503050406030204" pitchFamily="18" charset="0"/>
                            </a:rPr>
                            <m:t>𝑡</m:t>
                          </m:r>
                        </m:sub>
                      </m:sSub>
                      <m:r>
                        <a:rPr lang="en-GB" sz="2400" i="1">
                          <a:latin typeface="Cambria Math" panose="02040503050406030204" pitchFamily="18" charset="0"/>
                        </a:rPr>
                        <m:t>∈{0,1}</m:t>
                      </m:r>
                    </m:oMath>
                  </m:oMathPara>
                </a14:m>
                <a:endParaRPr lang="en-GB" sz="2400"/>
              </a:p>
              <a:p>
                <a:pPr marL="0" indent="0">
                  <a:buFont typeface="Arial" panose="020B0604020202020204" pitchFamily="34" charset="0"/>
                  <a:buNone/>
                </a:pPr>
                <a:endParaRPr lang="en-GB" sz="2400" b="0"/>
              </a:p>
              <a:p>
                <a:pPr marL="0" indent="0">
                  <a:buFont typeface="Arial" panose="020B0604020202020204" pitchFamily="34" charset="0"/>
                  <a:buNone/>
                </a:pPr>
                <a:endParaRPr lang="en-GB" sz="2400"/>
              </a:p>
            </p:txBody>
          </p:sp>
        </mc:Choice>
        <mc:Fallback xmlns="">
          <p:sp>
            <p:nvSpPr>
              <p:cNvPr id="8" name="Content Placeholder 4">
                <a:extLst>
                  <a:ext uri="{FF2B5EF4-FFF2-40B4-BE49-F238E27FC236}">
                    <a16:creationId xmlns:a16="http://schemas.microsoft.com/office/drawing/2014/main" id="{608A163D-DDEA-4F46-8AC5-B1ED09607FF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014301" y="1545257"/>
                <a:ext cx="5562160" cy="4657580"/>
              </a:xfrm>
              <a:prstGeom prst="rect">
                <a:avLst/>
              </a:prstGeom>
              <a:blipFill>
                <a:blip r:embed="rId3"/>
                <a:stretch>
                  <a:fillRect l="-76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37F7EFBD-CD84-40AC-9A01-775F33D3C9DC}"/>
                  </a:ext>
                </a:extLst>
              </p:cNvPr>
              <p:cNvSpPr txBox="1"/>
              <p:nvPr/>
            </p:nvSpPr>
            <p:spPr>
              <a:xfrm>
                <a:off x="838200" y="5312743"/>
                <a:ext cx="6094428" cy="923330"/>
              </a:xfrm>
              <a:prstGeom prst="rect">
                <a:avLst/>
              </a:prstGeom>
              <a:noFill/>
              <a:ln w="28575">
                <a:solidFill>
                  <a:schemeClr val="tx1"/>
                </a:solidFill>
              </a:ln>
            </p:spPr>
            <p:txBody>
              <a:bodyPr wrap="square">
                <a:spAutoFit/>
              </a:bodyPr>
              <a:lstStyle/>
              <a:p>
                <a:pPr marL="0" indent="0">
                  <a:buFont typeface="Arial" panose="020B0604020202020204" pitchFamily="34" charset="0"/>
                  <a:buNone/>
                </a:pPr>
                <a:r>
                  <a:rPr lang="en-GB" sz="1800"/>
                  <a:t>Minimum set cover 2</a:t>
                </a:r>
              </a:p>
              <a:p>
                <a:pPr marL="0" indent="0">
                  <a:buFont typeface="Arial" panose="020B0604020202020204" pitchFamily="34" charset="0"/>
                  <a:buNone/>
                </a:pPr>
                <a:endParaRPr lang="en-GB" sz="1800"/>
              </a:p>
              <a:p>
                <a:pPr marL="0" indent="0">
                  <a:buFont typeface="Arial" panose="020B0604020202020204" pitchFamily="34" charset="0"/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1800" b="0" i="1" smtClean="0">
                          <a:latin typeface="Cambria Math" panose="02040503050406030204" pitchFamily="18" charset="0"/>
                        </a:rPr>
                        <m:t>{</m:t>
                      </m:r>
                      <m:r>
                        <a:rPr lang="en-GB" sz="1800" b="0" i="1" smtClean="0">
                          <a:latin typeface="Cambria Math" panose="02040503050406030204" pitchFamily="18" charset="0"/>
                        </a:rPr>
                        <m:t>𝑎</m:t>
                      </m:r>
                      <m:r>
                        <a:rPr lang="en-GB" sz="1800" b="0" i="1" smtClean="0">
                          <a:latin typeface="Cambria Math" panose="02040503050406030204" pitchFamily="18" charset="0"/>
                        </a:rPr>
                        <m:t>,</m:t>
                      </m:r>
                      <m:r>
                        <a:rPr lang="en-GB" sz="1800" b="0" i="1" smtClean="0">
                          <a:latin typeface="Cambria Math" panose="02040503050406030204" pitchFamily="18" charset="0"/>
                        </a:rPr>
                        <m:t>𝑑</m:t>
                      </m:r>
                      <m:r>
                        <a:rPr lang="en-GB" sz="1800" b="0" i="1" smtClean="0">
                          <a:latin typeface="Cambria Math" panose="02040503050406030204" pitchFamily="18" charset="0"/>
                        </a:rPr>
                        <m:t>}</m:t>
                      </m:r>
                    </m:oMath>
                  </m:oMathPara>
                </a14:m>
                <a:endParaRPr lang="en-GB" sz="1800" b="0"/>
              </a:p>
            </p:txBody>
          </p:sp>
        </mc:Choice>
        <mc:Fallback xmlns="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37F7EFBD-CD84-40AC-9A01-775F33D3C9D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38200" y="5312743"/>
                <a:ext cx="6094428" cy="923330"/>
              </a:xfrm>
              <a:prstGeom prst="rect">
                <a:avLst/>
              </a:prstGeom>
              <a:blipFill>
                <a:blip r:embed="rId4"/>
                <a:stretch>
                  <a:fillRect l="-697" t="-2564" b="-3846"/>
                </a:stretch>
              </a:blipFill>
              <a:ln w="28575"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TextBox 2">
            <a:extLst>
              <a:ext uri="{FF2B5EF4-FFF2-40B4-BE49-F238E27FC236}">
                <a16:creationId xmlns:a16="http://schemas.microsoft.com/office/drawing/2014/main" id="{83BDDA39-5003-4992-AB13-B26A31994C63}"/>
              </a:ext>
            </a:extLst>
          </p:cNvPr>
          <p:cNvSpPr txBox="1"/>
          <p:nvPr/>
        </p:nvSpPr>
        <p:spPr>
          <a:xfrm>
            <a:off x="9917810" y="3874047"/>
            <a:ext cx="127259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/>
              <a:t>(Element 1)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486197B4-459D-473F-89EF-6C3D35251B58}"/>
              </a:ext>
            </a:extLst>
          </p:cNvPr>
          <p:cNvSpPr txBox="1"/>
          <p:nvPr/>
        </p:nvSpPr>
        <p:spPr>
          <a:xfrm>
            <a:off x="9908522" y="4119247"/>
            <a:ext cx="127259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/>
              <a:t>(Element 2)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8FD80512-D955-4251-98E2-46D8AF420ED4}"/>
              </a:ext>
            </a:extLst>
          </p:cNvPr>
          <p:cNvSpPr txBox="1"/>
          <p:nvPr/>
        </p:nvSpPr>
        <p:spPr>
          <a:xfrm>
            <a:off x="9908383" y="4363376"/>
            <a:ext cx="127259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/>
              <a:t>(Element 3)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78B80398-7F4F-4D73-91C6-7C471BFA8B3A}"/>
              </a:ext>
            </a:extLst>
          </p:cNvPr>
          <p:cNvSpPr txBox="1"/>
          <p:nvPr/>
        </p:nvSpPr>
        <p:spPr>
          <a:xfrm>
            <a:off x="9902812" y="4608576"/>
            <a:ext cx="127259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/>
              <a:t>(Element 4)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FAAE49A4-3AF0-4A46-9DD4-94B77F7B0CAC}"/>
              </a:ext>
            </a:extLst>
          </p:cNvPr>
          <p:cNvSpPr txBox="1"/>
          <p:nvPr/>
        </p:nvSpPr>
        <p:spPr>
          <a:xfrm>
            <a:off x="9900958" y="4837215"/>
            <a:ext cx="127259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/>
              <a:t>(Element 5)</a:t>
            </a:r>
          </a:p>
        </p:txBody>
      </p:sp>
      <p:cxnSp>
        <p:nvCxnSpPr>
          <p:cNvPr id="17" name="Straight Arrow Connector 16">
            <a:extLst>
              <a:ext uri="{FF2B5EF4-FFF2-40B4-BE49-F238E27FC236}">
                <a16:creationId xmlns:a16="http://schemas.microsoft.com/office/drawing/2014/main" id="{8BC34C90-2AE0-4CBC-AF51-2A6EB8FD1B3C}"/>
              </a:ext>
            </a:extLst>
          </p:cNvPr>
          <p:cNvCxnSpPr/>
          <p:nvPr/>
        </p:nvCxnSpPr>
        <p:spPr>
          <a:xfrm>
            <a:off x="5147035" y="2875175"/>
            <a:ext cx="791852" cy="0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73696395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>
            <a:extLst>
              <a:ext uri="{FF2B5EF4-FFF2-40B4-BE49-F238E27FC236}">
                <a16:creationId xmlns:a16="http://schemas.microsoft.com/office/drawing/2014/main" id="{98AB8CFF-9896-46E2-88DE-F88684F72B8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0981" y="1443680"/>
            <a:ext cx="7848600" cy="4772025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F3E593E6-3D2F-4C7E-80B2-F78D636A9E0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706293"/>
          </a:xfrm>
        </p:spPr>
        <p:txBody>
          <a:bodyPr/>
          <a:lstStyle/>
          <a:p>
            <a:r>
              <a:rPr lang="en-GB"/>
              <a:t>Costed Fire Station Example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6A28C7C5-377C-4768-84F0-9C0F1340C812}"/>
                  </a:ext>
                </a:extLst>
              </p:cNvPr>
              <p:cNvSpPr txBox="1"/>
              <p:nvPr/>
            </p:nvSpPr>
            <p:spPr>
              <a:xfrm>
                <a:off x="6180495" y="1355201"/>
                <a:ext cx="4165756" cy="535531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en-GB" i="1">
                        <a:latin typeface="Cambria Math" panose="02040503050406030204" pitchFamily="18" charset="0"/>
                      </a:rPr>
                      <m:t>𝑆</m:t>
                    </m:r>
                  </m:oMath>
                </a14:m>
                <a:r>
                  <a:rPr lang="en-GB" i="1" dirty="0">
                    <a:latin typeface="Cambria Math" panose="02040503050406030204" pitchFamily="18" charset="0"/>
                  </a:rPr>
                  <a:t> – </a:t>
                </a:r>
                <a:r>
                  <a:rPr lang="en-GB" dirty="0"/>
                  <a:t>All possible </a:t>
                </a:r>
                <a:r>
                  <a:rPr lang="en-GB" dirty="0" err="1"/>
                  <a:t>fire stations</a:t>
                </a:r>
                <a:r>
                  <a:rPr lang="en-GB" dirty="0"/>
                  <a:t> to choose from</a:t>
                </a:r>
              </a:p>
              <a:p>
                <a14:m>
                  <m:oMath xmlns:m="http://schemas.openxmlformats.org/officeDocument/2006/math">
                    <m:r>
                      <a:rPr lang="en-GB" i="1">
                        <a:latin typeface="Cambria Math" panose="02040503050406030204" pitchFamily="18" charset="0"/>
                      </a:rPr>
                      <m:t>𝑡</m:t>
                    </m:r>
                    <m:r>
                      <a:rPr lang="en-GB" i="1">
                        <a:latin typeface="Cambria Math" panose="02040503050406030204" pitchFamily="18" charset="0"/>
                      </a:rPr>
                      <m:t>∈</m:t>
                    </m:r>
                    <m:r>
                      <a:rPr lang="en-GB" i="1">
                        <a:latin typeface="Cambria Math" panose="02040503050406030204" pitchFamily="18" charset="0"/>
                      </a:rPr>
                      <m:t>𝑆</m:t>
                    </m:r>
                  </m:oMath>
                </a14:m>
                <a:r>
                  <a:rPr lang="en-GB" dirty="0"/>
                  <a:t> – A given </a:t>
                </a:r>
                <a:r>
                  <a:rPr lang="en-GB" dirty="0" err="1"/>
                  <a:t>fire station</a:t>
                </a:r>
                <a:r>
                  <a:rPr lang="en-GB" dirty="0"/>
                  <a:t> </a:t>
                </a:r>
                <a14:m>
                  <m:oMath xmlns:m="http://schemas.openxmlformats.org/officeDocument/2006/math">
                    <m:r>
                      <a:rPr lang="en-GB" i="1">
                        <a:latin typeface="Cambria Math" panose="02040503050406030204" pitchFamily="18" charset="0"/>
                      </a:rPr>
                      <m:t>𝑡</m:t>
                    </m:r>
                  </m:oMath>
                </a14:m>
                <a:endParaRPr lang="en-GB" i="1" dirty="0">
                  <a:latin typeface="Cambria Math" panose="02040503050406030204" pitchFamily="18" charset="0"/>
                </a:endParaRPr>
              </a:p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GB" i="1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i="1" dirty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GB" i="1" dirty="0">
                            <a:latin typeface="Cambria Math" panose="02040503050406030204" pitchFamily="18" charset="0"/>
                          </a:rPr>
                          <m:t>𝑡</m:t>
                        </m:r>
                      </m:sub>
                    </m:sSub>
                  </m:oMath>
                </a14:m>
                <a:r>
                  <a:rPr lang="en-GB" dirty="0"/>
                  <a:t> - </a:t>
                </a:r>
                <a:r>
                  <a:rPr lang="en-GB" dirty="0" err="1"/>
                  <a:t>fire station</a:t>
                </a:r>
                <a:r>
                  <a:rPr lang="en-GB" dirty="0"/>
                  <a:t> </a:t>
                </a:r>
                <a14:m>
                  <m:oMath xmlns:m="http://schemas.openxmlformats.org/officeDocument/2006/math">
                    <m:r>
                      <a:rPr lang="en-GB" i="1">
                        <a:latin typeface="Cambria Math" panose="02040503050406030204" pitchFamily="18" charset="0"/>
                      </a:rPr>
                      <m:t>𝑡</m:t>
                    </m:r>
                  </m:oMath>
                </a14:m>
                <a:r>
                  <a:rPr lang="en-GB" dirty="0"/>
                  <a:t> chosen or not</a:t>
                </a:r>
              </a:p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GB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i="1">
                            <a:latin typeface="Cambria Math" panose="02040503050406030204" pitchFamily="18" charset="0"/>
                          </a:rPr>
                          <m:t>𝑐</m:t>
                        </m:r>
                      </m:e>
                      <m:sub>
                        <m:r>
                          <a:rPr lang="en-GB" i="1">
                            <a:latin typeface="Cambria Math" panose="02040503050406030204" pitchFamily="18" charset="0"/>
                          </a:rPr>
                          <m:t>𝑡</m:t>
                        </m:r>
                      </m:sub>
                    </m:sSub>
                  </m:oMath>
                </a14:m>
                <a:r>
                  <a:rPr lang="en-GB" dirty="0"/>
                  <a:t> - cost of running </a:t>
                </a:r>
                <a:r>
                  <a:rPr lang="en-GB" dirty="0" err="1"/>
                  <a:t>fire station</a:t>
                </a:r>
                <a:r>
                  <a:rPr lang="en-GB" dirty="0"/>
                  <a:t> </a:t>
                </a:r>
                <a14:m>
                  <m:oMath xmlns:m="http://schemas.openxmlformats.org/officeDocument/2006/math">
                    <m:r>
                      <a:rPr lang="en-GB" i="1">
                        <a:latin typeface="Cambria Math" panose="02040503050406030204" pitchFamily="18" charset="0"/>
                      </a:rPr>
                      <m:t>𝑡</m:t>
                    </m:r>
                  </m:oMath>
                </a14:m>
                <a:endParaRPr lang="en-GB" dirty="0"/>
              </a:p>
              <a:p>
                <a14:m>
                  <m:oMath xmlns:m="http://schemas.openxmlformats.org/officeDocument/2006/math">
                    <m:r>
                      <a:rPr lang="en-GB" i="1">
                        <a:latin typeface="Cambria Math" panose="02040503050406030204" pitchFamily="18" charset="0"/>
                      </a:rPr>
                      <m:t>𝑈</m:t>
                    </m:r>
                    <m:r>
                      <a:rPr lang="en-GB" i="1">
                        <a:latin typeface="Cambria Math" panose="02040503050406030204" pitchFamily="18" charset="0"/>
                      </a:rPr>
                      <m:t>=</m:t>
                    </m:r>
                  </m:oMath>
                </a14:m>
                <a:r>
                  <a:rPr lang="en-GB" dirty="0"/>
                  <a:t> Set of all cities contained in S</a:t>
                </a:r>
              </a:p>
              <a:p>
                <a:endParaRPr lang="en-GB" b="0" i="1" dirty="0">
                  <a:solidFill>
                    <a:srgbClr val="FF0000"/>
                  </a:solidFill>
                  <a:latin typeface="Cambria Math" panose="02040503050406030204" pitchFamily="18" charset="0"/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𝑆</m:t>
                      </m:r>
                      <m:r>
                        <a:rPr lang="en-GB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={</m:t>
                      </m:r>
                      <m:r>
                        <a:rPr lang="en-GB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𝑎</m:t>
                      </m:r>
                      <m:r>
                        <a:rPr lang="en-GB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,</m:t>
                      </m:r>
                      <m:r>
                        <a:rPr lang="en-GB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𝑏</m:t>
                      </m:r>
                      <m:r>
                        <a:rPr lang="en-GB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,</m:t>
                      </m:r>
                      <m:r>
                        <a:rPr lang="en-GB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𝑐</m:t>
                      </m:r>
                      <m:r>
                        <a:rPr lang="en-GB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,</m:t>
                      </m:r>
                      <m:r>
                        <a:rPr lang="en-GB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𝑑</m:t>
                      </m:r>
                      <m:r>
                        <a:rPr lang="en-GB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}</m:t>
                      </m:r>
                    </m:oMath>
                  </m:oMathPara>
                </a14:m>
                <a:endParaRPr lang="en-GB" b="0" i="1" dirty="0">
                  <a:solidFill>
                    <a:srgbClr val="FF0000"/>
                  </a:solidFill>
                  <a:latin typeface="Cambria Math" panose="02040503050406030204" pitchFamily="18" charset="0"/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𝑈</m:t>
                      </m:r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{"/>
                          <m:endChr m:val="}"/>
                          <m:ctrlPr>
                            <a:rPr lang="en-GB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0,1,2,3,4</m:t>
                          </m:r>
                        </m:e>
                      </m:d>
                    </m:oMath>
                    <m:oMath xmlns:m="http://schemas.openxmlformats.org/officeDocument/2006/math"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𝑁</m:t>
                      </m:r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=4</m:t>
                      </m:r>
                    </m:oMath>
                  </m:oMathPara>
                </a14:m>
                <a:endParaRPr lang="en-GB" b="0" i="1" dirty="0">
                  <a:latin typeface="Cambria Math" panose="02040503050406030204" pitchFamily="18" charset="0"/>
                </a:endParaRPr>
              </a:p>
              <a:p>
                <a:endParaRPr lang="en-GB" b="0" i="1" dirty="0">
                  <a:solidFill>
                    <a:srgbClr val="FF0000"/>
                  </a:solidFill>
                  <a:latin typeface="Cambria Math" panose="02040503050406030204" pitchFamily="18" charset="0"/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GB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𝑠</m:t>
                          </m:r>
                        </m:e>
                        <m:sub>
                          <m:r>
                            <a:rPr lang="en-GB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𝑎</m:t>
                          </m:r>
                        </m:sub>
                      </m:sSub>
                      <m:r>
                        <a:rPr lang="en-GB" i="1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{"/>
                          <m:endChr m:val="}"/>
                          <m:ctrlPr>
                            <a:rPr lang="en-GB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GB" i="1">
                              <a:latin typeface="Cambria Math" panose="02040503050406030204" pitchFamily="18" charset="0"/>
                            </a:rPr>
                            <m:t>0,2</m:t>
                          </m:r>
                        </m:e>
                      </m:d>
                    </m:oMath>
                  </m:oMathPara>
                </a14:m>
                <a:endParaRPr lang="en-GB" dirty="0"/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GB" i="1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i="1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  <m:t>𝑠</m:t>
                          </m:r>
                        </m:e>
                        <m:sub>
                          <m:r>
                            <a:rPr lang="en-GB" i="1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  <m:t>𝑏</m:t>
                          </m:r>
                        </m:sub>
                      </m:sSub>
                      <m:r>
                        <a:rPr lang="en-GB" i="1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{"/>
                          <m:endChr m:val="}"/>
                          <m:ctrlPr>
                            <a:rPr lang="en-GB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GB" i="1">
                              <a:latin typeface="Cambria Math" panose="02040503050406030204" pitchFamily="18" charset="0"/>
                            </a:rPr>
                            <m:t>1,2,3</m:t>
                          </m:r>
                        </m:e>
                      </m:d>
                    </m:oMath>
                  </m:oMathPara>
                </a14:m>
                <a:endParaRPr lang="en-GB" dirty="0"/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GB" i="1">
                              <a:solidFill>
                                <a:schemeClr val="accent4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i="1">
                              <a:solidFill>
                                <a:schemeClr val="accent4"/>
                              </a:solidFill>
                              <a:latin typeface="Cambria Math" panose="02040503050406030204" pitchFamily="18" charset="0"/>
                            </a:rPr>
                            <m:t>𝑠</m:t>
                          </m:r>
                        </m:e>
                        <m:sub>
                          <m:r>
                            <a:rPr lang="en-GB" i="1">
                              <a:solidFill>
                                <a:schemeClr val="accent4"/>
                              </a:solidFill>
                              <a:latin typeface="Cambria Math" panose="02040503050406030204" pitchFamily="18" charset="0"/>
                            </a:rPr>
                            <m:t>𝑐</m:t>
                          </m:r>
                        </m:sub>
                      </m:sSub>
                      <m:r>
                        <a:rPr lang="en-GB" i="1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{"/>
                          <m:endChr m:val="}"/>
                          <m:ctrlPr>
                            <a:rPr lang="en-GB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GB">
                              <a:latin typeface="Cambria Math" panose="02040503050406030204" pitchFamily="18" charset="0"/>
                            </a:rPr>
                            <m:t>1,4</m:t>
                          </m:r>
                        </m:e>
                      </m:d>
                    </m:oMath>
                  </m:oMathPara>
                </a14:m>
                <a:endParaRPr lang="en-GB" dirty="0"/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GB" i="1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i="1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</a:rPr>
                            <m:t>𝑠</m:t>
                          </m:r>
                        </m:e>
                        <m:sub>
                          <m:r>
                            <a:rPr lang="en-GB" i="1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</a:rPr>
                            <m:t>𝑑</m:t>
                          </m:r>
                        </m:sub>
                      </m:sSub>
                      <m:r>
                        <a:rPr lang="en-GB" i="1">
                          <a:latin typeface="Cambria Math" panose="02040503050406030204" pitchFamily="18" charset="0"/>
                        </a:rPr>
                        <m:t>={4}</m:t>
                      </m:r>
                    </m:oMath>
                  </m:oMathPara>
                </a14:m>
                <a:endParaRPr lang="en-GB" dirty="0"/>
              </a:p>
              <a:p>
                <a:endParaRPr lang="en-GB" dirty="0"/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GB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𝑐</m:t>
                          </m:r>
                        </m:e>
                        <m:sub>
                          <m:r>
                            <a:rPr lang="en-GB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𝑎</m:t>
                          </m:r>
                        </m:sub>
                      </m:sSub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=12</m:t>
                      </m:r>
                    </m:oMath>
                  </m:oMathPara>
                </a14:m>
                <a:endParaRPr lang="en-GB" b="0" dirty="0"/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GB" b="0" i="1" smtClean="0">
                              <a:solidFill>
                                <a:schemeClr val="accent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b="0" i="1" smtClean="0">
                              <a:solidFill>
                                <a:schemeClr val="accent1"/>
                              </a:solidFill>
                              <a:latin typeface="Cambria Math" panose="02040503050406030204" pitchFamily="18" charset="0"/>
                            </a:rPr>
                            <m:t>𝑐</m:t>
                          </m:r>
                        </m:e>
                        <m:sub>
                          <m:r>
                            <a:rPr lang="en-GB" b="0" i="1" smtClean="0">
                              <a:solidFill>
                                <a:schemeClr val="accent1"/>
                              </a:solidFill>
                              <a:latin typeface="Cambria Math" panose="02040503050406030204" pitchFamily="18" charset="0"/>
                            </a:rPr>
                            <m:t>𝑏</m:t>
                          </m:r>
                        </m:sub>
                      </m:sSub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=7</m:t>
                      </m:r>
                    </m:oMath>
                  </m:oMathPara>
                </a14:m>
                <a:endParaRPr lang="en-GB" b="0" dirty="0"/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GB" b="0" i="1" smtClean="0">
                              <a:solidFill>
                                <a:srgbClr val="FFC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b="0" i="1" smtClean="0">
                              <a:solidFill>
                                <a:srgbClr val="FFC000"/>
                              </a:solidFill>
                              <a:latin typeface="Cambria Math" panose="02040503050406030204" pitchFamily="18" charset="0"/>
                            </a:rPr>
                            <m:t>𝑐</m:t>
                          </m:r>
                        </m:e>
                        <m:sub>
                          <m:r>
                            <a:rPr lang="en-GB" b="0" i="1" smtClean="0">
                              <a:solidFill>
                                <a:srgbClr val="FFC000"/>
                              </a:solidFill>
                              <a:latin typeface="Cambria Math" panose="02040503050406030204" pitchFamily="18" charset="0"/>
                            </a:rPr>
                            <m:t>𝑐</m:t>
                          </m:r>
                        </m:sub>
                      </m:sSub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=10</m:t>
                      </m:r>
                    </m:oMath>
                  </m:oMathPara>
                </a14:m>
                <a:endParaRPr lang="en-GB" b="0" dirty="0"/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GB" b="0" i="1" smtClean="0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b="0" i="1" smtClean="0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</a:rPr>
                            <m:t>𝑐</m:t>
                          </m:r>
                        </m:e>
                        <m:sub>
                          <m:r>
                            <a:rPr lang="en-GB" b="0" i="1" smtClean="0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</a:rPr>
                            <m:t>𝑑</m:t>
                          </m:r>
                        </m:sub>
                      </m:sSub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=5</m:t>
                      </m:r>
                    </m:oMath>
                  </m:oMathPara>
                </a14:m>
                <a:endParaRPr lang="en-GB" dirty="0"/>
              </a:p>
            </p:txBody>
          </p:sp>
        </mc:Choice>
        <mc:Fallback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6A28C7C5-377C-4768-84F0-9C0F1340C81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180495" y="1355201"/>
                <a:ext cx="4165756" cy="5355312"/>
              </a:xfrm>
              <a:prstGeom prst="rect">
                <a:avLst/>
              </a:prstGeom>
              <a:blipFill>
                <a:blip r:embed="rId3"/>
                <a:stretch>
                  <a:fillRect t="-796" r="-439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62504588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3E593E6-3D2F-4C7E-80B2-F78D636A9E0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706293"/>
          </a:xfrm>
        </p:spPr>
        <p:txBody>
          <a:bodyPr/>
          <a:lstStyle/>
          <a:p>
            <a:r>
              <a:rPr lang="en-GB"/>
              <a:t>Costed Fire Station Example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6A28C7C5-377C-4768-84F0-9C0F1340C812}"/>
                  </a:ext>
                </a:extLst>
              </p:cNvPr>
              <p:cNvSpPr txBox="1"/>
              <p:nvPr/>
            </p:nvSpPr>
            <p:spPr>
              <a:xfrm>
                <a:off x="1203143" y="1488639"/>
                <a:ext cx="4165756" cy="5078313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en-GB" i="1" smtClean="0">
                        <a:latin typeface="Cambria Math" panose="02040503050406030204" pitchFamily="18" charset="0"/>
                      </a:rPr>
                      <m:t>𝑆</m:t>
                    </m:r>
                  </m:oMath>
                </a14:m>
                <a:r>
                  <a:rPr lang="en-GB" i="1" dirty="0">
                    <a:latin typeface="Cambria Math" panose="02040503050406030204" pitchFamily="18" charset="0"/>
                  </a:rPr>
                  <a:t> – </a:t>
                </a:r>
                <a:r>
                  <a:rPr lang="en-GB" dirty="0"/>
                  <a:t>All possible </a:t>
                </a:r>
                <a:r>
                  <a:rPr lang="en-GB" dirty="0" err="1"/>
                  <a:t>fire stations</a:t>
                </a:r>
                <a:r>
                  <a:rPr lang="en-GB" dirty="0"/>
                  <a:t> to choose from</a:t>
                </a:r>
              </a:p>
              <a:p>
                <a14:m>
                  <m:oMath xmlns:m="http://schemas.openxmlformats.org/officeDocument/2006/math">
                    <m:r>
                      <a:rPr lang="en-GB" b="0" i="1" smtClean="0">
                        <a:latin typeface="Cambria Math" panose="02040503050406030204" pitchFamily="18" charset="0"/>
                      </a:rPr>
                      <m:t>𝑡</m:t>
                    </m:r>
                    <m:r>
                      <a:rPr lang="en-GB" i="1">
                        <a:latin typeface="Cambria Math" panose="02040503050406030204" pitchFamily="18" charset="0"/>
                      </a:rPr>
                      <m:t>∈</m:t>
                    </m:r>
                    <m:r>
                      <a:rPr lang="en-GB" i="1">
                        <a:latin typeface="Cambria Math" panose="02040503050406030204" pitchFamily="18" charset="0"/>
                      </a:rPr>
                      <m:t>𝑆</m:t>
                    </m:r>
                  </m:oMath>
                </a14:m>
                <a:r>
                  <a:rPr lang="en-GB" dirty="0"/>
                  <a:t> – A given </a:t>
                </a:r>
                <a:r>
                  <a:rPr lang="en-GB" dirty="0" err="1"/>
                  <a:t>fire station</a:t>
                </a:r>
                <a:r>
                  <a:rPr lang="en-GB" dirty="0"/>
                  <a:t> </a:t>
                </a:r>
                <a14:m>
                  <m:oMath xmlns:m="http://schemas.openxmlformats.org/officeDocument/2006/math">
                    <m:r>
                      <a:rPr lang="en-GB" b="0" i="1" smtClean="0">
                        <a:latin typeface="Cambria Math" panose="02040503050406030204" pitchFamily="18" charset="0"/>
                      </a:rPr>
                      <m:t>𝑡</m:t>
                    </m:r>
                  </m:oMath>
                </a14:m>
                <a:endParaRPr lang="en-GB" i="1" dirty="0">
                  <a:latin typeface="Cambria Math" panose="02040503050406030204" pitchFamily="18" charset="0"/>
                </a:endParaRPr>
              </a:p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GB" i="1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i="1" dirty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GB" b="0" i="1" dirty="0" smtClean="0">
                            <a:latin typeface="Cambria Math" panose="02040503050406030204" pitchFamily="18" charset="0"/>
                          </a:rPr>
                          <m:t>𝑡</m:t>
                        </m:r>
                      </m:sub>
                    </m:sSub>
                  </m:oMath>
                </a14:m>
                <a:r>
                  <a:rPr lang="en-GB" dirty="0"/>
                  <a:t> - </a:t>
                </a:r>
                <a:r>
                  <a:rPr lang="en-GB" dirty="0" err="1"/>
                  <a:t>fire station</a:t>
                </a:r>
                <a:r>
                  <a:rPr lang="en-GB" dirty="0"/>
                  <a:t> </a:t>
                </a:r>
                <a14:m>
                  <m:oMath xmlns:m="http://schemas.openxmlformats.org/officeDocument/2006/math">
                    <m:r>
                      <a:rPr lang="en-GB" b="0" i="1" smtClean="0">
                        <a:latin typeface="Cambria Math" panose="02040503050406030204" pitchFamily="18" charset="0"/>
                      </a:rPr>
                      <m:t>𝑡</m:t>
                    </m:r>
                  </m:oMath>
                </a14:m>
                <a:r>
                  <a:rPr lang="en-GB" dirty="0"/>
                  <a:t> chosen or not</a:t>
                </a:r>
              </a:p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GB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i="1">
                            <a:latin typeface="Cambria Math" panose="02040503050406030204" pitchFamily="18" charset="0"/>
                          </a:rPr>
                          <m:t>𝑐</m:t>
                        </m:r>
                      </m:e>
                      <m:sub>
                        <m:r>
                          <a:rPr lang="en-GB" i="1" smtClean="0">
                            <a:latin typeface="Cambria Math" panose="02040503050406030204" pitchFamily="18" charset="0"/>
                          </a:rPr>
                          <m:t>𝑡</m:t>
                        </m:r>
                      </m:sub>
                    </m:sSub>
                  </m:oMath>
                </a14:m>
                <a:r>
                  <a:rPr lang="en-GB" dirty="0"/>
                  <a:t> - cost of running </a:t>
                </a:r>
                <a:r>
                  <a:rPr lang="en-GB" dirty="0" err="1"/>
                  <a:t>fire station</a:t>
                </a:r>
                <a:r>
                  <a:rPr lang="en-GB" dirty="0"/>
                  <a:t> </a:t>
                </a:r>
                <a14:m>
                  <m:oMath xmlns:m="http://schemas.openxmlformats.org/officeDocument/2006/math">
                    <m:r>
                      <a:rPr lang="en-GB" i="1">
                        <a:latin typeface="Cambria Math" panose="02040503050406030204" pitchFamily="18" charset="0"/>
                      </a:rPr>
                      <m:t>𝑡</m:t>
                    </m:r>
                  </m:oMath>
                </a14:m>
                <a:endParaRPr lang="en-GB" dirty="0"/>
              </a:p>
              <a:p>
                <a14:m>
                  <m:oMath xmlns:m="http://schemas.openxmlformats.org/officeDocument/2006/math">
                    <m:r>
                      <a:rPr lang="en-GB" i="1">
                        <a:latin typeface="Cambria Math" panose="02040503050406030204" pitchFamily="18" charset="0"/>
                      </a:rPr>
                      <m:t>𝑈</m:t>
                    </m:r>
                    <m:r>
                      <a:rPr lang="en-GB" i="1">
                        <a:latin typeface="Cambria Math" panose="02040503050406030204" pitchFamily="18" charset="0"/>
                      </a:rPr>
                      <m:t>=</m:t>
                    </m:r>
                  </m:oMath>
                </a14:m>
                <a:r>
                  <a:rPr lang="en-GB" dirty="0"/>
                  <a:t> Set of all cities contained in S</a:t>
                </a:r>
              </a:p>
              <a:p>
                <a:endParaRPr lang="en-GB" i="1" dirty="0">
                  <a:solidFill>
                    <a:srgbClr val="FF0000"/>
                  </a:solidFill>
                  <a:latin typeface="Cambria Math" panose="02040503050406030204" pitchFamily="18" charset="0"/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i="1">
                          <a:latin typeface="Cambria Math" panose="02040503050406030204" pitchFamily="18" charset="0"/>
                        </a:rPr>
                        <m:t>𝑆</m:t>
                      </m:r>
                      <m:r>
                        <a:rPr lang="en-GB" i="1">
                          <a:latin typeface="Cambria Math" panose="02040503050406030204" pitchFamily="18" charset="0"/>
                        </a:rPr>
                        <m:t>={</m:t>
                      </m:r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𝑎</m:t>
                      </m:r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,</m:t>
                      </m:r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𝑏</m:t>
                      </m:r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,</m:t>
                      </m:r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𝑐</m:t>
                      </m:r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,</m:t>
                      </m:r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𝑑</m:t>
                      </m:r>
                      <m:r>
                        <a:rPr lang="en-GB" i="1">
                          <a:latin typeface="Cambria Math" panose="02040503050406030204" pitchFamily="18" charset="0"/>
                        </a:rPr>
                        <m:t>}</m:t>
                      </m:r>
                    </m:oMath>
                  </m:oMathPara>
                </a14:m>
                <a:endParaRPr lang="en-GB" i="1" dirty="0">
                  <a:solidFill>
                    <a:srgbClr val="FF0000"/>
                  </a:solidFill>
                  <a:latin typeface="Cambria Math" panose="02040503050406030204" pitchFamily="18" charset="0"/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i="1">
                          <a:latin typeface="Cambria Math" panose="02040503050406030204" pitchFamily="18" charset="0"/>
                        </a:rPr>
                        <m:t>𝑈</m:t>
                      </m:r>
                      <m:r>
                        <a:rPr lang="en-GB" i="1">
                          <a:latin typeface="Cambria Math" panose="02040503050406030204" pitchFamily="18" charset="0"/>
                        </a:rPr>
                        <m:t>={0,1,2,3,4}</m:t>
                      </m:r>
                    </m:oMath>
                  </m:oMathPara>
                </a14:m>
                <a:endParaRPr lang="en-GB" i="1" dirty="0">
                  <a:latin typeface="Cambria Math" panose="02040503050406030204" pitchFamily="18" charset="0"/>
                </a:endParaRPr>
              </a:p>
              <a:p>
                <a:endParaRPr lang="en-GB" i="1" dirty="0">
                  <a:solidFill>
                    <a:srgbClr val="FF0000"/>
                  </a:solidFill>
                  <a:latin typeface="Cambria Math" panose="02040503050406030204" pitchFamily="18" charset="0"/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GB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𝑠</m:t>
                          </m:r>
                        </m:e>
                        <m:sub>
                          <m:r>
                            <a:rPr lang="en-GB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𝑎</m:t>
                          </m:r>
                        </m:sub>
                      </m:sSub>
                      <m:r>
                        <a:rPr lang="en-GB" i="1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{"/>
                          <m:endChr m:val="}"/>
                          <m:ctrlPr>
                            <a:rPr lang="en-GB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GB" i="1">
                              <a:latin typeface="Cambria Math" panose="02040503050406030204" pitchFamily="18" charset="0"/>
                            </a:rPr>
                            <m:t>0,2</m:t>
                          </m:r>
                        </m:e>
                      </m:d>
                    </m:oMath>
                  </m:oMathPara>
                </a14:m>
                <a:endParaRPr lang="en-GB" dirty="0"/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GB" i="1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b="0" i="1" smtClean="0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  <m:t>𝑠</m:t>
                          </m:r>
                        </m:e>
                        <m:sub>
                          <m:r>
                            <a:rPr lang="en-GB" b="0" i="1" smtClean="0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  <m:t>𝑏</m:t>
                          </m:r>
                        </m:sub>
                      </m:sSub>
                      <m:r>
                        <a:rPr lang="en-GB" i="1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{"/>
                          <m:endChr m:val="}"/>
                          <m:ctrlPr>
                            <a:rPr lang="en-GB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GB" i="1">
                              <a:latin typeface="Cambria Math" panose="02040503050406030204" pitchFamily="18" charset="0"/>
                            </a:rPr>
                            <m:t>1,2,3</m:t>
                          </m:r>
                        </m:e>
                      </m:d>
                    </m:oMath>
                  </m:oMathPara>
                </a14:m>
                <a:endParaRPr lang="en-GB" dirty="0"/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GB" i="1">
                              <a:solidFill>
                                <a:schemeClr val="accent4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b="0" i="1" smtClean="0">
                              <a:solidFill>
                                <a:schemeClr val="accent4"/>
                              </a:solidFill>
                              <a:latin typeface="Cambria Math" panose="02040503050406030204" pitchFamily="18" charset="0"/>
                            </a:rPr>
                            <m:t>𝑠</m:t>
                          </m:r>
                        </m:e>
                        <m:sub>
                          <m:r>
                            <a:rPr lang="en-GB" b="0" i="1" smtClean="0">
                              <a:solidFill>
                                <a:schemeClr val="accent4"/>
                              </a:solidFill>
                              <a:latin typeface="Cambria Math" panose="02040503050406030204" pitchFamily="18" charset="0"/>
                            </a:rPr>
                            <m:t>𝑐</m:t>
                          </m:r>
                        </m:sub>
                      </m:sSub>
                      <m:r>
                        <a:rPr lang="en-GB" i="1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{"/>
                          <m:endChr m:val="}"/>
                          <m:ctrlPr>
                            <a:rPr lang="en-GB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GB">
                              <a:latin typeface="Cambria Math" panose="02040503050406030204" pitchFamily="18" charset="0"/>
                            </a:rPr>
                            <m:t>1,4</m:t>
                          </m:r>
                        </m:e>
                      </m:d>
                    </m:oMath>
                  </m:oMathPara>
                </a14:m>
                <a:endParaRPr lang="en-GB" dirty="0"/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GB" i="1" smtClean="0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b="0" i="1" smtClean="0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</a:rPr>
                            <m:t>𝑠</m:t>
                          </m:r>
                        </m:e>
                        <m:sub>
                          <m:r>
                            <a:rPr lang="en-GB" b="0" i="1" smtClean="0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</a:rPr>
                            <m:t>𝑑</m:t>
                          </m:r>
                        </m:sub>
                      </m:sSub>
                      <m:r>
                        <a:rPr lang="en-GB" i="1">
                          <a:latin typeface="Cambria Math" panose="02040503050406030204" pitchFamily="18" charset="0"/>
                        </a:rPr>
                        <m:t>={4}</m:t>
                      </m:r>
                    </m:oMath>
                  </m:oMathPara>
                </a14:m>
                <a:endParaRPr lang="en-GB" dirty="0"/>
              </a:p>
              <a:p>
                <a:endParaRPr lang="en-GB" dirty="0"/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GB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i="1">
                              <a:latin typeface="Cambria Math" panose="02040503050406030204" pitchFamily="18" charset="0"/>
                            </a:rPr>
                            <m:t>𝑐</m:t>
                          </m:r>
                        </m:e>
                        <m:sub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𝑎</m:t>
                          </m:r>
                        </m:sub>
                      </m:sSub>
                      <m:r>
                        <a:rPr lang="en-GB" i="1">
                          <a:latin typeface="Cambria Math" panose="02040503050406030204" pitchFamily="18" charset="0"/>
                        </a:rPr>
                        <m:t>=12</m:t>
                      </m:r>
                    </m:oMath>
                  </m:oMathPara>
                </a14:m>
                <a:endParaRPr lang="en-GB" dirty="0"/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GB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i="1">
                              <a:latin typeface="Cambria Math" panose="02040503050406030204" pitchFamily="18" charset="0"/>
                            </a:rPr>
                            <m:t>𝑐</m:t>
                          </m:r>
                        </m:e>
                        <m:sub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𝑏</m:t>
                          </m:r>
                        </m:sub>
                      </m:sSub>
                      <m:r>
                        <a:rPr lang="en-GB" i="1">
                          <a:latin typeface="Cambria Math" panose="02040503050406030204" pitchFamily="18" charset="0"/>
                        </a:rPr>
                        <m:t>=7</m:t>
                      </m:r>
                    </m:oMath>
                  </m:oMathPara>
                </a14:m>
                <a:endParaRPr lang="en-GB" dirty="0"/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GB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i="1">
                              <a:latin typeface="Cambria Math" panose="02040503050406030204" pitchFamily="18" charset="0"/>
                            </a:rPr>
                            <m:t>𝑐</m:t>
                          </m:r>
                        </m:e>
                        <m:sub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𝑐</m:t>
                          </m:r>
                        </m:sub>
                      </m:sSub>
                      <m:r>
                        <a:rPr lang="en-GB" i="1">
                          <a:latin typeface="Cambria Math" panose="02040503050406030204" pitchFamily="18" charset="0"/>
                        </a:rPr>
                        <m:t>=10</m:t>
                      </m:r>
                    </m:oMath>
                  </m:oMathPara>
                </a14:m>
                <a:endParaRPr lang="en-GB" dirty="0"/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GB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i="1">
                              <a:latin typeface="Cambria Math" panose="02040503050406030204" pitchFamily="18" charset="0"/>
                            </a:rPr>
                            <m:t>𝑐</m:t>
                          </m:r>
                        </m:e>
                        <m:sub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𝑑</m:t>
                          </m:r>
                        </m:sub>
                      </m:sSub>
                      <m:r>
                        <a:rPr lang="en-GB" i="1">
                          <a:latin typeface="Cambria Math" panose="02040503050406030204" pitchFamily="18" charset="0"/>
                        </a:rPr>
                        <m:t>=5</m:t>
                      </m:r>
                    </m:oMath>
                  </m:oMathPara>
                </a14:m>
                <a:endParaRPr lang="en-GB" dirty="0"/>
              </a:p>
            </p:txBody>
          </p:sp>
        </mc:Choice>
        <mc:Fallback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6A28C7C5-377C-4768-84F0-9C0F1340C81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203143" y="1488639"/>
                <a:ext cx="4165756" cy="5078313"/>
              </a:xfrm>
              <a:prstGeom prst="rect">
                <a:avLst/>
              </a:prstGeom>
              <a:blipFill>
                <a:blip r:embed="rId3"/>
                <a:stretch>
                  <a:fillRect t="-840" r="-439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5A07AD26-4600-4F11-BBFA-E9F0C8908A24}"/>
                  </a:ext>
                </a:extLst>
              </p:cNvPr>
              <p:cNvSpPr txBox="1"/>
              <p:nvPr/>
            </p:nvSpPr>
            <p:spPr>
              <a:xfrm>
                <a:off x="5700420" y="1385740"/>
                <a:ext cx="6094428" cy="2267993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marL="0" indent="0">
                  <a:buNone/>
                </a:pPr>
                <a:r>
                  <a:rPr lang="en-GB" sz="1800" dirty="0"/>
                  <a:t>minimise 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nary>
                        <m:naryPr>
                          <m:chr m:val="∑"/>
                          <m:supHide m:val="on"/>
                          <m:ctrlPr>
                            <a:rPr lang="en-GB" sz="1800" i="1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en-GB" sz="1800" b="0" i="1" smtClean="0">
                              <a:latin typeface="Cambria Math" panose="02040503050406030204" pitchFamily="18" charset="0"/>
                            </a:rPr>
                            <m:t>𝑡</m:t>
                          </m:r>
                          <m:r>
                            <a:rPr lang="en-GB" sz="1800" b="0" i="1" smtClean="0">
                              <a:latin typeface="Cambria Math" panose="02040503050406030204" pitchFamily="18" charset="0"/>
                            </a:rPr>
                            <m:t>∈</m:t>
                          </m:r>
                          <m:r>
                            <a:rPr lang="en-GB" sz="1800" b="0" i="1" smtClean="0">
                              <a:latin typeface="Cambria Math" panose="02040503050406030204" pitchFamily="18" charset="0"/>
                            </a:rPr>
                            <m:t>𝑆</m:t>
                          </m:r>
                        </m:sub>
                        <m:sup/>
                        <m:e>
                          <m:sSub>
                            <m:sSubPr>
                              <m:ctrlPr>
                                <a:rPr lang="en-GB" sz="18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sSub>
                                <m:sSubPr>
                                  <m:ctrlPr>
                                    <a:rPr lang="en-GB" sz="18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GB" sz="1800" b="0" i="1" smtClean="0">
                                      <a:latin typeface="Cambria Math" panose="02040503050406030204" pitchFamily="18" charset="0"/>
                                    </a:rPr>
                                    <m:t>𝑐</m:t>
                                  </m:r>
                                </m:e>
                                <m:sub>
                                  <m:r>
                                    <a:rPr lang="en-GB" sz="1800" b="0" i="1" smtClean="0">
                                      <a:latin typeface="Cambria Math" panose="02040503050406030204" pitchFamily="18" charset="0"/>
                                    </a:rPr>
                                    <m:t>𝑡</m:t>
                                  </m:r>
                                </m:sub>
                              </m:sSub>
                              <m:r>
                                <a:rPr lang="en-GB" sz="1800" i="1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GB" sz="1800" b="0" i="1" smtClean="0"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sub>
                          </m:sSub>
                        </m:e>
                      </m:nary>
                    </m:oMath>
                  </m:oMathPara>
                </a14:m>
                <a:endParaRPr lang="en-GB" sz="1800" dirty="0"/>
              </a:p>
              <a:p>
                <a:pPr marL="0" indent="0">
                  <a:buNone/>
                </a:pPr>
                <a:r>
                  <a:rPr lang="en-GB" sz="1800" dirty="0"/>
                  <a:t>subject to: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nary>
                        <m:naryPr>
                          <m:chr m:val="∑"/>
                          <m:supHide m:val="on"/>
                          <m:ctrlPr>
                            <a:rPr lang="en-GB" sz="1800" i="1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en-GB" sz="1800" b="0" i="1" smtClean="0">
                              <a:latin typeface="Cambria Math" panose="02040503050406030204" pitchFamily="18" charset="0"/>
                            </a:rPr>
                            <m:t>𝑡</m:t>
                          </m:r>
                          <m:r>
                            <a:rPr lang="en-GB" sz="1800" i="1">
                              <a:latin typeface="Cambria Math" panose="02040503050406030204" pitchFamily="18" charset="0"/>
                            </a:rPr>
                            <m:t>:</m:t>
                          </m:r>
                          <m:r>
                            <a:rPr lang="en-GB" sz="1800" i="1">
                              <a:latin typeface="Cambria Math" panose="02040503050406030204" pitchFamily="18" charset="0"/>
                            </a:rPr>
                            <m:t>𝑒</m:t>
                          </m:r>
                          <m:r>
                            <a:rPr lang="en-GB" sz="1800" i="1">
                              <a:latin typeface="Cambria Math" panose="02040503050406030204" pitchFamily="18" charset="0"/>
                            </a:rPr>
                            <m:t>∈</m:t>
                          </m:r>
                          <m:sSub>
                            <m:sSubPr>
                              <m:ctrlPr>
                                <a:rPr lang="en-GB" sz="18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GB" sz="1800" b="0" i="1" smtClean="0">
                                  <a:latin typeface="Cambria Math" panose="02040503050406030204" pitchFamily="18" charset="0"/>
                                </a:rPr>
                                <m:t>𝑠</m:t>
                              </m:r>
                            </m:e>
                            <m:sub>
                              <m:r>
                                <a:rPr lang="en-GB" sz="1800" b="0" i="1" smtClean="0"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sub>
                          </m:sSub>
                        </m:sub>
                        <m:sup/>
                        <m:e>
                          <m:sSub>
                            <m:sSubPr>
                              <m:ctrlPr>
                                <a:rPr lang="en-GB" sz="18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GB" sz="1800" i="1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GB" sz="1800" b="0" i="1" smtClean="0"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sub>
                          </m:sSub>
                          <m:r>
                            <a:rPr lang="en-GB" sz="1800" i="1">
                              <a:latin typeface="Cambria Math" panose="02040503050406030204" pitchFamily="18" charset="0"/>
                            </a:rPr>
                            <m:t>≥1</m:t>
                          </m:r>
                        </m:e>
                      </m:nary>
                      <m:r>
                        <a:rPr lang="en-GB" sz="1800" i="1">
                          <a:latin typeface="Cambria Math" panose="02040503050406030204" pitchFamily="18" charset="0"/>
                        </a:rPr>
                        <m:t>,  ∀</m:t>
                      </m:r>
                      <m:r>
                        <a:rPr lang="en-GB" sz="1800" i="1">
                          <a:latin typeface="Cambria Math" panose="02040503050406030204" pitchFamily="18" charset="0"/>
                        </a:rPr>
                        <m:t>𝑒</m:t>
                      </m:r>
                      <m:r>
                        <a:rPr lang="en-GB" sz="1800" i="1">
                          <a:latin typeface="Cambria Math" panose="02040503050406030204" pitchFamily="18" charset="0"/>
                        </a:rPr>
                        <m:t>∈</m:t>
                      </m:r>
                      <m:r>
                        <a:rPr lang="en-GB" sz="1800" i="1">
                          <a:latin typeface="Cambria Math" panose="02040503050406030204" pitchFamily="18" charset="0"/>
                        </a:rPr>
                        <m:t>𝑈</m:t>
                      </m:r>
                    </m:oMath>
                  </m:oMathPara>
                </a14:m>
                <a:endParaRPr lang="en-GB" sz="1800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GB" sz="18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sz="1800" i="1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GB" sz="1800" b="0" i="1" smtClean="0">
                              <a:latin typeface="Cambria Math" panose="02040503050406030204" pitchFamily="18" charset="0"/>
                            </a:rPr>
                            <m:t>𝑡</m:t>
                          </m:r>
                        </m:sub>
                      </m:sSub>
                      <m:r>
                        <a:rPr lang="en-GB" sz="1800" i="1">
                          <a:latin typeface="Cambria Math" panose="02040503050406030204" pitchFamily="18" charset="0"/>
                        </a:rPr>
                        <m:t>∈{0,1}</m:t>
                      </m:r>
                    </m:oMath>
                  </m:oMathPara>
                </a14:m>
                <a:endParaRPr lang="en-GB" sz="1800" dirty="0"/>
              </a:p>
            </p:txBody>
          </p:sp>
        </mc:Choice>
        <mc:Fallback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5A07AD26-4600-4F11-BBFA-E9F0C8908A2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700420" y="1385740"/>
                <a:ext cx="6094428" cy="2267993"/>
              </a:xfrm>
              <a:prstGeom prst="rect">
                <a:avLst/>
              </a:prstGeom>
              <a:blipFill>
                <a:blip r:embed="rId4"/>
                <a:stretch>
                  <a:fillRect l="-800" t="-1344" b="-1882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3BAB47DD-0860-4815-9E7D-A829345EBC04}"/>
                  </a:ext>
                </a:extLst>
              </p:cNvPr>
              <p:cNvSpPr txBox="1"/>
              <p:nvPr/>
            </p:nvSpPr>
            <p:spPr>
              <a:xfrm>
                <a:off x="5700420" y="4224882"/>
                <a:ext cx="6834432" cy="2585323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marL="0" indent="0">
                  <a:buNone/>
                </a:pPr>
                <a:r>
                  <a:rPr lang="en-GB" sz="1800"/>
                  <a:t>minimise 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GB" sz="18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sz="1800" b="0" i="1" smtClean="0">
                              <a:latin typeface="Cambria Math" panose="02040503050406030204" pitchFamily="18" charset="0"/>
                            </a:rPr>
                            <m:t>𝑐</m:t>
                          </m:r>
                        </m:e>
                        <m:sub>
                          <m:r>
                            <a:rPr lang="en-GB" sz="1800" b="0" i="1" smtClean="0">
                              <a:latin typeface="Cambria Math" panose="02040503050406030204" pitchFamily="18" charset="0"/>
                            </a:rPr>
                            <m:t>𝑎</m:t>
                          </m:r>
                        </m:sub>
                      </m:sSub>
                      <m:sSub>
                        <m:sSubPr>
                          <m:ctrlPr>
                            <a:rPr lang="en-GB" sz="18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sz="1800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GB" sz="1800" b="0" i="1" smtClean="0">
                              <a:latin typeface="Cambria Math" panose="02040503050406030204" pitchFamily="18" charset="0"/>
                            </a:rPr>
                            <m:t>𝑎</m:t>
                          </m:r>
                        </m:sub>
                      </m:sSub>
                      <m:r>
                        <a:rPr lang="en-GB" sz="1800" b="0" i="1" smtClean="0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GB" sz="18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sz="1800" b="0" i="1" smtClean="0">
                              <a:latin typeface="Cambria Math" panose="02040503050406030204" pitchFamily="18" charset="0"/>
                            </a:rPr>
                            <m:t>𝑐</m:t>
                          </m:r>
                        </m:e>
                        <m:sub>
                          <m:r>
                            <a:rPr lang="en-GB" sz="1800" b="0" i="1" smtClean="0">
                              <a:latin typeface="Cambria Math" panose="02040503050406030204" pitchFamily="18" charset="0"/>
                            </a:rPr>
                            <m:t>𝑏</m:t>
                          </m:r>
                        </m:sub>
                      </m:sSub>
                      <m:sSub>
                        <m:sSubPr>
                          <m:ctrlPr>
                            <a:rPr lang="en-GB" sz="18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sz="1800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GB" sz="1800" b="0" i="1" smtClean="0">
                              <a:latin typeface="Cambria Math" panose="02040503050406030204" pitchFamily="18" charset="0"/>
                            </a:rPr>
                            <m:t>𝑏</m:t>
                          </m:r>
                        </m:sub>
                      </m:sSub>
                      <m:r>
                        <a:rPr lang="en-GB" sz="1800" b="0" i="1" smtClean="0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GB" sz="18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sz="1800" b="0" i="1" smtClean="0">
                              <a:latin typeface="Cambria Math" panose="02040503050406030204" pitchFamily="18" charset="0"/>
                            </a:rPr>
                            <m:t>𝑐</m:t>
                          </m:r>
                        </m:e>
                        <m:sub>
                          <m:r>
                            <a:rPr lang="en-GB" sz="1800" b="0" i="1" smtClean="0">
                              <a:latin typeface="Cambria Math" panose="02040503050406030204" pitchFamily="18" charset="0"/>
                            </a:rPr>
                            <m:t>𝑐</m:t>
                          </m:r>
                        </m:sub>
                      </m:sSub>
                      <m:sSub>
                        <m:sSubPr>
                          <m:ctrlPr>
                            <a:rPr lang="en-GB" sz="18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sz="1800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GB" sz="1800" b="0" i="1" smtClean="0">
                              <a:latin typeface="Cambria Math" panose="02040503050406030204" pitchFamily="18" charset="0"/>
                            </a:rPr>
                            <m:t>𝑐</m:t>
                          </m:r>
                        </m:sub>
                      </m:sSub>
                      <m:r>
                        <a:rPr lang="en-GB" sz="1800" b="0" i="1" smtClean="0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GB" sz="18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sz="1800" b="0" i="1" smtClean="0">
                              <a:latin typeface="Cambria Math" panose="02040503050406030204" pitchFamily="18" charset="0"/>
                            </a:rPr>
                            <m:t>𝑐</m:t>
                          </m:r>
                        </m:e>
                        <m:sub>
                          <m:r>
                            <a:rPr lang="en-GB" sz="1800" b="0" i="1" smtClean="0">
                              <a:latin typeface="Cambria Math" panose="02040503050406030204" pitchFamily="18" charset="0"/>
                            </a:rPr>
                            <m:t>𝑑</m:t>
                          </m:r>
                        </m:sub>
                      </m:sSub>
                      <m:sSub>
                        <m:sSubPr>
                          <m:ctrlPr>
                            <a:rPr lang="en-GB" sz="18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sz="1800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GB" sz="1800" b="0" i="1" smtClean="0">
                              <a:latin typeface="Cambria Math" panose="02040503050406030204" pitchFamily="18" charset="0"/>
                            </a:rPr>
                            <m:t>𝑑</m:t>
                          </m:r>
                        </m:sub>
                      </m:sSub>
                    </m:oMath>
                  </m:oMathPara>
                </a14:m>
                <a:endParaRPr lang="en-GB" sz="1800"/>
              </a:p>
              <a:p>
                <a:pPr marL="0" indent="0">
                  <a:buNone/>
                </a:pPr>
                <a:r>
                  <a:rPr lang="en-GB" sz="1800"/>
                  <a:t>subject to:</a:t>
                </a:r>
              </a:p>
              <a:p>
                <a:pPr algn="ctr"/>
                <a:r>
                  <a:rPr lang="en-GB" sz="1800" b="0"/>
                  <a:t>              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GB" sz="18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sz="1800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GB" sz="1800" b="0" i="1" smtClean="0">
                            <a:latin typeface="Cambria Math" panose="02040503050406030204" pitchFamily="18" charset="0"/>
                          </a:rPr>
                          <m:t>𝑎</m:t>
                        </m:r>
                      </m:sub>
                    </m:sSub>
                    <m:r>
                      <a:rPr lang="en-GB" sz="1800" b="0" i="1" smtClean="0">
                        <a:latin typeface="Cambria Math" panose="02040503050406030204" pitchFamily="18" charset="0"/>
                      </a:rPr>
                      <m:t>≥1</m:t>
                    </m:r>
                  </m:oMath>
                </a14:m>
                <a:br>
                  <a:rPr lang="en-GB" sz="1800" b="0" i="1">
                    <a:latin typeface="Cambria Math" panose="02040503050406030204" pitchFamily="18" charset="0"/>
                  </a:rPr>
                </a:br>
                <a:r>
                  <a:rPr lang="en-GB" sz="1800" b="0" i="1">
                    <a:latin typeface="Cambria Math" panose="02040503050406030204" pitchFamily="18" charset="0"/>
                  </a:rPr>
                  <a:t>     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GB" sz="18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sz="1800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GB" sz="1800" b="0" i="1" smtClean="0">
                            <a:latin typeface="Cambria Math" panose="02040503050406030204" pitchFamily="18" charset="0"/>
                          </a:rPr>
                          <m:t>𝑏</m:t>
                        </m:r>
                      </m:sub>
                    </m:sSub>
                    <m:r>
                      <a:rPr lang="en-GB" sz="1800" b="0" i="1" smtClean="0">
                        <a:latin typeface="Cambria Math" panose="02040503050406030204" pitchFamily="18" charset="0"/>
                      </a:rPr>
                      <m:t>+</m:t>
                    </m:r>
                    <m:sSub>
                      <m:sSubPr>
                        <m:ctrlPr>
                          <a:rPr lang="en-GB" sz="18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sz="1800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GB" sz="1800" b="0" i="1" smtClean="0">
                            <a:latin typeface="Cambria Math" panose="02040503050406030204" pitchFamily="18" charset="0"/>
                          </a:rPr>
                          <m:t>𝑐</m:t>
                        </m:r>
                      </m:sub>
                    </m:sSub>
                    <m:r>
                      <a:rPr lang="en-GB" sz="1800" b="0" i="1" smtClean="0">
                        <a:latin typeface="Cambria Math" panose="02040503050406030204" pitchFamily="18" charset="0"/>
                      </a:rPr>
                      <m:t>≥1</m:t>
                    </m:r>
                  </m:oMath>
                </a14:m>
                <a:br>
                  <a:rPr lang="en-GB" sz="1800" b="0" i="1">
                    <a:latin typeface="Cambria Math" panose="02040503050406030204" pitchFamily="18" charset="0"/>
                  </a:rPr>
                </a:br>
                <a:r>
                  <a:rPr lang="en-GB" sz="1800" b="0" i="1">
                    <a:latin typeface="Cambria Math" panose="02040503050406030204" pitchFamily="18" charset="0"/>
                  </a:rPr>
                  <a:t>     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GB" sz="18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sz="1800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GB" sz="1800" b="0" i="1" smtClean="0">
                            <a:latin typeface="Cambria Math" panose="02040503050406030204" pitchFamily="18" charset="0"/>
                          </a:rPr>
                          <m:t>𝑎</m:t>
                        </m:r>
                      </m:sub>
                    </m:sSub>
                    <m:r>
                      <a:rPr lang="en-GB" sz="1800" b="0" i="1" smtClean="0">
                        <a:latin typeface="Cambria Math" panose="02040503050406030204" pitchFamily="18" charset="0"/>
                      </a:rPr>
                      <m:t>+</m:t>
                    </m:r>
                    <m:sSub>
                      <m:sSubPr>
                        <m:ctrlPr>
                          <a:rPr lang="en-GB" sz="18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sz="1800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GB" sz="1800" b="0" i="1" smtClean="0">
                            <a:latin typeface="Cambria Math" panose="02040503050406030204" pitchFamily="18" charset="0"/>
                          </a:rPr>
                          <m:t>𝑏</m:t>
                        </m:r>
                      </m:sub>
                    </m:sSub>
                    <m:r>
                      <a:rPr lang="en-GB" sz="1800" b="0" i="1" smtClean="0">
                        <a:latin typeface="Cambria Math" panose="02040503050406030204" pitchFamily="18" charset="0"/>
                      </a:rPr>
                      <m:t>≥1</m:t>
                    </m:r>
                  </m:oMath>
                </a14:m>
                <a:br>
                  <a:rPr lang="en-GB" sz="1800" b="0" i="1">
                    <a:latin typeface="Cambria Math" panose="02040503050406030204" pitchFamily="18" charset="0"/>
                  </a:rPr>
                </a:br>
                <a:r>
                  <a:rPr lang="en-GB" sz="1800" b="0" i="1">
                    <a:latin typeface="Cambria Math" panose="02040503050406030204" pitchFamily="18" charset="0"/>
                  </a:rPr>
                  <a:t>               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GB" sz="18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sz="1800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GB" sz="1800" b="0" i="1" smtClean="0">
                            <a:latin typeface="Cambria Math" panose="02040503050406030204" pitchFamily="18" charset="0"/>
                          </a:rPr>
                          <m:t>𝑏</m:t>
                        </m:r>
                      </m:sub>
                    </m:sSub>
                    <m:r>
                      <a:rPr lang="en-GB" sz="1800" b="0" i="1" smtClean="0">
                        <a:latin typeface="Cambria Math" panose="02040503050406030204" pitchFamily="18" charset="0"/>
                      </a:rPr>
                      <m:t>≥1</m:t>
                    </m:r>
                  </m:oMath>
                </a14:m>
                <a:br>
                  <a:rPr lang="en-GB" sz="1800" b="0" i="1">
                    <a:latin typeface="Cambria Math" panose="02040503050406030204" pitchFamily="18" charset="0"/>
                  </a:rPr>
                </a:b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1800" b="0" i="1" smtClean="0">
                          <a:latin typeface="Cambria Math" panose="02040503050406030204" pitchFamily="18" charset="0"/>
                        </a:rPr>
                        <m:t>      </m:t>
                      </m:r>
                      <m:sSub>
                        <m:sSubPr>
                          <m:ctrlPr>
                            <a:rPr lang="en-GB" sz="18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sz="1800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GB" sz="1800" b="0" i="1" smtClean="0">
                              <a:latin typeface="Cambria Math" panose="02040503050406030204" pitchFamily="18" charset="0"/>
                            </a:rPr>
                            <m:t>𝑐</m:t>
                          </m:r>
                        </m:sub>
                      </m:sSub>
                      <m:r>
                        <a:rPr lang="en-GB" sz="1800" b="0" i="1" smtClean="0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GB" sz="18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sz="1800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GB" sz="1800" b="0" i="1" smtClean="0">
                              <a:latin typeface="Cambria Math" panose="02040503050406030204" pitchFamily="18" charset="0"/>
                            </a:rPr>
                            <m:t>𝑑</m:t>
                          </m:r>
                        </m:sub>
                      </m:sSub>
                      <m:r>
                        <m:rPr>
                          <m:aln/>
                        </m:rPr>
                        <a:rPr lang="en-GB" sz="1800" b="0" i="1" smtClean="0">
                          <a:latin typeface="Cambria Math" panose="02040503050406030204" pitchFamily="18" charset="0"/>
                        </a:rPr>
                        <m:t>≥</m:t>
                      </m:r>
                      <m:r>
                        <a:rPr lang="en-GB" sz="1800" b="0" i="1" smtClean="0">
                          <a:latin typeface="Cambria Math" panose="02040503050406030204" pitchFamily="18" charset="0"/>
                        </a:rPr>
                        <m:t>1</m:t>
                      </m:r>
                    </m:oMath>
                  </m:oMathPara>
                </a14:m>
                <a:endParaRPr lang="en-GB" sz="1800" b="0" i="1">
                  <a:latin typeface="Cambria Math" panose="02040503050406030204" pitchFamily="18" charset="0"/>
                </a:endParaRP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GB" sz="18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sz="1800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GB" sz="1800" b="0" i="1" smtClean="0">
                              <a:latin typeface="Cambria Math" panose="02040503050406030204" pitchFamily="18" charset="0"/>
                            </a:rPr>
                            <m:t>𝑡</m:t>
                          </m:r>
                        </m:sub>
                      </m:sSub>
                      <m:r>
                        <a:rPr lang="en-GB" sz="1800" b="0" i="1" smtClean="0">
                          <a:latin typeface="Cambria Math" panose="02040503050406030204" pitchFamily="18" charset="0"/>
                        </a:rPr>
                        <m:t>∈{0,1}</m:t>
                      </m:r>
                    </m:oMath>
                  </m:oMathPara>
                </a14:m>
                <a:endParaRPr lang="en-GB" sz="1800"/>
              </a:p>
            </p:txBody>
          </p:sp>
        </mc:Choice>
        <mc:Fallback xmlns="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3BAB47DD-0860-4815-9E7D-A829345EBC0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700420" y="4224882"/>
                <a:ext cx="6834432" cy="2585323"/>
              </a:xfrm>
              <a:prstGeom prst="rect">
                <a:avLst/>
              </a:prstGeom>
              <a:blipFill>
                <a:blip r:embed="rId5"/>
                <a:stretch>
                  <a:fillRect l="-714" t="-1179" b="-141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TextBox 4">
            <a:extLst>
              <a:ext uri="{FF2B5EF4-FFF2-40B4-BE49-F238E27FC236}">
                <a16:creationId xmlns:a16="http://schemas.microsoft.com/office/drawing/2014/main" id="{2D5CA100-E295-4BC8-BB78-F6F52EA94AFF}"/>
              </a:ext>
            </a:extLst>
          </p:cNvPr>
          <p:cNvSpPr txBox="1"/>
          <p:nvPr/>
        </p:nvSpPr>
        <p:spPr>
          <a:xfrm>
            <a:off x="10135738" y="5028566"/>
            <a:ext cx="165442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/>
              <a:t>(City 0 covered)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24FFA63D-A2E7-4371-8E35-F2BCE539730D}"/>
              </a:ext>
            </a:extLst>
          </p:cNvPr>
          <p:cNvSpPr txBox="1"/>
          <p:nvPr/>
        </p:nvSpPr>
        <p:spPr>
          <a:xfrm>
            <a:off x="10135737" y="5297021"/>
            <a:ext cx="165442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/>
              <a:t>(City 1 covered)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ECC89945-228A-4505-A7F4-74E740EE6267}"/>
              </a:ext>
            </a:extLst>
          </p:cNvPr>
          <p:cNvSpPr txBox="1"/>
          <p:nvPr/>
        </p:nvSpPr>
        <p:spPr>
          <a:xfrm>
            <a:off x="10135737" y="5584330"/>
            <a:ext cx="165442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/>
              <a:t>(City 2 covered)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F097BE2C-4088-4486-A5B0-96F3C5E1209E}"/>
              </a:ext>
            </a:extLst>
          </p:cNvPr>
          <p:cNvSpPr txBox="1"/>
          <p:nvPr/>
        </p:nvSpPr>
        <p:spPr>
          <a:xfrm>
            <a:off x="10135737" y="5862212"/>
            <a:ext cx="165442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/>
              <a:t>(City 3 covered)</a:t>
            </a:r>
          </a:p>
        </p:txBody>
      </p:sp>
      <p:cxnSp>
        <p:nvCxnSpPr>
          <p:cNvPr id="18" name="Straight Arrow Connector 17">
            <a:extLst>
              <a:ext uri="{FF2B5EF4-FFF2-40B4-BE49-F238E27FC236}">
                <a16:creationId xmlns:a16="http://schemas.microsoft.com/office/drawing/2014/main" id="{99319C5E-FDA8-4E4F-85BF-993DB64AC34F}"/>
              </a:ext>
            </a:extLst>
          </p:cNvPr>
          <p:cNvCxnSpPr/>
          <p:nvPr/>
        </p:nvCxnSpPr>
        <p:spPr>
          <a:xfrm>
            <a:off x="8700940" y="3789575"/>
            <a:ext cx="0" cy="339365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TextBox 19">
            <a:extLst>
              <a:ext uri="{FF2B5EF4-FFF2-40B4-BE49-F238E27FC236}">
                <a16:creationId xmlns:a16="http://schemas.microsoft.com/office/drawing/2014/main" id="{8A28798D-E4FD-4EF8-AF78-5AC7F69EEFAC}"/>
              </a:ext>
            </a:extLst>
          </p:cNvPr>
          <p:cNvSpPr txBox="1"/>
          <p:nvPr/>
        </p:nvSpPr>
        <p:spPr>
          <a:xfrm>
            <a:off x="10135736" y="6123543"/>
            <a:ext cx="165442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/>
              <a:t>(City 4 covered)</a:t>
            </a:r>
          </a:p>
        </p:txBody>
      </p:sp>
    </p:spTree>
    <p:extLst>
      <p:ext uri="{BB962C8B-B14F-4D97-AF65-F5344CB8AC3E}">
        <p14:creationId xmlns:p14="http://schemas.microsoft.com/office/powerpoint/2010/main" val="370688032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3E593E6-3D2F-4C7E-80B2-F78D636A9E0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706293"/>
          </a:xfrm>
        </p:spPr>
        <p:txBody>
          <a:bodyPr/>
          <a:lstStyle/>
          <a:p>
            <a:r>
              <a:rPr lang="en-GB"/>
              <a:t>Costed Fire Station Example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6A28C7C5-377C-4768-84F0-9C0F1340C812}"/>
                  </a:ext>
                </a:extLst>
              </p:cNvPr>
              <p:cNvSpPr txBox="1"/>
              <p:nvPr/>
            </p:nvSpPr>
            <p:spPr>
              <a:xfrm>
                <a:off x="1203143" y="1488639"/>
                <a:ext cx="4165756" cy="5078313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en-GB" i="1">
                        <a:latin typeface="Cambria Math" panose="02040503050406030204" pitchFamily="18" charset="0"/>
                      </a:rPr>
                      <m:t>𝑆</m:t>
                    </m:r>
                  </m:oMath>
                </a14:m>
                <a:r>
                  <a:rPr lang="en-GB" i="1">
                    <a:latin typeface="Cambria Math" panose="02040503050406030204" pitchFamily="18" charset="0"/>
                  </a:rPr>
                  <a:t> – </a:t>
                </a:r>
                <a:r>
                  <a:rPr lang="en-GB"/>
                  <a:t>All possible </a:t>
                </a:r>
                <a:r>
                  <a:rPr lang="en-GB" err="1"/>
                  <a:t>fire stations</a:t>
                </a:r>
                <a:r>
                  <a:rPr lang="en-GB"/>
                  <a:t> to choose from</a:t>
                </a:r>
              </a:p>
              <a:p>
                <a14:m>
                  <m:oMath xmlns:m="http://schemas.openxmlformats.org/officeDocument/2006/math">
                    <m:r>
                      <a:rPr lang="en-GB" i="1">
                        <a:latin typeface="Cambria Math" panose="02040503050406030204" pitchFamily="18" charset="0"/>
                      </a:rPr>
                      <m:t>𝑡</m:t>
                    </m:r>
                    <m:r>
                      <a:rPr lang="en-GB" i="1">
                        <a:latin typeface="Cambria Math" panose="02040503050406030204" pitchFamily="18" charset="0"/>
                      </a:rPr>
                      <m:t>∈</m:t>
                    </m:r>
                    <m:r>
                      <a:rPr lang="en-GB" i="1">
                        <a:latin typeface="Cambria Math" panose="02040503050406030204" pitchFamily="18" charset="0"/>
                      </a:rPr>
                      <m:t>𝑆</m:t>
                    </m:r>
                  </m:oMath>
                </a14:m>
                <a:r>
                  <a:rPr lang="en-GB"/>
                  <a:t> – A given </a:t>
                </a:r>
                <a:r>
                  <a:rPr lang="en-GB" err="1"/>
                  <a:t>fire station</a:t>
                </a:r>
                <a:r>
                  <a:rPr lang="en-GB"/>
                  <a:t> </a:t>
                </a:r>
                <a14:m>
                  <m:oMath xmlns:m="http://schemas.openxmlformats.org/officeDocument/2006/math">
                    <m:r>
                      <a:rPr lang="en-GB" i="1">
                        <a:latin typeface="Cambria Math" panose="02040503050406030204" pitchFamily="18" charset="0"/>
                      </a:rPr>
                      <m:t>𝑡</m:t>
                    </m:r>
                  </m:oMath>
                </a14:m>
                <a:endParaRPr lang="en-GB" i="1">
                  <a:latin typeface="Cambria Math" panose="02040503050406030204" pitchFamily="18" charset="0"/>
                </a:endParaRPr>
              </a:p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GB" i="1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i="1" dirty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GB" i="1" dirty="0">
                            <a:latin typeface="Cambria Math" panose="02040503050406030204" pitchFamily="18" charset="0"/>
                          </a:rPr>
                          <m:t>𝑡</m:t>
                        </m:r>
                      </m:sub>
                    </m:sSub>
                  </m:oMath>
                </a14:m>
                <a:r>
                  <a:rPr lang="en-GB"/>
                  <a:t> - </a:t>
                </a:r>
                <a:r>
                  <a:rPr lang="en-GB" err="1"/>
                  <a:t>fire station</a:t>
                </a:r>
                <a:r>
                  <a:rPr lang="en-GB"/>
                  <a:t> </a:t>
                </a:r>
                <a14:m>
                  <m:oMath xmlns:m="http://schemas.openxmlformats.org/officeDocument/2006/math">
                    <m:r>
                      <a:rPr lang="en-GB" i="1">
                        <a:latin typeface="Cambria Math" panose="02040503050406030204" pitchFamily="18" charset="0"/>
                      </a:rPr>
                      <m:t>𝑡</m:t>
                    </m:r>
                  </m:oMath>
                </a14:m>
                <a:r>
                  <a:rPr lang="en-GB"/>
                  <a:t> chosen or not</a:t>
                </a:r>
              </a:p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GB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i="1">
                            <a:latin typeface="Cambria Math" panose="02040503050406030204" pitchFamily="18" charset="0"/>
                          </a:rPr>
                          <m:t>𝑐</m:t>
                        </m:r>
                      </m:e>
                      <m:sub>
                        <m:r>
                          <a:rPr lang="en-GB" i="1">
                            <a:latin typeface="Cambria Math" panose="02040503050406030204" pitchFamily="18" charset="0"/>
                          </a:rPr>
                          <m:t>𝑡</m:t>
                        </m:r>
                      </m:sub>
                    </m:sSub>
                  </m:oMath>
                </a14:m>
                <a:r>
                  <a:rPr lang="en-GB"/>
                  <a:t> - cost of running </a:t>
                </a:r>
                <a:r>
                  <a:rPr lang="en-GB" err="1"/>
                  <a:t>fire station</a:t>
                </a:r>
                <a:r>
                  <a:rPr lang="en-GB"/>
                  <a:t> </a:t>
                </a:r>
                <a14:m>
                  <m:oMath xmlns:m="http://schemas.openxmlformats.org/officeDocument/2006/math">
                    <m:r>
                      <a:rPr lang="en-GB" i="1">
                        <a:latin typeface="Cambria Math" panose="02040503050406030204" pitchFamily="18" charset="0"/>
                      </a:rPr>
                      <m:t>𝑡</m:t>
                    </m:r>
                  </m:oMath>
                </a14:m>
                <a:endParaRPr lang="en-GB"/>
              </a:p>
              <a:p>
                <a14:m>
                  <m:oMath xmlns:m="http://schemas.openxmlformats.org/officeDocument/2006/math">
                    <m:r>
                      <a:rPr lang="en-GB" i="1">
                        <a:latin typeface="Cambria Math" panose="02040503050406030204" pitchFamily="18" charset="0"/>
                      </a:rPr>
                      <m:t>𝑈</m:t>
                    </m:r>
                    <m:r>
                      <a:rPr lang="en-GB" i="1">
                        <a:latin typeface="Cambria Math" panose="02040503050406030204" pitchFamily="18" charset="0"/>
                      </a:rPr>
                      <m:t>=</m:t>
                    </m:r>
                  </m:oMath>
                </a14:m>
                <a:r>
                  <a:rPr lang="en-GB"/>
                  <a:t> Set of all cities contained in S</a:t>
                </a:r>
              </a:p>
              <a:p>
                <a:endParaRPr lang="en-GB" i="1">
                  <a:solidFill>
                    <a:srgbClr val="FF0000"/>
                  </a:solidFill>
                  <a:latin typeface="Cambria Math" panose="02040503050406030204" pitchFamily="18" charset="0"/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i="1">
                          <a:latin typeface="Cambria Math" panose="02040503050406030204" pitchFamily="18" charset="0"/>
                        </a:rPr>
                        <m:t>𝑆</m:t>
                      </m:r>
                      <m:r>
                        <a:rPr lang="en-GB" i="1">
                          <a:latin typeface="Cambria Math" panose="02040503050406030204" pitchFamily="18" charset="0"/>
                        </a:rPr>
                        <m:t>={</m:t>
                      </m:r>
                      <m:r>
                        <a:rPr lang="en-GB" i="1">
                          <a:latin typeface="Cambria Math" panose="02040503050406030204" pitchFamily="18" charset="0"/>
                        </a:rPr>
                        <m:t>𝑎</m:t>
                      </m:r>
                      <m:r>
                        <a:rPr lang="en-GB" i="1">
                          <a:latin typeface="Cambria Math" panose="02040503050406030204" pitchFamily="18" charset="0"/>
                        </a:rPr>
                        <m:t>,</m:t>
                      </m:r>
                      <m:r>
                        <a:rPr lang="en-GB" i="1">
                          <a:latin typeface="Cambria Math" panose="02040503050406030204" pitchFamily="18" charset="0"/>
                        </a:rPr>
                        <m:t>𝑏</m:t>
                      </m:r>
                      <m:r>
                        <a:rPr lang="en-GB" i="1">
                          <a:latin typeface="Cambria Math" panose="02040503050406030204" pitchFamily="18" charset="0"/>
                        </a:rPr>
                        <m:t>,</m:t>
                      </m:r>
                      <m:r>
                        <a:rPr lang="en-GB" i="1">
                          <a:latin typeface="Cambria Math" panose="02040503050406030204" pitchFamily="18" charset="0"/>
                        </a:rPr>
                        <m:t>𝑐</m:t>
                      </m:r>
                      <m:r>
                        <a:rPr lang="en-GB" i="1">
                          <a:latin typeface="Cambria Math" panose="02040503050406030204" pitchFamily="18" charset="0"/>
                        </a:rPr>
                        <m:t>,</m:t>
                      </m:r>
                      <m:r>
                        <a:rPr lang="en-GB" i="1">
                          <a:latin typeface="Cambria Math" panose="02040503050406030204" pitchFamily="18" charset="0"/>
                        </a:rPr>
                        <m:t>𝑑</m:t>
                      </m:r>
                      <m:r>
                        <a:rPr lang="en-GB" i="1">
                          <a:latin typeface="Cambria Math" panose="02040503050406030204" pitchFamily="18" charset="0"/>
                        </a:rPr>
                        <m:t>}</m:t>
                      </m:r>
                    </m:oMath>
                  </m:oMathPara>
                </a14:m>
                <a:endParaRPr lang="en-GB" i="1">
                  <a:solidFill>
                    <a:srgbClr val="FF0000"/>
                  </a:solidFill>
                  <a:latin typeface="Cambria Math" panose="02040503050406030204" pitchFamily="18" charset="0"/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i="1">
                          <a:latin typeface="Cambria Math" panose="02040503050406030204" pitchFamily="18" charset="0"/>
                        </a:rPr>
                        <m:t>𝑈</m:t>
                      </m:r>
                      <m:r>
                        <a:rPr lang="en-GB" i="1">
                          <a:latin typeface="Cambria Math" panose="02040503050406030204" pitchFamily="18" charset="0"/>
                        </a:rPr>
                        <m:t>={0,1,2,3,4}</m:t>
                      </m:r>
                    </m:oMath>
                  </m:oMathPara>
                </a14:m>
                <a:endParaRPr lang="en-GB" i="1">
                  <a:latin typeface="Cambria Math" panose="02040503050406030204" pitchFamily="18" charset="0"/>
                </a:endParaRPr>
              </a:p>
              <a:p>
                <a:endParaRPr lang="en-GB" i="1">
                  <a:solidFill>
                    <a:srgbClr val="FF0000"/>
                  </a:solidFill>
                  <a:latin typeface="Cambria Math" panose="02040503050406030204" pitchFamily="18" charset="0"/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GB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𝑠</m:t>
                          </m:r>
                        </m:e>
                        <m:sub>
                          <m:r>
                            <a:rPr lang="en-GB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𝑎</m:t>
                          </m:r>
                        </m:sub>
                      </m:sSub>
                      <m:r>
                        <a:rPr lang="en-GB" i="1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{"/>
                          <m:endChr m:val="}"/>
                          <m:ctrlPr>
                            <a:rPr lang="en-GB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GB" i="1">
                              <a:latin typeface="Cambria Math" panose="02040503050406030204" pitchFamily="18" charset="0"/>
                            </a:rPr>
                            <m:t>0,2</m:t>
                          </m:r>
                        </m:e>
                      </m:d>
                    </m:oMath>
                  </m:oMathPara>
                </a14:m>
                <a:endParaRPr lang="en-GB"/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GB" i="1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i="1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  <m:t>𝑠</m:t>
                          </m:r>
                        </m:e>
                        <m:sub>
                          <m:r>
                            <a:rPr lang="en-GB" i="1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  <m:t>𝑏</m:t>
                          </m:r>
                        </m:sub>
                      </m:sSub>
                      <m:r>
                        <a:rPr lang="en-GB" i="1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{"/>
                          <m:endChr m:val="}"/>
                          <m:ctrlPr>
                            <a:rPr lang="en-GB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GB" i="1">
                              <a:latin typeface="Cambria Math" panose="02040503050406030204" pitchFamily="18" charset="0"/>
                            </a:rPr>
                            <m:t>1,2,3</m:t>
                          </m:r>
                        </m:e>
                      </m:d>
                    </m:oMath>
                  </m:oMathPara>
                </a14:m>
                <a:endParaRPr lang="en-GB"/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GB" i="1">
                              <a:solidFill>
                                <a:schemeClr val="accent4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i="1">
                              <a:solidFill>
                                <a:schemeClr val="accent4"/>
                              </a:solidFill>
                              <a:latin typeface="Cambria Math" panose="02040503050406030204" pitchFamily="18" charset="0"/>
                            </a:rPr>
                            <m:t>𝑠</m:t>
                          </m:r>
                        </m:e>
                        <m:sub>
                          <m:r>
                            <a:rPr lang="en-GB" i="1">
                              <a:solidFill>
                                <a:schemeClr val="accent4"/>
                              </a:solidFill>
                              <a:latin typeface="Cambria Math" panose="02040503050406030204" pitchFamily="18" charset="0"/>
                            </a:rPr>
                            <m:t>𝑐</m:t>
                          </m:r>
                        </m:sub>
                      </m:sSub>
                      <m:r>
                        <a:rPr lang="en-GB" i="1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{"/>
                          <m:endChr m:val="}"/>
                          <m:ctrlPr>
                            <a:rPr lang="en-GB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GB">
                              <a:latin typeface="Cambria Math" panose="02040503050406030204" pitchFamily="18" charset="0"/>
                            </a:rPr>
                            <m:t>1,4</m:t>
                          </m:r>
                        </m:e>
                      </m:d>
                    </m:oMath>
                  </m:oMathPara>
                </a14:m>
                <a:endParaRPr lang="en-GB"/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GB" i="1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i="1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</a:rPr>
                            <m:t>𝑠</m:t>
                          </m:r>
                        </m:e>
                        <m:sub>
                          <m:r>
                            <a:rPr lang="en-GB" i="1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</a:rPr>
                            <m:t>𝑑</m:t>
                          </m:r>
                        </m:sub>
                      </m:sSub>
                      <m:r>
                        <a:rPr lang="en-GB" i="1">
                          <a:latin typeface="Cambria Math" panose="02040503050406030204" pitchFamily="18" charset="0"/>
                        </a:rPr>
                        <m:t>={4}</m:t>
                      </m:r>
                    </m:oMath>
                  </m:oMathPara>
                </a14:m>
                <a:endParaRPr lang="en-GB"/>
              </a:p>
              <a:p>
                <a:endParaRPr lang="en-GB"/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GB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i="1">
                              <a:latin typeface="Cambria Math" panose="02040503050406030204" pitchFamily="18" charset="0"/>
                            </a:rPr>
                            <m:t>𝑐</m:t>
                          </m:r>
                        </m:e>
                        <m:sub>
                          <m:r>
                            <a:rPr lang="en-GB" i="1">
                              <a:latin typeface="Cambria Math" panose="02040503050406030204" pitchFamily="18" charset="0"/>
                            </a:rPr>
                            <m:t>𝑎</m:t>
                          </m:r>
                        </m:sub>
                      </m:sSub>
                      <m:r>
                        <a:rPr lang="en-GB" i="1">
                          <a:latin typeface="Cambria Math" panose="02040503050406030204" pitchFamily="18" charset="0"/>
                        </a:rPr>
                        <m:t>=12</m:t>
                      </m:r>
                    </m:oMath>
                  </m:oMathPara>
                </a14:m>
                <a:endParaRPr lang="en-GB"/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GB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i="1">
                              <a:latin typeface="Cambria Math" panose="02040503050406030204" pitchFamily="18" charset="0"/>
                            </a:rPr>
                            <m:t>𝑐</m:t>
                          </m:r>
                        </m:e>
                        <m:sub>
                          <m:r>
                            <a:rPr lang="en-GB" i="1">
                              <a:latin typeface="Cambria Math" panose="02040503050406030204" pitchFamily="18" charset="0"/>
                            </a:rPr>
                            <m:t>𝑏</m:t>
                          </m:r>
                        </m:sub>
                      </m:sSub>
                      <m:r>
                        <a:rPr lang="en-GB" i="1">
                          <a:latin typeface="Cambria Math" panose="02040503050406030204" pitchFamily="18" charset="0"/>
                        </a:rPr>
                        <m:t>=7</m:t>
                      </m:r>
                    </m:oMath>
                  </m:oMathPara>
                </a14:m>
                <a:endParaRPr lang="en-GB"/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GB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i="1">
                              <a:latin typeface="Cambria Math" panose="02040503050406030204" pitchFamily="18" charset="0"/>
                            </a:rPr>
                            <m:t>𝑐</m:t>
                          </m:r>
                        </m:e>
                        <m:sub>
                          <m:r>
                            <a:rPr lang="en-GB" i="1">
                              <a:latin typeface="Cambria Math" panose="02040503050406030204" pitchFamily="18" charset="0"/>
                            </a:rPr>
                            <m:t>𝑐</m:t>
                          </m:r>
                        </m:sub>
                      </m:sSub>
                      <m:r>
                        <a:rPr lang="en-GB" i="1">
                          <a:latin typeface="Cambria Math" panose="02040503050406030204" pitchFamily="18" charset="0"/>
                        </a:rPr>
                        <m:t>=10</m:t>
                      </m:r>
                    </m:oMath>
                  </m:oMathPara>
                </a14:m>
                <a:endParaRPr lang="en-GB"/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GB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i="1">
                              <a:latin typeface="Cambria Math" panose="02040503050406030204" pitchFamily="18" charset="0"/>
                            </a:rPr>
                            <m:t>𝑐</m:t>
                          </m:r>
                        </m:e>
                        <m:sub>
                          <m:r>
                            <a:rPr lang="en-GB" i="1">
                              <a:latin typeface="Cambria Math" panose="02040503050406030204" pitchFamily="18" charset="0"/>
                            </a:rPr>
                            <m:t>𝑑</m:t>
                          </m:r>
                        </m:sub>
                      </m:sSub>
                      <m:r>
                        <a:rPr lang="en-GB" i="1">
                          <a:latin typeface="Cambria Math" panose="02040503050406030204" pitchFamily="18" charset="0"/>
                        </a:rPr>
                        <m:t>=5</m:t>
                      </m:r>
                    </m:oMath>
                  </m:oMathPara>
                </a14:m>
                <a:endParaRPr lang="en-GB"/>
              </a:p>
            </p:txBody>
          </p:sp>
        </mc:Choice>
        <mc:Fallback xmlns="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6A28C7C5-377C-4768-84F0-9C0F1340C81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203143" y="1488639"/>
                <a:ext cx="4165756" cy="5078313"/>
              </a:xfrm>
              <a:prstGeom prst="rect">
                <a:avLst/>
              </a:prstGeom>
              <a:blipFill>
                <a:blip r:embed="rId2"/>
                <a:stretch>
                  <a:fillRect t="-840" r="-43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3" name="Picture 2">
            <a:extLst>
              <a:ext uri="{FF2B5EF4-FFF2-40B4-BE49-F238E27FC236}">
                <a16:creationId xmlns:a16="http://schemas.microsoft.com/office/drawing/2014/main" id="{53D0B531-E56F-4F1E-917C-789C8C3D0E7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94765" y="1488639"/>
            <a:ext cx="5200650" cy="48387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0174586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3E593E6-3D2F-4C7E-80B2-F78D636A9E0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706293"/>
          </a:xfrm>
        </p:spPr>
        <p:txBody>
          <a:bodyPr/>
          <a:lstStyle/>
          <a:p>
            <a:r>
              <a:rPr lang="en-GB"/>
              <a:t>Edge Covering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198A88B-52B3-469E-A512-B72752EB786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450109"/>
            <a:ext cx="10515600" cy="4726854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GB"/>
              <a:t>Find a set of edges that cover the vertices…</a:t>
            </a:r>
          </a:p>
          <a:p>
            <a:pPr marL="0" indent="0">
              <a:buNone/>
            </a:pPr>
            <a:r>
              <a:rPr lang="en-GB"/>
              <a:t>e.g.</a:t>
            </a:r>
          </a:p>
        </p:txBody>
      </p:sp>
      <p:pic>
        <p:nvPicPr>
          <p:cNvPr id="3074" name="Picture 2">
            <a:extLst>
              <a:ext uri="{FF2B5EF4-FFF2-40B4-BE49-F238E27FC236}">
                <a16:creationId xmlns:a16="http://schemas.microsoft.com/office/drawing/2014/main" id="{F12E45F2-4AC9-4F33-965E-4AE3E6D1809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2519363"/>
            <a:ext cx="12192000" cy="36576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77574499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3E593E6-3D2F-4C7E-80B2-F78D636A9E0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706293"/>
          </a:xfrm>
        </p:spPr>
        <p:txBody>
          <a:bodyPr/>
          <a:lstStyle/>
          <a:p>
            <a:r>
              <a:rPr lang="en-GB"/>
              <a:t>Minimum Edge Covering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198A88B-52B3-469E-A512-B72752EB786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450109"/>
            <a:ext cx="10515600" cy="4726854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GB"/>
              <a:t>Find the minimum number of edges that cover the vertices…</a:t>
            </a:r>
          </a:p>
          <a:p>
            <a:pPr marL="0" indent="0">
              <a:buNone/>
            </a:pPr>
            <a:r>
              <a:rPr lang="en-GB"/>
              <a:t>e.g.</a:t>
            </a:r>
          </a:p>
        </p:txBody>
      </p:sp>
      <p:pic>
        <p:nvPicPr>
          <p:cNvPr id="4098" name="Picture 2">
            <a:extLst>
              <a:ext uri="{FF2B5EF4-FFF2-40B4-BE49-F238E27FC236}">
                <a16:creationId xmlns:a16="http://schemas.microsoft.com/office/drawing/2014/main" id="{981273C7-01AE-4FF0-B5C8-501C64858E9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2349230"/>
            <a:ext cx="12192000" cy="36576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61879847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420B4EFC-5B2E-46AC-92BE-FA8317FB5FEB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GB"/>
              <a:t>Minimum Vertex Cover</a:t>
            </a:r>
          </a:p>
        </p:txBody>
      </p:sp>
      <p:sp>
        <p:nvSpPr>
          <p:cNvPr id="5" name="Subtitle 4">
            <a:extLst>
              <a:ext uri="{FF2B5EF4-FFF2-40B4-BE49-F238E27FC236}">
                <a16:creationId xmlns:a16="http://schemas.microsoft.com/office/drawing/2014/main" id="{3A3C1D9E-087F-4F10-82A7-128B5EF1E31E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23040610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3E593E6-3D2F-4C7E-80B2-F78D636A9E0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706293"/>
          </a:xfrm>
        </p:spPr>
        <p:txBody>
          <a:bodyPr/>
          <a:lstStyle/>
          <a:p>
            <a:r>
              <a:rPr lang="en-GB"/>
              <a:t>Vertex Cover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198A88B-52B3-469E-A512-B72752EB786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450109"/>
            <a:ext cx="10515600" cy="4726854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GB"/>
              <a:t>A set of vertices that includes at least one endpoint of every edge</a:t>
            </a:r>
          </a:p>
        </p:txBody>
      </p:sp>
      <p:pic>
        <p:nvPicPr>
          <p:cNvPr id="2050" name="Picture 2">
            <a:extLst>
              <a:ext uri="{FF2B5EF4-FFF2-40B4-BE49-F238E27FC236}">
                <a16:creationId xmlns:a16="http://schemas.microsoft.com/office/drawing/2014/main" id="{B7CF60DD-B3A2-4607-A6BF-0BA8A4AF7BA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048250" y="1928813"/>
            <a:ext cx="2095500" cy="30003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055509658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3E593E6-3D2F-4C7E-80B2-F78D636A9E0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706293"/>
          </a:xfrm>
        </p:spPr>
        <p:txBody>
          <a:bodyPr/>
          <a:lstStyle/>
          <a:p>
            <a:r>
              <a:rPr lang="en-GB"/>
              <a:t>Minimum Vertex Cover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98A34191-954C-4F73-8B52-A5EA854B206A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947737" y="1550266"/>
            <a:ext cx="10296525" cy="2724150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0B99784B-23BA-449D-8E8B-1DAF95370EE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85849" y="4274416"/>
            <a:ext cx="5010150" cy="22669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36535967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3E593E6-3D2F-4C7E-80B2-F78D636A9E0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706293"/>
          </a:xfrm>
        </p:spPr>
        <p:txBody>
          <a:bodyPr/>
          <a:lstStyle/>
          <a:p>
            <a:r>
              <a:rPr lang="en-GB"/>
              <a:t>Example – Installing Security Cameras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33C54DF7-AA9D-4033-8D28-DA8EE3F1831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/>
              <a:t>You wish to install security cameras in a school to cover every corridor.</a:t>
            </a:r>
          </a:p>
          <a:p>
            <a:r>
              <a:rPr lang="en-GB"/>
              <a:t>Obviously you would like to install as few as needed</a:t>
            </a:r>
          </a:p>
          <a:p>
            <a:endParaRPr lang="en-GB"/>
          </a:p>
          <a:p>
            <a:r>
              <a:rPr lang="en-GB"/>
              <a:t>The following example is adapted from </a:t>
            </a:r>
            <a:r>
              <a:rPr lang="en-GB">
                <a:hlinkClick r:id="rId2"/>
              </a:rPr>
              <a:t>https://brilliant.org/wiki/vertex-cover/</a:t>
            </a:r>
            <a:endParaRPr lang="en-GB"/>
          </a:p>
          <a:p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066949110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3E593E6-3D2F-4C7E-80B2-F78D636A9E0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706293"/>
          </a:xfrm>
        </p:spPr>
        <p:txBody>
          <a:bodyPr/>
          <a:lstStyle/>
          <a:p>
            <a:r>
              <a:rPr lang="en-GB"/>
              <a:t>Example – Installing Security Cameras</a:t>
            </a:r>
          </a:p>
        </p:txBody>
      </p:sp>
      <p:sp>
        <p:nvSpPr>
          <p:cNvPr id="5" name="Oval 4">
            <a:extLst>
              <a:ext uri="{FF2B5EF4-FFF2-40B4-BE49-F238E27FC236}">
                <a16:creationId xmlns:a16="http://schemas.microsoft.com/office/drawing/2014/main" id="{3EDD6D35-A891-497D-ADAA-087B012924A0}"/>
              </a:ext>
            </a:extLst>
          </p:cNvPr>
          <p:cNvSpPr/>
          <p:nvPr/>
        </p:nvSpPr>
        <p:spPr>
          <a:xfrm>
            <a:off x="364501" y="2055043"/>
            <a:ext cx="292231" cy="292231"/>
          </a:xfrm>
          <a:prstGeom prst="ellipse">
            <a:avLst/>
          </a:prstGeom>
          <a:solidFill>
            <a:schemeClr val="tx1"/>
          </a:solidFill>
          <a:ln w="28575">
            <a:solidFill>
              <a:schemeClr val="tx1"/>
            </a:solidFill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/>
              <a:t>1</a:t>
            </a:r>
          </a:p>
        </p:txBody>
      </p:sp>
      <p:sp>
        <p:nvSpPr>
          <p:cNvPr id="8" name="Oval 7">
            <a:extLst>
              <a:ext uri="{FF2B5EF4-FFF2-40B4-BE49-F238E27FC236}">
                <a16:creationId xmlns:a16="http://schemas.microsoft.com/office/drawing/2014/main" id="{E8FDEAE6-6031-4691-97AA-E95D91396465}"/>
              </a:ext>
            </a:extLst>
          </p:cNvPr>
          <p:cNvSpPr/>
          <p:nvPr/>
        </p:nvSpPr>
        <p:spPr>
          <a:xfrm>
            <a:off x="1572703" y="1545996"/>
            <a:ext cx="292231" cy="292231"/>
          </a:xfrm>
          <a:prstGeom prst="ellipse">
            <a:avLst/>
          </a:prstGeom>
          <a:solidFill>
            <a:schemeClr val="tx1"/>
          </a:solidFill>
          <a:ln w="28575">
            <a:solidFill>
              <a:schemeClr val="tx1"/>
            </a:solidFill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/>
              <a:t>2</a:t>
            </a:r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C8A7F20C-C8AC-48C2-A839-39307431BF45}"/>
              </a:ext>
            </a:extLst>
          </p:cNvPr>
          <p:cNvSpPr/>
          <p:nvPr/>
        </p:nvSpPr>
        <p:spPr>
          <a:xfrm>
            <a:off x="2243578" y="2479249"/>
            <a:ext cx="292231" cy="292231"/>
          </a:xfrm>
          <a:prstGeom prst="ellipse">
            <a:avLst/>
          </a:prstGeom>
          <a:solidFill>
            <a:schemeClr val="tx1"/>
          </a:solidFill>
          <a:ln w="28575">
            <a:solidFill>
              <a:schemeClr val="tx1"/>
            </a:solidFill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/>
              <a:t>3</a:t>
            </a:r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DFA4EC75-A020-4D57-B8A2-5AB3F128157E}"/>
              </a:ext>
            </a:extLst>
          </p:cNvPr>
          <p:cNvSpPr/>
          <p:nvPr/>
        </p:nvSpPr>
        <p:spPr>
          <a:xfrm>
            <a:off x="4403887" y="1216057"/>
            <a:ext cx="292231" cy="292231"/>
          </a:xfrm>
          <a:prstGeom prst="ellipse">
            <a:avLst/>
          </a:prstGeom>
          <a:solidFill>
            <a:schemeClr val="tx1"/>
          </a:solidFill>
          <a:ln w="28575">
            <a:solidFill>
              <a:schemeClr val="tx1"/>
            </a:solidFill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/>
              <a:t>4</a:t>
            </a:r>
          </a:p>
        </p:txBody>
      </p:sp>
      <p:sp>
        <p:nvSpPr>
          <p:cNvPr id="14" name="Oval 13">
            <a:extLst>
              <a:ext uri="{FF2B5EF4-FFF2-40B4-BE49-F238E27FC236}">
                <a16:creationId xmlns:a16="http://schemas.microsoft.com/office/drawing/2014/main" id="{BB3AEE98-675D-49AF-8568-BEE825D8904D}"/>
              </a:ext>
            </a:extLst>
          </p:cNvPr>
          <p:cNvSpPr/>
          <p:nvPr/>
        </p:nvSpPr>
        <p:spPr>
          <a:xfrm>
            <a:off x="5803769" y="2479248"/>
            <a:ext cx="292231" cy="292231"/>
          </a:xfrm>
          <a:prstGeom prst="ellipse">
            <a:avLst/>
          </a:prstGeom>
          <a:solidFill>
            <a:schemeClr val="tx1"/>
          </a:solidFill>
          <a:ln w="28575">
            <a:solidFill>
              <a:schemeClr val="tx1"/>
            </a:solidFill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/>
              <a:t>6</a:t>
            </a:r>
          </a:p>
        </p:txBody>
      </p:sp>
      <p:sp>
        <p:nvSpPr>
          <p:cNvPr id="16" name="Oval 15">
            <a:extLst>
              <a:ext uri="{FF2B5EF4-FFF2-40B4-BE49-F238E27FC236}">
                <a16:creationId xmlns:a16="http://schemas.microsoft.com/office/drawing/2014/main" id="{DD237859-E230-44C9-B19F-9B8B25FB9223}"/>
              </a:ext>
            </a:extLst>
          </p:cNvPr>
          <p:cNvSpPr/>
          <p:nvPr/>
        </p:nvSpPr>
        <p:spPr>
          <a:xfrm>
            <a:off x="4403886" y="2995367"/>
            <a:ext cx="292231" cy="292231"/>
          </a:xfrm>
          <a:prstGeom prst="ellipse">
            <a:avLst/>
          </a:prstGeom>
          <a:solidFill>
            <a:schemeClr val="tx1"/>
          </a:solidFill>
          <a:ln w="28575">
            <a:solidFill>
              <a:schemeClr val="tx1"/>
            </a:solidFill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/>
              <a:t>5</a:t>
            </a:r>
          </a:p>
        </p:txBody>
      </p:sp>
      <p:sp>
        <p:nvSpPr>
          <p:cNvPr id="18" name="Oval 17">
            <a:extLst>
              <a:ext uri="{FF2B5EF4-FFF2-40B4-BE49-F238E27FC236}">
                <a16:creationId xmlns:a16="http://schemas.microsoft.com/office/drawing/2014/main" id="{5AE35ACB-F103-4D07-AED7-CC107A70D12B}"/>
              </a:ext>
            </a:extLst>
          </p:cNvPr>
          <p:cNvSpPr/>
          <p:nvPr/>
        </p:nvSpPr>
        <p:spPr>
          <a:xfrm>
            <a:off x="5657653" y="3678023"/>
            <a:ext cx="292231" cy="292231"/>
          </a:xfrm>
          <a:prstGeom prst="ellipse">
            <a:avLst/>
          </a:prstGeom>
          <a:solidFill>
            <a:schemeClr val="tx1"/>
          </a:solidFill>
          <a:ln w="28575">
            <a:solidFill>
              <a:schemeClr val="tx1"/>
            </a:solidFill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/>
              <a:t>7</a:t>
            </a:r>
          </a:p>
        </p:txBody>
      </p:sp>
      <p:sp>
        <p:nvSpPr>
          <p:cNvPr id="20" name="Oval 19">
            <a:extLst>
              <a:ext uri="{FF2B5EF4-FFF2-40B4-BE49-F238E27FC236}">
                <a16:creationId xmlns:a16="http://schemas.microsoft.com/office/drawing/2014/main" id="{55313B35-39E4-41E9-BF03-FA4B806EF7DE}"/>
              </a:ext>
            </a:extLst>
          </p:cNvPr>
          <p:cNvSpPr/>
          <p:nvPr/>
        </p:nvSpPr>
        <p:spPr>
          <a:xfrm>
            <a:off x="3123411" y="3970254"/>
            <a:ext cx="292231" cy="292231"/>
          </a:xfrm>
          <a:prstGeom prst="ellipse">
            <a:avLst/>
          </a:prstGeom>
          <a:solidFill>
            <a:schemeClr val="tx1"/>
          </a:solidFill>
          <a:ln w="28575">
            <a:solidFill>
              <a:schemeClr val="tx1"/>
            </a:solidFill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/>
              <a:t>8</a:t>
            </a:r>
          </a:p>
        </p:txBody>
      </p:sp>
      <p:cxnSp>
        <p:nvCxnSpPr>
          <p:cNvPr id="22" name="Straight Connector 21">
            <a:extLst>
              <a:ext uri="{FF2B5EF4-FFF2-40B4-BE49-F238E27FC236}">
                <a16:creationId xmlns:a16="http://schemas.microsoft.com/office/drawing/2014/main" id="{83F7B298-DDDE-44ED-BA46-65D95A842DBB}"/>
              </a:ext>
            </a:extLst>
          </p:cNvPr>
          <p:cNvCxnSpPr>
            <a:cxnSpLocks/>
            <a:stCxn id="5" idx="7"/>
            <a:endCxn id="8" idx="2"/>
          </p:cNvCxnSpPr>
          <p:nvPr/>
        </p:nvCxnSpPr>
        <p:spPr>
          <a:xfrm flipV="1">
            <a:off x="613936" y="1692112"/>
            <a:ext cx="958767" cy="405727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Straight Connector 24">
            <a:extLst>
              <a:ext uri="{FF2B5EF4-FFF2-40B4-BE49-F238E27FC236}">
                <a16:creationId xmlns:a16="http://schemas.microsoft.com/office/drawing/2014/main" id="{77A54EF5-560A-4C82-A795-BBB90DEE2B16}"/>
              </a:ext>
            </a:extLst>
          </p:cNvPr>
          <p:cNvCxnSpPr>
            <a:cxnSpLocks/>
            <a:stCxn id="8" idx="6"/>
            <a:endCxn id="16" idx="2"/>
          </p:cNvCxnSpPr>
          <p:nvPr/>
        </p:nvCxnSpPr>
        <p:spPr>
          <a:xfrm>
            <a:off x="1864934" y="1692112"/>
            <a:ext cx="2538952" cy="1449371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Straight Connector 26">
            <a:extLst>
              <a:ext uri="{FF2B5EF4-FFF2-40B4-BE49-F238E27FC236}">
                <a16:creationId xmlns:a16="http://schemas.microsoft.com/office/drawing/2014/main" id="{915B5EA7-83FE-4809-A592-3D2D0FF6C266}"/>
              </a:ext>
            </a:extLst>
          </p:cNvPr>
          <p:cNvCxnSpPr>
            <a:cxnSpLocks/>
            <a:stCxn id="8" idx="5"/>
            <a:endCxn id="10" idx="1"/>
          </p:cNvCxnSpPr>
          <p:nvPr/>
        </p:nvCxnSpPr>
        <p:spPr>
          <a:xfrm>
            <a:off x="1822138" y="1795431"/>
            <a:ext cx="464236" cy="726614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" name="Straight Connector 29">
            <a:extLst>
              <a:ext uri="{FF2B5EF4-FFF2-40B4-BE49-F238E27FC236}">
                <a16:creationId xmlns:a16="http://schemas.microsoft.com/office/drawing/2014/main" id="{3173067B-1777-4183-95F9-A12F5ED9CF32}"/>
              </a:ext>
            </a:extLst>
          </p:cNvPr>
          <p:cNvCxnSpPr>
            <a:cxnSpLocks/>
            <a:stCxn id="10" idx="7"/>
            <a:endCxn id="12" idx="3"/>
          </p:cNvCxnSpPr>
          <p:nvPr/>
        </p:nvCxnSpPr>
        <p:spPr>
          <a:xfrm flipV="1">
            <a:off x="2493013" y="1465492"/>
            <a:ext cx="1953670" cy="1056553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" name="Straight Connector 33">
            <a:extLst>
              <a:ext uri="{FF2B5EF4-FFF2-40B4-BE49-F238E27FC236}">
                <a16:creationId xmlns:a16="http://schemas.microsoft.com/office/drawing/2014/main" id="{2EB025D5-215F-44EB-941A-BB43291711DC}"/>
              </a:ext>
            </a:extLst>
          </p:cNvPr>
          <p:cNvCxnSpPr>
            <a:stCxn id="16" idx="0"/>
            <a:endCxn id="12" idx="4"/>
          </p:cNvCxnSpPr>
          <p:nvPr/>
        </p:nvCxnSpPr>
        <p:spPr>
          <a:xfrm flipV="1">
            <a:off x="4550002" y="1508288"/>
            <a:ext cx="1" cy="1487079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" name="Straight Connector 35">
            <a:extLst>
              <a:ext uri="{FF2B5EF4-FFF2-40B4-BE49-F238E27FC236}">
                <a16:creationId xmlns:a16="http://schemas.microsoft.com/office/drawing/2014/main" id="{FC64D2CA-3D52-44B5-9AE2-3FB2552CC3F3}"/>
              </a:ext>
            </a:extLst>
          </p:cNvPr>
          <p:cNvCxnSpPr>
            <a:stCxn id="16" idx="7"/>
            <a:endCxn id="14" idx="2"/>
          </p:cNvCxnSpPr>
          <p:nvPr/>
        </p:nvCxnSpPr>
        <p:spPr>
          <a:xfrm flipV="1">
            <a:off x="4653321" y="2625364"/>
            <a:ext cx="1150448" cy="412799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" name="Straight Connector 37">
            <a:extLst>
              <a:ext uri="{FF2B5EF4-FFF2-40B4-BE49-F238E27FC236}">
                <a16:creationId xmlns:a16="http://schemas.microsoft.com/office/drawing/2014/main" id="{ADB3F3C3-3FC5-4E80-A938-6BA41BC682F9}"/>
              </a:ext>
            </a:extLst>
          </p:cNvPr>
          <p:cNvCxnSpPr>
            <a:stCxn id="14" idx="4"/>
            <a:endCxn id="18" idx="0"/>
          </p:cNvCxnSpPr>
          <p:nvPr/>
        </p:nvCxnSpPr>
        <p:spPr>
          <a:xfrm flipH="1">
            <a:off x="5803769" y="2771479"/>
            <a:ext cx="146116" cy="906544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0" name="Straight Connector 39">
            <a:extLst>
              <a:ext uri="{FF2B5EF4-FFF2-40B4-BE49-F238E27FC236}">
                <a16:creationId xmlns:a16="http://schemas.microsoft.com/office/drawing/2014/main" id="{4F240A41-A840-4A65-961F-5E7652557F73}"/>
              </a:ext>
            </a:extLst>
          </p:cNvPr>
          <p:cNvCxnSpPr>
            <a:stCxn id="18" idx="2"/>
            <a:endCxn id="20" idx="6"/>
          </p:cNvCxnSpPr>
          <p:nvPr/>
        </p:nvCxnSpPr>
        <p:spPr>
          <a:xfrm flipH="1">
            <a:off x="3415642" y="3824139"/>
            <a:ext cx="2242011" cy="292231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2" name="Straight Connector 41">
            <a:extLst>
              <a:ext uri="{FF2B5EF4-FFF2-40B4-BE49-F238E27FC236}">
                <a16:creationId xmlns:a16="http://schemas.microsoft.com/office/drawing/2014/main" id="{4A76D68E-0F11-4738-B7F8-CE9D7D686759}"/>
              </a:ext>
            </a:extLst>
          </p:cNvPr>
          <p:cNvCxnSpPr>
            <a:stCxn id="16" idx="3"/>
            <a:endCxn id="20" idx="7"/>
          </p:cNvCxnSpPr>
          <p:nvPr/>
        </p:nvCxnSpPr>
        <p:spPr>
          <a:xfrm flipH="1">
            <a:off x="3372846" y="3244802"/>
            <a:ext cx="1073836" cy="768248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4" name="Straight Connector 43">
            <a:extLst>
              <a:ext uri="{FF2B5EF4-FFF2-40B4-BE49-F238E27FC236}">
                <a16:creationId xmlns:a16="http://schemas.microsoft.com/office/drawing/2014/main" id="{D794DE45-B226-4516-A141-C0385F857621}"/>
              </a:ext>
            </a:extLst>
          </p:cNvPr>
          <p:cNvCxnSpPr>
            <a:stCxn id="20" idx="1"/>
            <a:endCxn id="5" idx="5"/>
          </p:cNvCxnSpPr>
          <p:nvPr/>
        </p:nvCxnSpPr>
        <p:spPr>
          <a:xfrm flipH="1" flipV="1">
            <a:off x="613936" y="2304478"/>
            <a:ext cx="2552271" cy="1708572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46" name="Picture 45">
            <a:extLst>
              <a:ext uri="{FF2B5EF4-FFF2-40B4-BE49-F238E27FC236}">
                <a16:creationId xmlns:a16="http://schemas.microsoft.com/office/drawing/2014/main" id="{AD55EE5A-F125-4654-95F2-20327BC0448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3936" y="4433521"/>
            <a:ext cx="5010150" cy="2266950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48" name="TextBox 47">
                <a:extLst>
                  <a:ext uri="{FF2B5EF4-FFF2-40B4-BE49-F238E27FC236}">
                    <a16:creationId xmlns:a16="http://schemas.microsoft.com/office/drawing/2014/main" id="{7440285E-646E-4CF4-AFE1-807599AA105C}"/>
                  </a:ext>
                </a:extLst>
              </p:cNvPr>
              <p:cNvSpPr txBox="1"/>
              <p:nvPr/>
            </p:nvSpPr>
            <p:spPr>
              <a:xfrm>
                <a:off x="6446986" y="1648945"/>
                <a:ext cx="6094428" cy="4919616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marL="0" indent="0">
                  <a:buNone/>
                </a:pPr>
                <a:r>
                  <a:rPr lang="en-GB" sz="1800"/>
                  <a:t>minimise 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nary>
                        <m:naryPr>
                          <m:chr m:val="∑"/>
                          <m:supHide m:val="on"/>
                          <m:ctrlPr>
                            <a:rPr lang="en-GB" sz="1800" i="1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en-GB" sz="1800" b="0" i="1" smtClean="0">
                              <a:latin typeface="Cambria Math" panose="02040503050406030204" pitchFamily="18" charset="0"/>
                            </a:rPr>
                            <m:t>𝑢</m:t>
                          </m:r>
                          <m:r>
                            <a:rPr lang="en-GB" sz="1800" b="0" i="1" smtClean="0">
                              <a:latin typeface="Cambria Math" panose="02040503050406030204" pitchFamily="18" charset="0"/>
                            </a:rPr>
                            <m:t>∈</m:t>
                          </m:r>
                          <m:r>
                            <a:rPr lang="en-GB" sz="1800" b="0" i="1" smtClean="0">
                              <a:latin typeface="Cambria Math" panose="02040503050406030204" pitchFamily="18" charset="0"/>
                            </a:rPr>
                            <m:t>𝑉</m:t>
                          </m:r>
                        </m:sub>
                        <m:sup/>
                        <m:e>
                          <m:sSub>
                            <m:sSubPr>
                              <m:ctrlPr>
                                <a:rPr lang="en-GB" sz="18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GB" sz="1800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GB" sz="1800" b="0" i="1" smtClean="0">
                                  <a:latin typeface="Cambria Math" panose="02040503050406030204" pitchFamily="18" charset="0"/>
                                </a:rPr>
                                <m:t>𝑢</m:t>
                              </m:r>
                            </m:sub>
                          </m:sSub>
                        </m:e>
                      </m:nary>
                      <m:r>
                        <a:rPr lang="en-GB" sz="1800" b="0" i="0" smtClean="0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GB" sz="18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sz="1800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GB" sz="18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GB" sz="1800" b="0" i="1" smtClean="0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GB" sz="18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sz="1800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GB" sz="18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en-GB" sz="1800" b="0" i="1" smtClean="0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GB" sz="18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sz="1800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GB" sz="1800" b="0" i="1" smtClean="0">
                              <a:latin typeface="Cambria Math" panose="02040503050406030204" pitchFamily="18" charset="0"/>
                            </a:rPr>
                            <m:t>3</m:t>
                          </m:r>
                        </m:sub>
                      </m:sSub>
                      <m:r>
                        <a:rPr lang="en-GB" sz="1800" b="0" i="1" smtClean="0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GB" sz="18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sz="1800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GB" sz="1800" b="0" i="1" smtClean="0">
                              <a:latin typeface="Cambria Math" panose="02040503050406030204" pitchFamily="18" charset="0"/>
                            </a:rPr>
                            <m:t>4</m:t>
                          </m:r>
                        </m:sub>
                      </m:sSub>
                      <m:r>
                        <a:rPr lang="en-GB" sz="1800" b="0" i="1" smtClean="0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GB" sz="18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sz="1800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GB" sz="1800" b="0" i="1" smtClean="0">
                              <a:latin typeface="Cambria Math" panose="02040503050406030204" pitchFamily="18" charset="0"/>
                            </a:rPr>
                            <m:t>5</m:t>
                          </m:r>
                        </m:sub>
                      </m:sSub>
                      <m:r>
                        <a:rPr lang="en-GB" sz="1800" b="0" i="1" smtClean="0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GB" sz="18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sz="1800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GB" sz="1800" b="0" i="1" smtClean="0">
                              <a:latin typeface="Cambria Math" panose="02040503050406030204" pitchFamily="18" charset="0"/>
                            </a:rPr>
                            <m:t>6</m:t>
                          </m:r>
                        </m:sub>
                      </m:sSub>
                      <m:r>
                        <a:rPr lang="en-GB" sz="1800" b="0" i="1" smtClean="0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GB" sz="18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sz="1800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GB" sz="1800" b="0" i="1" smtClean="0">
                              <a:latin typeface="Cambria Math" panose="02040503050406030204" pitchFamily="18" charset="0"/>
                            </a:rPr>
                            <m:t>7</m:t>
                          </m:r>
                        </m:sub>
                      </m:sSub>
                      <m:r>
                        <a:rPr lang="en-GB" sz="1800" b="0" i="1" smtClean="0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GB" sz="18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sz="1800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GB" sz="1800" b="0" i="1" smtClean="0">
                              <a:latin typeface="Cambria Math" panose="02040503050406030204" pitchFamily="18" charset="0"/>
                            </a:rPr>
                            <m:t>8</m:t>
                          </m:r>
                        </m:sub>
                      </m:sSub>
                    </m:oMath>
                  </m:oMathPara>
                </a14:m>
                <a:endParaRPr lang="en-GB" sz="1800"/>
              </a:p>
              <a:p>
                <a:pPr marL="0" indent="0">
                  <a:buNone/>
                </a:pPr>
                <a:endParaRPr lang="en-GB" sz="1800"/>
              </a:p>
              <a:p>
                <a:pPr marL="0" indent="0">
                  <a:buNone/>
                </a:pPr>
                <a:r>
                  <a:rPr lang="en-GB" sz="1800"/>
                  <a:t>subject to:</a:t>
                </a: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GB" sz="18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sz="180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GB" sz="18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GB" sz="1800" b="0" i="1" smtClean="0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GB" sz="18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sz="1800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GB" sz="18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en-GB" sz="1800" b="0" i="1" smtClean="0">
                          <a:latin typeface="Cambria Math" panose="02040503050406030204" pitchFamily="18" charset="0"/>
                        </a:rPr>
                        <m:t>≥1</m:t>
                      </m:r>
                    </m:oMath>
                  </m:oMathPara>
                </a14:m>
                <a:endParaRPr lang="en-GB" sz="1800" b="0" i="1">
                  <a:latin typeface="Cambria Math" panose="02040503050406030204" pitchFamily="18" charset="0"/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GB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i="1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GB" i="1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GB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i="1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8</m:t>
                          </m:r>
                        </m:sub>
                      </m:sSub>
                      <m:r>
                        <a:rPr lang="en-GB" i="1">
                          <a:latin typeface="Cambria Math" panose="02040503050406030204" pitchFamily="18" charset="0"/>
                        </a:rPr>
                        <m:t>≥1</m:t>
                      </m:r>
                    </m:oMath>
                    <m:oMath xmlns:m="http://schemas.openxmlformats.org/officeDocument/2006/math">
                      <m:sSub>
                        <m:sSubPr>
                          <m:ctrlPr>
                            <a:rPr lang="en-GB" sz="18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sz="180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GB" sz="18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en-GB" sz="1800" b="0" i="1" smtClean="0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GB" sz="18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sz="1800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GB" sz="1800" b="0" i="1" smtClean="0">
                              <a:latin typeface="Cambria Math" panose="02040503050406030204" pitchFamily="18" charset="0"/>
                            </a:rPr>
                            <m:t>3</m:t>
                          </m:r>
                        </m:sub>
                      </m:sSub>
                      <m:r>
                        <a:rPr lang="en-GB" sz="1800" b="0" i="1" smtClean="0">
                          <a:latin typeface="Cambria Math" panose="02040503050406030204" pitchFamily="18" charset="0"/>
                        </a:rPr>
                        <m:t>≥1</m:t>
                      </m:r>
                    </m:oMath>
                  </m:oMathPara>
                </a14:m>
                <a:endParaRPr lang="en-GB" sz="1800" b="0" i="1">
                  <a:latin typeface="Cambria Math" panose="02040503050406030204" pitchFamily="18" charset="0"/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GB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i="1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en-GB" i="1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GB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i="1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5</m:t>
                          </m:r>
                        </m:sub>
                      </m:sSub>
                      <m:r>
                        <a:rPr lang="en-GB" i="1">
                          <a:latin typeface="Cambria Math" panose="02040503050406030204" pitchFamily="18" charset="0"/>
                        </a:rPr>
                        <m:t>≥1</m:t>
                      </m:r>
                    </m:oMath>
                    <m:oMath xmlns:m="http://schemas.openxmlformats.org/officeDocument/2006/math">
                      <m:sSub>
                        <m:sSubPr>
                          <m:ctrlPr>
                            <a:rPr lang="en-GB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i="1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3</m:t>
                          </m:r>
                        </m:sub>
                      </m:sSub>
                      <m:r>
                        <a:rPr lang="en-GB" i="1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GB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i="1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4</m:t>
                          </m:r>
                        </m:sub>
                      </m:sSub>
                      <m:r>
                        <a:rPr lang="en-GB" i="1">
                          <a:latin typeface="Cambria Math" panose="02040503050406030204" pitchFamily="18" charset="0"/>
                        </a:rPr>
                        <m:t>≥1</m:t>
                      </m:r>
                    </m:oMath>
                    <m:oMath xmlns:m="http://schemas.openxmlformats.org/officeDocument/2006/math">
                      <m:sSub>
                        <m:sSubPr>
                          <m:ctrlPr>
                            <a:rPr lang="en-GB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i="1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4</m:t>
                          </m:r>
                        </m:sub>
                      </m:sSub>
                      <m:r>
                        <a:rPr lang="en-GB" i="1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GB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i="1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5</m:t>
                          </m:r>
                        </m:sub>
                      </m:sSub>
                      <m:r>
                        <a:rPr lang="en-GB" i="1">
                          <a:latin typeface="Cambria Math" panose="02040503050406030204" pitchFamily="18" charset="0"/>
                        </a:rPr>
                        <m:t>≥1</m:t>
                      </m:r>
                    </m:oMath>
                    <m:oMath xmlns:m="http://schemas.openxmlformats.org/officeDocument/2006/math">
                      <m:sSub>
                        <m:sSubPr>
                          <m:ctrlPr>
                            <a:rPr lang="en-GB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i="1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5</m:t>
                          </m:r>
                        </m:sub>
                      </m:sSub>
                      <m:r>
                        <a:rPr lang="en-GB" i="1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GB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i="1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6</m:t>
                          </m:r>
                        </m:sub>
                      </m:sSub>
                      <m:r>
                        <a:rPr lang="en-GB" i="1">
                          <a:latin typeface="Cambria Math" panose="02040503050406030204" pitchFamily="18" charset="0"/>
                        </a:rPr>
                        <m:t>≥1</m:t>
                      </m:r>
                    </m:oMath>
                  </m:oMathPara>
                </a14:m>
                <a:endParaRPr lang="en-GB" i="1">
                  <a:latin typeface="Cambria Math" panose="02040503050406030204" pitchFamily="18" charset="0"/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GB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i="1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5</m:t>
                          </m:r>
                        </m:sub>
                      </m:sSub>
                      <m:r>
                        <a:rPr lang="en-GB" i="1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GB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i="1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8</m:t>
                          </m:r>
                        </m:sub>
                      </m:sSub>
                      <m:r>
                        <a:rPr lang="en-GB" i="1">
                          <a:latin typeface="Cambria Math" panose="02040503050406030204" pitchFamily="18" charset="0"/>
                        </a:rPr>
                        <m:t>≥1</m:t>
                      </m:r>
                    </m:oMath>
                    <m:oMath xmlns:m="http://schemas.openxmlformats.org/officeDocument/2006/math">
                      <m:sSub>
                        <m:sSubPr>
                          <m:ctrlPr>
                            <a:rPr lang="en-GB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i="1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6</m:t>
                          </m:r>
                        </m:sub>
                      </m:sSub>
                      <m:r>
                        <a:rPr lang="en-GB" i="1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GB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i="1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7</m:t>
                          </m:r>
                        </m:sub>
                      </m:sSub>
                      <m:r>
                        <a:rPr lang="en-GB" i="1">
                          <a:latin typeface="Cambria Math" panose="02040503050406030204" pitchFamily="18" charset="0"/>
                        </a:rPr>
                        <m:t>≥1</m:t>
                      </m:r>
                    </m:oMath>
                    <m:oMath xmlns:m="http://schemas.openxmlformats.org/officeDocument/2006/math">
                      <m:sSub>
                        <m:sSubPr>
                          <m:ctrlPr>
                            <a:rPr lang="en-GB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i="1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7</m:t>
                          </m:r>
                        </m:sub>
                      </m:sSub>
                      <m:r>
                        <a:rPr lang="en-GB" i="1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GB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i="1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8</m:t>
                          </m:r>
                        </m:sub>
                      </m:sSub>
                      <m:r>
                        <a:rPr lang="en-GB" i="1">
                          <a:latin typeface="Cambria Math" panose="02040503050406030204" pitchFamily="18" charset="0"/>
                        </a:rPr>
                        <m:t>≥1</m:t>
                      </m:r>
                    </m:oMath>
                  </m:oMathPara>
                </a14:m>
                <a:br>
                  <a:rPr lang="en-GB" sz="1800" b="0" i="1">
                    <a:latin typeface="Cambria Math" panose="02040503050406030204" pitchFamily="18" charset="0"/>
                  </a:rPr>
                </a:br>
                <a:endParaRPr lang="en-GB" sz="1800" b="0" i="1">
                  <a:latin typeface="Cambria Math" panose="02040503050406030204" pitchFamily="18" charset="0"/>
                </a:endParaRPr>
              </a:p>
              <a:p>
                <a:pPr marL="0" indent="0">
                  <a:buNone/>
                </a:pPr>
                <a:endParaRPr lang="en-GB" i="1">
                  <a:latin typeface="Cambria Math" panose="02040503050406030204" pitchFamily="18" charset="0"/>
                </a:endParaRP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GB" sz="18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sz="1800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GB" sz="1800" b="0" i="1" smtClean="0">
                              <a:latin typeface="Cambria Math" panose="02040503050406030204" pitchFamily="18" charset="0"/>
                            </a:rPr>
                            <m:t>𝑢</m:t>
                          </m:r>
                        </m:sub>
                      </m:sSub>
                      <m:r>
                        <a:rPr lang="en-GB" sz="1800" b="0" i="1" smtClean="0">
                          <a:latin typeface="Cambria Math" panose="02040503050406030204" pitchFamily="18" charset="0"/>
                        </a:rPr>
                        <m:t>∈{0,1}</m:t>
                      </m:r>
                    </m:oMath>
                  </m:oMathPara>
                </a14:m>
                <a:endParaRPr lang="en-GB" sz="1800"/>
              </a:p>
            </p:txBody>
          </p:sp>
        </mc:Choice>
        <mc:Fallback xmlns="">
          <p:sp>
            <p:nvSpPr>
              <p:cNvPr id="48" name="TextBox 47">
                <a:extLst>
                  <a:ext uri="{FF2B5EF4-FFF2-40B4-BE49-F238E27FC236}">
                    <a16:creationId xmlns:a16="http://schemas.microsoft.com/office/drawing/2014/main" id="{7440285E-646E-4CF4-AFE1-807599AA105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446986" y="1648945"/>
                <a:ext cx="6094428" cy="4919616"/>
              </a:xfrm>
              <a:prstGeom prst="rect">
                <a:avLst/>
              </a:prstGeom>
              <a:blipFill>
                <a:blip r:embed="rId3"/>
                <a:stretch>
                  <a:fillRect l="-901" t="-619" b="-12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417498600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8" grpId="0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3E593E6-3D2F-4C7E-80B2-F78D636A9E0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706293"/>
          </a:xfrm>
        </p:spPr>
        <p:txBody>
          <a:bodyPr/>
          <a:lstStyle/>
          <a:p>
            <a:r>
              <a:rPr lang="en-GB"/>
              <a:t>Example – Installing Security Cameras</a:t>
            </a:r>
          </a:p>
        </p:txBody>
      </p:sp>
      <p:sp>
        <p:nvSpPr>
          <p:cNvPr id="5" name="Oval 4">
            <a:extLst>
              <a:ext uri="{FF2B5EF4-FFF2-40B4-BE49-F238E27FC236}">
                <a16:creationId xmlns:a16="http://schemas.microsoft.com/office/drawing/2014/main" id="{3EDD6D35-A891-497D-ADAA-087B012924A0}"/>
              </a:ext>
            </a:extLst>
          </p:cNvPr>
          <p:cNvSpPr/>
          <p:nvPr/>
        </p:nvSpPr>
        <p:spPr>
          <a:xfrm>
            <a:off x="364501" y="2055043"/>
            <a:ext cx="292231" cy="292231"/>
          </a:xfrm>
          <a:prstGeom prst="ellipse">
            <a:avLst/>
          </a:prstGeom>
          <a:solidFill>
            <a:schemeClr val="tx1"/>
          </a:solidFill>
          <a:ln w="28575">
            <a:solidFill>
              <a:schemeClr val="tx1"/>
            </a:solidFill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/>
              <a:t>1</a:t>
            </a:r>
          </a:p>
        </p:txBody>
      </p:sp>
      <p:sp>
        <p:nvSpPr>
          <p:cNvPr id="8" name="Oval 7">
            <a:extLst>
              <a:ext uri="{FF2B5EF4-FFF2-40B4-BE49-F238E27FC236}">
                <a16:creationId xmlns:a16="http://schemas.microsoft.com/office/drawing/2014/main" id="{E8FDEAE6-6031-4691-97AA-E95D91396465}"/>
              </a:ext>
            </a:extLst>
          </p:cNvPr>
          <p:cNvSpPr/>
          <p:nvPr/>
        </p:nvSpPr>
        <p:spPr>
          <a:xfrm>
            <a:off x="1572703" y="1545996"/>
            <a:ext cx="292231" cy="292231"/>
          </a:xfrm>
          <a:prstGeom prst="ellipse">
            <a:avLst/>
          </a:prstGeom>
          <a:solidFill>
            <a:srgbClr val="FFC000"/>
          </a:solidFill>
          <a:ln w="28575">
            <a:solidFill>
              <a:schemeClr val="accent4"/>
            </a:solidFill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/>
              <a:t>2</a:t>
            </a:r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C8A7F20C-C8AC-48C2-A839-39307431BF45}"/>
              </a:ext>
            </a:extLst>
          </p:cNvPr>
          <p:cNvSpPr/>
          <p:nvPr/>
        </p:nvSpPr>
        <p:spPr>
          <a:xfrm>
            <a:off x="2243578" y="2479249"/>
            <a:ext cx="292231" cy="292231"/>
          </a:xfrm>
          <a:prstGeom prst="ellipse">
            <a:avLst/>
          </a:prstGeom>
          <a:solidFill>
            <a:schemeClr val="tx1"/>
          </a:solidFill>
          <a:ln w="28575">
            <a:solidFill>
              <a:schemeClr val="tx1"/>
            </a:solidFill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/>
              <a:t>3</a:t>
            </a:r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DFA4EC75-A020-4D57-B8A2-5AB3F128157E}"/>
              </a:ext>
            </a:extLst>
          </p:cNvPr>
          <p:cNvSpPr/>
          <p:nvPr/>
        </p:nvSpPr>
        <p:spPr>
          <a:xfrm>
            <a:off x="4403887" y="1216057"/>
            <a:ext cx="292231" cy="292231"/>
          </a:xfrm>
          <a:prstGeom prst="ellipse">
            <a:avLst/>
          </a:prstGeom>
          <a:solidFill>
            <a:srgbClr val="FFC000"/>
          </a:solidFill>
          <a:ln w="28575">
            <a:solidFill>
              <a:schemeClr val="accent4"/>
            </a:solidFill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/>
              <a:t>4</a:t>
            </a:r>
          </a:p>
        </p:txBody>
      </p:sp>
      <p:sp>
        <p:nvSpPr>
          <p:cNvPr id="14" name="Oval 13">
            <a:extLst>
              <a:ext uri="{FF2B5EF4-FFF2-40B4-BE49-F238E27FC236}">
                <a16:creationId xmlns:a16="http://schemas.microsoft.com/office/drawing/2014/main" id="{BB3AEE98-675D-49AF-8568-BEE825D8904D}"/>
              </a:ext>
            </a:extLst>
          </p:cNvPr>
          <p:cNvSpPr/>
          <p:nvPr/>
        </p:nvSpPr>
        <p:spPr>
          <a:xfrm>
            <a:off x="5803769" y="2479248"/>
            <a:ext cx="292231" cy="292231"/>
          </a:xfrm>
          <a:prstGeom prst="ellipse">
            <a:avLst/>
          </a:prstGeom>
          <a:solidFill>
            <a:srgbClr val="FFC000"/>
          </a:solidFill>
          <a:ln w="28575">
            <a:solidFill>
              <a:schemeClr val="accent4"/>
            </a:solidFill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/>
              <a:t>6</a:t>
            </a:r>
          </a:p>
        </p:txBody>
      </p:sp>
      <p:sp>
        <p:nvSpPr>
          <p:cNvPr id="16" name="Oval 15">
            <a:extLst>
              <a:ext uri="{FF2B5EF4-FFF2-40B4-BE49-F238E27FC236}">
                <a16:creationId xmlns:a16="http://schemas.microsoft.com/office/drawing/2014/main" id="{DD237859-E230-44C9-B19F-9B8B25FB9223}"/>
              </a:ext>
            </a:extLst>
          </p:cNvPr>
          <p:cNvSpPr/>
          <p:nvPr/>
        </p:nvSpPr>
        <p:spPr>
          <a:xfrm>
            <a:off x="4403886" y="2995367"/>
            <a:ext cx="292231" cy="292231"/>
          </a:xfrm>
          <a:prstGeom prst="ellipse">
            <a:avLst/>
          </a:prstGeom>
          <a:solidFill>
            <a:schemeClr val="tx1"/>
          </a:solidFill>
          <a:ln w="28575">
            <a:solidFill>
              <a:schemeClr val="tx1"/>
            </a:solidFill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/>
              <a:t>5</a:t>
            </a:r>
          </a:p>
        </p:txBody>
      </p:sp>
      <p:sp>
        <p:nvSpPr>
          <p:cNvPr id="18" name="Oval 17">
            <a:extLst>
              <a:ext uri="{FF2B5EF4-FFF2-40B4-BE49-F238E27FC236}">
                <a16:creationId xmlns:a16="http://schemas.microsoft.com/office/drawing/2014/main" id="{5AE35ACB-F103-4D07-AED7-CC107A70D12B}"/>
              </a:ext>
            </a:extLst>
          </p:cNvPr>
          <p:cNvSpPr/>
          <p:nvPr/>
        </p:nvSpPr>
        <p:spPr>
          <a:xfrm>
            <a:off x="5657653" y="3678023"/>
            <a:ext cx="292231" cy="292231"/>
          </a:xfrm>
          <a:prstGeom prst="ellipse">
            <a:avLst/>
          </a:prstGeom>
          <a:solidFill>
            <a:schemeClr val="tx1"/>
          </a:solidFill>
          <a:ln w="28575">
            <a:solidFill>
              <a:schemeClr val="tx1"/>
            </a:solidFill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/>
              <a:t>7</a:t>
            </a:r>
          </a:p>
        </p:txBody>
      </p:sp>
      <p:sp>
        <p:nvSpPr>
          <p:cNvPr id="20" name="Oval 19">
            <a:extLst>
              <a:ext uri="{FF2B5EF4-FFF2-40B4-BE49-F238E27FC236}">
                <a16:creationId xmlns:a16="http://schemas.microsoft.com/office/drawing/2014/main" id="{55313B35-39E4-41E9-BF03-FA4B806EF7DE}"/>
              </a:ext>
            </a:extLst>
          </p:cNvPr>
          <p:cNvSpPr/>
          <p:nvPr/>
        </p:nvSpPr>
        <p:spPr>
          <a:xfrm>
            <a:off x="3123411" y="3970254"/>
            <a:ext cx="292231" cy="292231"/>
          </a:xfrm>
          <a:prstGeom prst="ellipse">
            <a:avLst/>
          </a:prstGeom>
          <a:solidFill>
            <a:srgbClr val="FFC000"/>
          </a:solidFill>
          <a:ln w="28575">
            <a:solidFill>
              <a:schemeClr val="accent4"/>
            </a:solidFill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/>
              <a:t>8</a:t>
            </a:r>
          </a:p>
        </p:txBody>
      </p:sp>
      <p:cxnSp>
        <p:nvCxnSpPr>
          <p:cNvPr id="22" name="Straight Connector 21">
            <a:extLst>
              <a:ext uri="{FF2B5EF4-FFF2-40B4-BE49-F238E27FC236}">
                <a16:creationId xmlns:a16="http://schemas.microsoft.com/office/drawing/2014/main" id="{83F7B298-DDDE-44ED-BA46-65D95A842DBB}"/>
              </a:ext>
            </a:extLst>
          </p:cNvPr>
          <p:cNvCxnSpPr>
            <a:cxnSpLocks/>
            <a:stCxn id="5" idx="7"/>
            <a:endCxn id="8" idx="2"/>
          </p:cNvCxnSpPr>
          <p:nvPr/>
        </p:nvCxnSpPr>
        <p:spPr>
          <a:xfrm flipV="1">
            <a:off x="613936" y="1692112"/>
            <a:ext cx="958767" cy="405727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Straight Connector 24">
            <a:extLst>
              <a:ext uri="{FF2B5EF4-FFF2-40B4-BE49-F238E27FC236}">
                <a16:creationId xmlns:a16="http://schemas.microsoft.com/office/drawing/2014/main" id="{77A54EF5-560A-4C82-A795-BBB90DEE2B16}"/>
              </a:ext>
            </a:extLst>
          </p:cNvPr>
          <p:cNvCxnSpPr>
            <a:cxnSpLocks/>
            <a:stCxn id="8" idx="6"/>
            <a:endCxn id="16" idx="2"/>
          </p:cNvCxnSpPr>
          <p:nvPr/>
        </p:nvCxnSpPr>
        <p:spPr>
          <a:xfrm>
            <a:off x="1864934" y="1692112"/>
            <a:ext cx="2538952" cy="1449371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Straight Connector 26">
            <a:extLst>
              <a:ext uri="{FF2B5EF4-FFF2-40B4-BE49-F238E27FC236}">
                <a16:creationId xmlns:a16="http://schemas.microsoft.com/office/drawing/2014/main" id="{915B5EA7-83FE-4809-A592-3D2D0FF6C266}"/>
              </a:ext>
            </a:extLst>
          </p:cNvPr>
          <p:cNvCxnSpPr>
            <a:cxnSpLocks/>
            <a:stCxn id="8" idx="5"/>
            <a:endCxn id="10" idx="1"/>
          </p:cNvCxnSpPr>
          <p:nvPr/>
        </p:nvCxnSpPr>
        <p:spPr>
          <a:xfrm>
            <a:off x="1822138" y="1795431"/>
            <a:ext cx="464236" cy="726614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" name="Straight Connector 29">
            <a:extLst>
              <a:ext uri="{FF2B5EF4-FFF2-40B4-BE49-F238E27FC236}">
                <a16:creationId xmlns:a16="http://schemas.microsoft.com/office/drawing/2014/main" id="{3173067B-1777-4183-95F9-A12F5ED9CF32}"/>
              </a:ext>
            </a:extLst>
          </p:cNvPr>
          <p:cNvCxnSpPr>
            <a:cxnSpLocks/>
            <a:stCxn id="10" idx="7"/>
            <a:endCxn id="12" idx="3"/>
          </p:cNvCxnSpPr>
          <p:nvPr/>
        </p:nvCxnSpPr>
        <p:spPr>
          <a:xfrm flipV="1">
            <a:off x="2493013" y="1465492"/>
            <a:ext cx="1953670" cy="1056553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" name="Straight Connector 33">
            <a:extLst>
              <a:ext uri="{FF2B5EF4-FFF2-40B4-BE49-F238E27FC236}">
                <a16:creationId xmlns:a16="http://schemas.microsoft.com/office/drawing/2014/main" id="{2EB025D5-215F-44EB-941A-BB43291711DC}"/>
              </a:ext>
            </a:extLst>
          </p:cNvPr>
          <p:cNvCxnSpPr>
            <a:stCxn id="16" idx="0"/>
            <a:endCxn id="12" idx="4"/>
          </p:cNvCxnSpPr>
          <p:nvPr/>
        </p:nvCxnSpPr>
        <p:spPr>
          <a:xfrm flipV="1">
            <a:off x="4550002" y="1508288"/>
            <a:ext cx="1" cy="1487079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" name="Straight Connector 35">
            <a:extLst>
              <a:ext uri="{FF2B5EF4-FFF2-40B4-BE49-F238E27FC236}">
                <a16:creationId xmlns:a16="http://schemas.microsoft.com/office/drawing/2014/main" id="{FC64D2CA-3D52-44B5-9AE2-3FB2552CC3F3}"/>
              </a:ext>
            </a:extLst>
          </p:cNvPr>
          <p:cNvCxnSpPr>
            <a:stCxn id="16" idx="7"/>
            <a:endCxn id="14" idx="2"/>
          </p:cNvCxnSpPr>
          <p:nvPr/>
        </p:nvCxnSpPr>
        <p:spPr>
          <a:xfrm flipV="1">
            <a:off x="4653321" y="2625364"/>
            <a:ext cx="1150448" cy="412799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" name="Straight Connector 37">
            <a:extLst>
              <a:ext uri="{FF2B5EF4-FFF2-40B4-BE49-F238E27FC236}">
                <a16:creationId xmlns:a16="http://schemas.microsoft.com/office/drawing/2014/main" id="{ADB3F3C3-3FC5-4E80-A938-6BA41BC682F9}"/>
              </a:ext>
            </a:extLst>
          </p:cNvPr>
          <p:cNvCxnSpPr>
            <a:stCxn id="14" idx="4"/>
            <a:endCxn id="18" idx="0"/>
          </p:cNvCxnSpPr>
          <p:nvPr/>
        </p:nvCxnSpPr>
        <p:spPr>
          <a:xfrm flipH="1">
            <a:off x="5803769" y="2771479"/>
            <a:ext cx="146116" cy="906544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0" name="Straight Connector 39">
            <a:extLst>
              <a:ext uri="{FF2B5EF4-FFF2-40B4-BE49-F238E27FC236}">
                <a16:creationId xmlns:a16="http://schemas.microsoft.com/office/drawing/2014/main" id="{4F240A41-A840-4A65-961F-5E7652557F73}"/>
              </a:ext>
            </a:extLst>
          </p:cNvPr>
          <p:cNvCxnSpPr>
            <a:stCxn id="18" idx="2"/>
            <a:endCxn id="20" idx="6"/>
          </p:cNvCxnSpPr>
          <p:nvPr/>
        </p:nvCxnSpPr>
        <p:spPr>
          <a:xfrm flipH="1">
            <a:off x="3415642" y="3824139"/>
            <a:ext cx="2242011" cy="292231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2" name="Straight Connector 41">
            <a:extLst>
              <a:ext uri="{FF2B5EF4-FFF2-40B4-BE49-F238E27FC236}">
                <a16:creationId xmlns:a16="http://schemas.microsoft.com/office/drawing/2014/main" id="{4A76D68E-0F11-4738-B7F8-CE9D7D686759}"/>
              </a:ext>
            </a:extLst>
          </p:cNvPr>
          <p:cNvCxnSpPr>
            <a:stCxn id="16" idx="3"/>
            <a:endCxn id="20" idx="7"/>
          </p:cNvCxnSpPr>
          <p:nvPr/>
        </p:nvCxnSpPr>
        <p:spPr>
          <a:xfrm flipH="1">
            <a:off x="3372846" y="3244802"/>
            <a:ext cx="1073836" cy="768248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4" name="Straight Connector 43">
            <a:extLst>
              <a:ext uri="{FF2B5EF4-FFF2-40B4-BE49-F238E27FC236}">
                <a16:creationId xmlns:a16="http://schemas.microsoft.com/office/drawing/2014/main" id="{D794DE45-B226-4516-A141-C0385F857621}"/>
              </a:ext>
            </a:extLst>
          </p:cNvPr>
          <p:cNvCxnSpPr>
            <a:stCxn id="20" idx="1"/>
            <a:endCxn id="5" idx="5"/>
          </p:cNvCxnSpPr>
          <p:nvPr/>
        </p:nvCxnSpPr>
        <p:spPr>
          <a:xfrm flipH="1" flipV="1">
            <a:off x="613936" y="2304478"/>
            <a:ext cx="2552271" cy="1708572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48" name="TextBox 47">
                <a:extLst>
                  <a:ext uri="{FF2B5EF4-FFF2-40B4-BE49-F238E27FC236}">
                    <a16:creationId xmlns:a16="http://schemas.microsoft.com/office/drawing/2014/main" id="{7440285E-646E-4CF4-AFE1-807599AA105C}"/>
                  </a:ext>
                </a:extLst>
              </p:cNvPr>
              <p:cNvSpPr txBox="1"/>
              <p:nvPr/>
            </p:nvSpPr>
            <p:spPr>
              <a:xfrm>
                <a:off x="6446986" y="1648945"/>
                <a:ext cx="6094428" cy="4919616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marL="0" indent="0">
                  <a:buNone/>
                </a:pPr>
                <a:r>
                  <a:rPr lang="en-GB" sz="1800"/>
                  <a:t>minimise 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nary>
                        <m:naryPr>
                          <m:chr m:val="∑"/>
                          <m:supHide m:val="on"/>
                          <m:ctrlPr>
                            <a:rPr lang="en-GB" sz="1800" i="1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en-GB" sz="1800" b="0" i="1" smtClean="0">
                              <a:latin typeface="Cambria Math" panose="02040503050406030204" pitchFamily="18" charset="0"/>
                            </a:rPr>
                            <m:t>𝑢</m:t>
                          </m:r>
                          <m:r>
                            <a:rPr lang="en-GB" sz="1800" b="0" i="1" smtClean="0">
                              <a:latin typeface="Cambria Math" panose="02040503050406030204" pitchFamily="18" charset="0"/>
                            </a:rPr>
                            <m:t>∈</m:t>
                          </m:r>
                          <m:r>
                            <a:rPr lang="en-GB" sz="1800" b="0" i="1" smtClean="0">
                              <a:latin typeface="Cambria Math" panose="02040503050406030204" pitchFamily="18" charset="0"/>
                            </a:rPr>
                            <m:t>𝑉</m:t>
                          </m:r>
                        </m:sub>
                        <m:sup/>
                        <m:e>
                          <m:sSub>
                            <m:sSubPr>
                              <m:ctrlPr>
                                <a:rPr lang="en-GB" sz="18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GB" sz="1800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GB" sz="1800" b="0" i="1" smtClean="0">
                                  <a:latin typeface="Cambria Math" panose="02040503050406030204" pitchFamily="18" charset="0"/>
                                </a:rPr>
                                <m:t>𝑢</m:t>
                              </m:r>
                            </m:sub>
                          </m:sSub>
                        </m:e>
                      </m:nary>
                      <m:r>
                        <a:rPr lang="en-GB" sz="1800" b="0" i="0" smtClean="0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GB" sz="18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sz="1800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GB" sz="18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GB" sz="1800" b="0" i="1" smtClean="0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GB" sz="18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sz="1800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GB" sz="18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en-GB" sz="1800" b="0" i="1" smtClean="0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GB" sz="18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sz="1800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GB" sz="1800" b="0" i="1" smtClean="0">
                              <a:latin typeface="Cambria Math" panose="02040503050406030204" pitchFamily="18" charset="0"/>
                            </a:rPr>
                            <m:t>3</m:t>
                          </m:r>
                        </m:sub>
                      </m:sSub>
                      <m:r>
                        <a:rPr lang="en-GB" sz="1800" b="0" i="1" smtClean="0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GB" sz="18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sz="1800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GB" sz="1800" b="0" i="1" smtClean="0">
                              <a:latin typeface="Cambria Math" panose="02040503050406030204" pitchFamily="18" charset="0"/>
                            </a:rPr>
                            <m:t>4</m:t>
                          </m:r>
                        </m:sub>
                      </m:sSub>
                      <m:r>
                        <a:rPr lang="en-GB" sz="1800" b="0" i="1" smtClean="0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GB" sz="18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sz="1800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GB" sz="1800" b="0" i="1" smtClean="0">
                              <a:latin typeface="Cambria Math" panose="02040503050406030204" pitchFamily="18" charset="0"/>
                            </a:rPr>
                            <m:t>5</m:t>
                          </m:r>
                        </m:sub>
                      </m:sSub>
                      <m:r>
                        <a:rPr lang="en-GB" sz="1800" b="0" i="1" smtClean="0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GB" sz="18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sz="1800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GB" sz="1800" b="0" i="1" smtClean="0">
                              <a:latin typeface="Cambria Math" panose="02040503050406030204" pitchFamily="18" charset="0"/>
                            </a:rPr>
                            <m:t>6</m:t>
                          </m:r>
                        </m:sub>
                      </m:sSub>
                      <m:r>
                        <a:rPr lang="en-GB" sz="1800" b="0" i="1" smtClean="0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GB" sz="18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sz="1800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GB" sz="1800" b="0" i="1" smtClean="0">
                              <a:latin typeface="Cambria Math" panose="02040503050406030204" pitchFamily="18" charset="0"/>
                            </a:rPr>
                            <m:t>7</m:t>
                          </m:r>
                        </m:sub>
                      </m:sSub>
                      <m:r>
                        <a:rPr lang="en-GB" sz="1800" b="0" i="1" smtClean="0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GB" sz="18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sz="1800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GB" sz="1800" b="0" i="1" smtClean="0">
                              <a:latin typeface="Cambria Math" panose="02040503050406030204" pitchFamily="18" charset="0"/>
                            </a:rPr>
                            <m:t>8</m:t>
                          </m:r>
                        </m:sub>
                      </m:sSub>
                    </m:oMath>
                  </m:oMathPara>
                </a14:m>
                <a:endParaRPr lang="en-GB" sz="1800"/>
              </a:p>
              <a:p>
                <a:pPr marL="0" indent="0">
                  <a:buNone/>
                </a:pPr>
                <a:endParaRPr lang="en-GB" sz="1800"/>
              </a:p>
              <a:p>
                <a:pPr marL="0" indent="0">
                  <a:buNone/>
                </a:pPr>
                <a:r>
                  <a:rPr lang="en-GB" sz="1800"/>
                  <a:t>subject to:</a:t>
                </a: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GB" sz="18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sz="180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GB" sz="18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GB" sz="1800" b="0" i="1" smtClean="0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GB" sz="18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sz="1800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GB" sz="18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en-GB" sz="1800" b="0" i="1" smtClean="0">
                          <a:latin typeface="Cambria Math" panose="02040503050406030204" pitchFamily="18" charset="0"/>
                        </a:rPr>
                        <m:t>≥1</m:t>
                      </m:r>
                    </m:oMath>
                  </m:oMathPara>
                </a14:m>
                <a:endParaRPr lang="en-GB" sz="1800" b="0" i="1">
                  <a:latin typeface="Cambria Math" panose="02040503050406030204" pitchFamily="18" charset="0"/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GB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i="1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GB" i="1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GB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i="1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8</m:t>
                          </m:r>
                        </m:sub>
                      </m:sSub>
                      <m:r>
                        <a:rPr lang="en-GB" i="1">
                          <a:latin typeface="Cambria Math" panose="02040503050406030204" pitchFamily="18" charset="0"/>
                        </a:rPr>
                        <m:t>≥1</m:t>
                      </m:r>
                    </m:oMath>
                    <m:oMath xmlns:m="http://schemas.openxmlformats.org/officeDocument/2006/math">
                      <m:sSub>
                        <m:sSubPr>
                          <m:ctrlPr>
                            <a:rPr lang="en-GB" sz="18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sz="180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GB" sz="18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en-GB" sz="1800" b="0" i="1" smtClean="0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GB" sz="18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sz="1800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GB" sz="1800" b="0" i="1" smtClean="0">
                              <a:latin typeface="Cambria Math" panose="02040503050406030204" pitchFamily="18" charset="0"/>
                            </a:rPr>
                            <m:t>3</m:t>
                          </m:r>
                        </m:sub>
                      </m:sSub>
                      <m:r>
                        <a:rPr lang="en-GB" sz="1800" b="0" i="1" smtClean="0">
                          <a:latin typeface="Cambria Math" panose="02040503050406030204" pitchFamily="18" charset="0"/>
                        </a:rPr>
                        <m:t>≥1</m:t>
                      </m:r>
                    </m:oMath>
                  </m:oMathPara>
                </a14:m>
                <a:endParaRPr lang="en-GB" sz="1800" b="0" i="1">
                  <a:latin typeface="Cambria Math" panose="02040503050406030204" pitchFamily="18" charset="0"/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GB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i="1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en-GB" i="1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GB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i="1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5</m:t>
                          </m:r>
                        </m:sub>
                      </m:sSub>
                      <m:r>
                        <a:rPr lang="en-GB" i="1">
                          <a:latin typeface="Cambria Math" panose="02040503050406030204" pitchFamily="18" charset="0"/>
                        </a:rPr>
                        <m:t>≥1</m:t>
                      </m:r>
                    </m:oMath>
                    <m:oMath xmlns:m="http://schemas.openxmlformats.org/officeDocument/2006/math">
                      <m:sSub>
                        <m:sSubPr>
                          <m:ctrlPr>
                            <a:rPr lang="en-GB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i="1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3</m:t>
                          </m:r>
                        </m:sub>
                      </m:sSub>
                      <m:r>
                        <a:rPr lang="en-GB" i="1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GB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i="1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4</m:t>
                          </m:r>
                        </m:sub>
                      </m:sSub>
                      <m:r>
                        <a:rPr lang="en-GB" i="1">
                          <a:latin typeface="Cambria Math" panose="02040503050406030204" pitchFamily="18" charset="0"/>
                        </a:rPr>
                        <m:t>≥1</m:t>
                      </m:r>
                    </m:oMath>
                    <m:oMath xmlns:m="http://schemas.openxmlformats.org/officeDocument/2006/math">
                      <m:sSub>
                        <m:sSubPr>
                          <m:ctrlPr>
                            <a:rPr lang="en-GB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i="1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4</m:t>
                          </m:r>
                        </m:sub>
                      </m:sSub>
                      <m:r>
                        <a:rPr lang="en-GB" i="1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GB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i="1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5</m:t>
                          </m:r>
                        </m:sub>
                      </m:sSub>
                      <m:r>
                        <a:rPr lang="en-GB" i="1">
                          <a:latin typeface="Cambria Math" panose="02040503050406030204" pitchFamily="18" charset="0"/>
                        </a:rPr>
                        <m:t>≥1</m:t>
                      </m:r>
                    </m:oMath>
                    <m:oMath xmlns:m="http://schemas.openxmlformats.org/officeDocument/2006/math">
                      <m:sSub>
                        <m:sSubPr>
                          <m:ctrlPr>
                            <a:rPr lang="en-GB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i="1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5</m:t>
                          </m:r>
                        </m:sub>
                      </m:sSub>
                      <m:r>
                        <a:rPr lang="en-GB" i="1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GB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i="1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6</m:t>
                          </m:r>
                        </m:sub>
                      </m:sSub>
                      <m:r>
                        <a:rPr lang="en-GB" i="1">
                          <a:latin typeface="Cambria Math" panose="02040503050406030204" pitchFamily="18" charset="0"/>
                        </a:rPr>
                        <m:t>≥1</m:t>
                      </m:r>
                    </m:oMath>
                  </m:oMathPara>
                </a14:m>
                <a:endParaRPr lang="en-GB" i="1">
                  <a:latin typeface="Cambria Math" panose="02040503050406030204" pitchFamily="18" charset="0"/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GB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i="1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5</m:t>
                          </m:r>
                        </m:sub>
                      </m:sSub>
                      <m:r>
                        <a:rPr lang="en-GB" i="1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GB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i="1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8</m:t>
                          </m:r>
                        </m:sub>
                      </m:sSub>
                      <m:r>
                        <a:rPr lang="en-GB" i="1">
                          <a:latin typeface="Cambria Math" panose="02040503050406030204" pitchFamily="18" charset="0"/>
                        </a:rPr>
                        <m:t>≥1</m:t>
                      </m:r>
                    </m:oMath>
                    <m:oMath xmlns:m="http://schemas.openxmlformats.org/officeDocument/2006/math">
                      <m:sSub>
                        <m:sSubPr>
                          <m:ctrlPr>
                            <a:rPr lang="en-GB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i="1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6</m:t>
                          </m:r>
                        </m:sub>
                      </m:sSub>
                      <m:r>
                        <a:rPr lang="en-GB" i="1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GB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i="1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7</m:t>
                          </m:r>
                        </m:sub>
                      </m:sSub>
                      <m:r>
                        <a:rPr lang="en-GB" i="1">
                          <a:latin typeface="Cambria Math" panose="02040503050406030204" pitchFamily="18" charset="0"/>
                        </a:rPr>
                        <m:t>≥1</m:t>
                      </m:r>
                    </m:oMath>
                    <m:oMath xmlns:m="http://schemas.openxmlformats.org/officeDocument/2006/math">
                      <m:sSub>
                        <m:sSubPr>
                          <m:ctrlPr>
                            <a:rPr lang="en-GB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i="1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7</m:t>
                          </m:r>
                        </m:sub>
                      </m:sSub>
                      <m:r>
                        <a:rPr lang="en-GB" i="1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GB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i="1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8</m:t>
                          </m:r>
                        </m:sub>
                      </m:sSub>
                      <m:r>
                        <a:rPr lang="en-GB" i="1">
                          <a:latin typeface="Cambria Math" panose="02040503050406030204" pitchFamily="18" charset="0"/>
                        </a:rPr>
                        <m:t>≥1</m:t>
                      </m:r>
                    </m:oMath>
                  </m:oMathPara>
                </a14:m>
                <a:br>
                  <a:rPr lang="en-GB" sz="1800" b="0" i="1">
                    <a:latin typeface="Cambria Math" panose="02040503050406030204" pitchFamily="18" charset="0"/>
                  </a:rPr>
                </a:br>
                <a:endParaRPr lang="en-GB" sz="1800" b="0" i="1">
                  <a:latin typeface="Cambria Math" panose="02040503050406030204" pitchFamily="18" charset="0"/>
                </a:endParaRPr>
              </a:p>
              <a:p>
                <a:pPr marL="0" indent="0">
                  <a:buNone/>
                </a:pPr>
                <a:endParaRPr lang="en-GB" i="1">
                  <a:latin typeface="Cambria Math" panose="02040503050406030204" pitchFamily="18" charset="0"/>
                </a:endParaRP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GB" sz="18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sz="1800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GB" sz="1800" b="0" i="1" smtClean="0">
                              <a:latin typeface="Cambria Math" panose="02040503050406030204" pitchFamily="18" charset="0"/>
                            </a:rPr>
                            <m:t>𝑢</m:t>
                          </m:r>
                        </m:sub>
                      </m:sSub>
                      <m:r>
                        <a:rPr lang="en-GB" sz="1800" b="0" i="1" smtClean="0">
                          <a:latin typeface="Cambria Math" panose="02040503050406030204" pitchFamily="18" charset="0"/>
                        </a:rPr>
                        <m:t>∈{0,1}</m:t>
                      </m:r>
                    </m:oMath>
                  </m:oMathPara>
                </a14:m>
                <a:endParaRPr lang="en-GB" sz="1800"/>
              </a:p>
            </p:txBody>
          </p:sp>
        </mc:Choice>
        <mc:Fallback xmlns="">
          <p:sp>
            <p:nvSpPr>
              <p:cNvPr id="48" name="TextBox 47">
                <a:extLst>
                  <a:ext uri="{FF2B5EF4-FFF2-40B4-BE49-F238E27FC236}">
                    <a16:creationId xmlns:a16="http://schemas.microsoft.com/office/drawing/2014/main" id="{7440285E-646E-4CF4-AFE1-807599AA105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446986" y="1648945"/>
                <a:ext cx="6094428" cy="4919616"/>
              </a:xfrm>
              <a:prstGeom prst="rect">
                <a:avLst/>
              </a:prstGeom>
              <a:blipFill>
                <a:blip r:embed="rId2"/>
                <a:stretch>
                  <a:fillRect l="-901" t="-619" b="-12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TextBox 2">
            <a:extLst>
              <a:ext uri="{FF2B5EF4-FFF2-40B4-BE49-F238E27FC236}">
                <a16:creationId xmlns:a16="http://schemas.microsoft.com/office/drawing/2014/main" id="{5C35BF59-8655-4CB2-8CD3-139134099487}"/>
              </a:ext>
            </a:extLst>
          </p:cNvPr>
          <p:cNvSpPr txBox="1"/>
          <p:nvPr/>
        </p:nvSpPr>
        <p:spPr>
          <a:xfrm>
            <a:off x="1008668" y="5269584"/>
            <a:ext cx="179369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/>
              <a:t>Solver Solution</a:t>
            </a:r>
          </a:p>
        </p:txBody>
      </p:sp>
    </p:spTree>
    <p:extLst>
      <p:ext uri="{BB962C8B-B14F-4D97-AF65-F5344CB8AC3E}">
        <p14:creationId xmlns:p14="http://schemas.microsoft.com/office/powerpoint/2010/main" val="2706896680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3E593E6-3D2F-4C7E-80B2-F78D636A9E0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706293"/>
          </a:xfrm>
        </p:spPr>
        <p:txBody>
          <a:bodyPr/>
          <a:lstStyle/>
          <a:p>
            <a:r>
              <a:rPr lang="en-GB"/>
              <a:t>Example – Installing Security Cameras</a:t>
            </a:r>
          </a:p>
        </p:txBody>
      </p:sp>
      <p:sp>
        <p:nvSpPr>
          <p:cNvPr id="5" name="Oval 4">
            <a:extLst>
              <a:ext uri="{FF2B5EF4-FFF2-40B4-BE49-F238E27FC236}">
                <a16:creationId xmlns:a16="http://schemas.microsoft.com/office/drawing/2014/main" id="{3EDD6D35-A891-497D-ADAA-087B012924A0}"/>
              </a:ext>
            </a:extLst>
          </p:cNvPr>
          <p:cNvSpPr/>
          <p:nvPr/>
        </p:nvSpPr>
        <p:spPr>
          <a:xfrm>
            <a:off x="364501" y="2055043"/>
            <a:ext cx="292231" cy="292231"/>
          </a:xfrm>
          <a:prstGeom prst="ellipse">
            <a:avLst/>
          </a:prstGeom>
          <a:solidFill>
            <a:srgbClr val="FF0000"/>
          </a:solidFill>
          <a:ln w="28575">
            <a:solidFill>
              <a:schemeClr val="tx1"/>
            </a:solidFill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/>
              <a:t>1</a:t>
            </a:r>
          </a:p>
        </p:txBody>
      </p:sp>
      <p:sp>
        <p:nvSpPr>
          <p:cNvPr id="8" name="Oval 7">
            <a:extLst>
              <a:ext uri="{FF2B5EF4-FFF2-40B4-BE49-F238E27FC236}">
                <a16:creationId xmlns:a16="http://schemas.microsoft.com/office/drawing/2014/main" id="{E8FDEAE6-6031-4691-97AA-E95D91396465}"/>
              </a:ext>
            </a:extLst>
          </p:cNvPr>
          <p:cNvSpPr/>
          <p:nvPr/>
        </p:nvSpPr>
        <p:spPr>
          <a:xfrm>
            <a:off x="1572703" y="1545996"/>
            <a:ext cx="292231" cy="292231"/>
          </a:xfrm>
          <a:prstGeom prst="ellipse">
            <a:avLst/>
          </a:prstGeom>
          <a:solidFill>
            <a:schemeClr val="tx1"/>
          </a:solidFill>
          <a:ln w="28575">
            <a:solidFill>
              <a:schemeClr val="tx1"/>
            </a:solidFill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/>
              <a:t>2</a:t>
            </a:r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C8A7F20C-C8AC-48C2-A839-39307431BF45}"/>
              </a:ext>
            </a:extLst>
          </p:cNvPr>
          <p:cNvSpPr/>
          <p:nvPr/>
        </p:nvSpPr>
        <p:spPr>
          <a:xfrm>
            <a:off x="2243578" y="2479249"/>
            <a:ext cx="292231" cy="292231"/>
          </a:xfrm>
          <a:prstGeom prst="ellipse">
            <a:avLst/>
          </a:prstGeom>
          <a:solidFill>
            <a:srgbClr val="FF0000"/>
          </a:solidFill>
          <a:ln w="28575">
            <a:solidFill>
              <a:schemeClr val="tx1"/>
            </a:solidFill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/>
              <a:t>3</a:t>
            </a:r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DFA4EC75-A020-4D57-B8A2-5AB3F128157E}"/>
              </a:ext>
            </a:extLst>
          </p:cNvPr>
          <p:cNvSpPr/>
          <p:nvPr/>
        </p:nvSpPr>
        <p:spPr>
          <a:xfrm>
            <a:off x="4403887" y="1216057"/>
            <a:ext cx="292231" cy="292231"/>
          </a:xfrm>
          <a:prstGeom prst="ellipse">
            <a:avLst/>
          </a:prstGeom>
          <a:solidFill>
            <a:schemeClr val="tx1"/>
          </a:solidFill>
          <a:ln w="28575">
            <a:solidFill>
              <a:schemeClr val="tx1"/>
            </a:solidFill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/>
              <a:t>4</a:t>
            </a:r>
          </a:p>
        </p:txBody>
      </p:sp>
      <p:sp>
        <p:nvSpPr>
          <p:cNvPr id="14" name="Oval 13">
            <a:extLst>
              <a:ext uri="{FF2B5EF4-FFF2-40B4-BE49-F238E27FC236}">
                <a16:creationId xmlns:a16="http://schemas.microsoft.com/office/drawing/2014/main" id="{BB3AEE98-675D-49AF-8568-BEE825D8904D}"/>
              </a:ext>
            </a:extLst>
          </p:cNvPr>
          <p:cNvSpPr/>
          <p:nvPr/>
        </p:nvSpPr>
        <p:spPr>
          <a:xfrm>
            <a:off x="5803769" y="2479248"/>
            <a:ext cx="292231" cy="292231"/>
          </a:xfrm>
          <a:prstGeom prst="ellipse">
            <a:avLst/>
          </a:prstGeom>
          <a:solidFill>
            <a:schemeClr val="tx1"/>
          </a:solidFill>
          <a:ln w="28575">
            <a:solidFill>
              <a:schemeClr val="tx1"/>
            </a:solidFill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/>
              <a:t>6</a:t>
            </a:r>
          </a:p>
        </p:txBody>
      </p:sp>
      <p:sp>
        <p:nvSpPr>
          <p:cNvPr id="16" name="Oval 15">
            <a:extLst>
              <a:ext uri="{FF2B5EF4-FFF2-40B4-BE49-F238E27FC236}">
                <a16:creationId xmlns:a16="http://schemas.microsoft.com/office/drawing/2014/main" id="{DD237859-E230-44C9-B19F-9B8B25FB9223}"/>
              </a:ext>
            </a:extLst>
          </p:cNvPr>
          <p:cNvSpPr/>
          <p:nvPr/>
        </p:nvSpPr>
        <p:spPr>
          <a:xfrm>
            <a:off x="4403886" y="2995367"/>
            <a:ext cx="292231" cy="292231"/>
          </a:xfrm>
          <a:prstGeom prst="ellipse">
            <a:avLst/>
          </a:prstGeom>
          <a:solidFill>
            <a:srgbClr val="FF0000"/>
          </a:solidFill>
          <a:ln w="28575">
            <a:solidFill>
              <a:schemeClr val="tx1"/>
            </a:solidFill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/>
              <a:t>5</a:t>
            </a:r>
          </a:p>
        </p:txBody>
      </p:sp>
      <p:sp>
        <p:nvSpPr>
          <p:cNvPr id="18" name="Oval 17">
            <a:extLst>
              <a:ext uri="{FF2B5EF4-FFF2-40B4-BE49-F238E27FC236}">
                <a16:creationId xmlns:a16="http://schemas.microsoft.com/office/drawing/2014/main" id="{5AE35ACB-F103-4D07-AED7-CC107A70D12B}"/>
              </a:ext>
            </a:extLst>
          </p:cNvPr>
          <p:cNvSpPr/>
          <p:nvPr/>
        </p:nvSpPr>
        <p:spPr>
          <a:xfrm>
            <a:off x="5657653" y="3678023"/>
            <a:ext cx="292231" cy="292231"/>
          </a:xfrm>
          <a:prstGeom prst="ellipse">
            <a:avLst/>
          </a:prstGeom>
          <a:solidFill>
            <a:srgbClr val="FF0000"/>
          </a:solidFill>
          <a:ln w="28575">
            <a:solidFill>
              <a:schemeClr val="tx1"/>
            </a:solidFill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/>
              <a:t>7</a:t>
            </a:r>
          </a:p>
        </p:txBody>
      </p:sp>
      <p:sp>
        <p:nvSpPr>
          <p:cNvPr id="20" name="Oval 19">
            <a:extLst>
              <a:ext uri="{FF2B5EF4-FFF2-40B4-BE49-F238E27FC236}">
                <a16:creationId xmlns:a16="http://schemas.microsoft.com/office/drawing/2014/main" id="{55313B35-39E4-41E9-BF03-FA4B806EF7DE}"/>
              </a:ext>
            </a:extLst>
          </p:cNvPr>
          <p:cNvSpPr/>
          <p:nvPr/>
        </p:nvSpPr>
        <p:spPr>
          <a:xfrm>
            <a:off x="3123411" y="3970254"/>
            <a:ext cx="292231" cy="292231"/>
          </a:xfrm>
          <a:prstGeom prst="ellipse">
            <a:avLst/>
          </a:prstGeom>
          <a:solidFill>
            <a:schemeClr val="tx1"/>
          </a:solidFill>
          <a:ln w="28575">
            <a:solidFill>
              <a:schemeClr val="tx1"/>
            </a:solidFill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/>
              <a:t>8</a:t>
            </a:r>
          </a:p>
        </p:txBody>
      </p:sp>
      <p:cxnSp>
        <p:nvCxnSpPr>
          <p:cNvPr id="22" name="Straight Connector 21">
            <a:extLst>
              <a:ext uri="{FF2B5EF4-FFF2-40B4-BE49-F238E27FC236}">
                <a16:creationId xmlns:a16="http://schemas.microsoft.com/office/drawing/2014/main" id="{83F7B298-DDDE-44ED-BA46-65D95A842DBB}"/>
              </a:ext>
            </a:extLst>
          </p:cNvPr>
          <p:cNvCxnSpPr>
            <a:cxnSpLocks/>
            <a:stCxn id="5" idx="7"/>
            <a:endCxn id="8" idx="2"/>
          </p:cNvCxnSpPr>
          <p:nvPr/>
        </p:nvCxnSpPr>
        <p:spPr>
          <a:xfrm flipV="1">
            <a:off x="613936" y="1692112"/>
            <a:ext cx="958767" cy="405727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Straight Connector 24">
            <a:extLst>
              <a:ext uri="{FF2B5EF4-FFF2-40B4-BE49-F238E27FC236}">
                <a16:creationId xmlns:a16="http://schemas.microsoft.com/office/drawing/2014/main" id="{77A54EF5-560A-4C82-A795-BBB90DEE2B16}"/>
              </a:ext>
            </a:extLst>
          </p:cNvPr>
          <p:cNvCxnSpPr>
            <a:cxnSpLocks/>
            <a:stCxn id="8" idx="6"/>
            <a:endCxn id="16" idx="2"/>
          </p:cNvCxnSpPr>
          <p:nvPr/>
        </p:nvCxnSpPr>
        <p:spPr>
          <a:xfrm>
            <a:off x="1864934" y="1692112"/>
            <a:ext cx="2538952" cy="1449371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Straight Connector 26">
            <a:extLst>
              <a:ext uri="{FF2B5EF4-FFF2-40B4-BE49-F238E27FC236}">
                <a16:creationId xmlns:a16="http://schemas.microsoft.com/office/drawing/2014/main" id="{915B5EA7-83FE-4809-A592-3D2D0FF6C266}"/>
              </a:ext>
            </a:extLst>
          </p:cNvPr>
          <p:cNvCxnSpPr>
            <a:cxnSpLocks/>
            <a:stCxn id="8" idx="5"/>
            <a:endCxn id="10" idx="1"/>
          </p:cNvCxnSpPr>
          <p:nvPr/>
        </p:nvCxnSpPr>
        <p:spPr>
          <a:xfrm>
            <a:off x="1822138" y="1795431"/>
            <a:ext cx="464236" cy="726614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" name="Straight Connector 29">
            <a:extLst>
              <a:ext uri="{FF2B5EF4-FFF2-40B4-BE49-F238E27FC236}">
                <a16:creationId xmlns:a16="http://schemas.microsoft.com/office/drawing/2014/main" id="{3173067B-1777-4183-95F9-A12F5ED9CF32}"/>
              </a:ext>
            </a:extLst>
          </p:cNvPr>
          <p:cNvCxnSpPr>
            <a:cxnSpLocks/>
            <a:stCxn id="10" idx="7"/>
            <a:endCxn id="12" idx="3"/>
          </p:cNvCxnSpPr>
          <p:nvPr/>
        </p:nvCxnSpPr>
        <p:spPr>
          <a:xfrm flipV="1">
            <a:off x="2493013" y="1465492"/>
            <a:ext cx="1953670" cy="1056553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" name="Straight Connector 33">
            <a:extLst>
              <a:ext uri="{FF2B5EF4-FFF2-40B4-BE49-F238E27FC236}">
                <a16:creationId xmlns:a16="http://schemas.microsoft.com/office/drawing/2014/main" id="{2EB025D5-215F-44EB-941A-BB43291711DC}"/>
              </a:ext>
            </a:extLst>
          </p:cNvPr>
          <p:cNvCxnSpPr>
            <a:stCxn id="16" idx="0"/>
            <a:endCxn id="12" idx="4"/>
          </p:cNvCxnSpPr>
          <p:nvPr/>
        </p:nvCxnSpPr>
        <p:spPr>
          <a:xfrm flipV="1">
            <a:off x="4550002" y="1508288"/>
            <a:ext cx="1" cy="1487079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" name="Straight Connector 35">
            <a:extLst>
              <a:ext uri="{FF2B5EF4-FFF2-40B4-BE49-F238E27FC236}">
                <a16:creationId xmlns:a16="http://schemas.microsoft.com/office/drawing/2014/main" id="{FC64D2CA-3D52-44B5-9AE2-3FB2552CC3F3}"/>
              </a:ext>
            </a:extLst>
          </p:cNvPr>
          <p:cNvCxnSpPr>
            <a:stCxn id="16" idx="7"/>
            <a:endCxn id="14" idx="2"/>
          </p:cNvCxnSpPr>
          <p:nvPr/>
        </p:nvCxnSpPr>
        <p:spPr>
          <a:xfrm flipV="1">
            <a:off x="4653321" y="2625364"/>
            <a:ext cx="1150448" cy="412799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" name="Straight Connector 37">
            <a:extLst>
              <a:ext uri="{FF2B5EF4-FFF2-40B4-BE49-F238E27FC236}">
                <a16:creationId xmlns:a16="http://schemas.microsoft.com/office/drawing/2014/main" id="{ADB3F3C3-3FC5-4E80-A938-6BA41BC682F9}"/>
              </a:ext>
            </a:extLst>
          </p:cNvPr>
          <p:cNvCxnSpPr>
            <a:stCxn id="14" idx="4"/>
            <a:endCxn id="18" idx="0"/>
          </p:cNvCxnSpPr>
          <p:nvPr/>
        </p:nvCxnSpPr>
        <p:spPr>
          <a:xfrm flipH="1">
            <a:off x="5803769" y="2771479"/>
            <a:ext cx="146116" cy="906544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0" name="Straight Connector 39">
            <a:extLst>
              <a:ext uri="{FF2B5EF4-FFF2-40B4-BE49-F238E27FC236}">
                <a16:creationId xmlns:a16="http://schemas.microsoft.com/office/drawing/2014/main" id="{4F240A41-A840-4A65-961F-5E7652557F73}"/>
              </a:ext>
            </a:extLst>
          </p:cNvPr>
          <p:cNvCxnSpPr>
            <a:stCxn id="18" idx="2"/>
            <a:endCxn id="20" idx="6"/>
          </p:cNvCxnSpPr>
          <p:nvPr/>
        </p:nvCxnSpPr>
        <p:spPr>
          <a:xfrm flipH="1">
            <a:off x="3415642" y="3824139"/>
            <a:ext cx="2242011" cy="292231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2" name="Straight Connector 41">
            <a:extLst>
              <a:ext uri="{FF2B5EF4-FFF2-40B4-BE49-F238E27FC236}">
                <a16:creationId xmlns:a16="http://schemas.microsoft.com/office/drawing/2014/main" id="{4A76D68E-0F11-4738-B7F8-CE9D7D686759}"/>
              </a:ext>
            </a:extLst>
          </p:cNvPr>
          <p:cNvCxnSpPr>
            <a:stCxn id="16" idx="3"/>
            <a:endCxn id="20" idx="7"/>
          </p:cNvCxnSpPr>
          <p:nvPr/>
        </p:nvCxnSpPr>
        <p:spPr>
          <a:xfrm flipH="1">
            <a:off x="3372846" y="3244802"/>
            <a:ext cx="1073836" cy="768248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4" name="Straight Connector 43">
            <a:extLst>
              <a:ext uri="{FF2B5EF4-FFF2-40B4-BE49-F238E27FC236}">
                <a16:creationId xmlns:a16="http://schemas.microsoft.com/office/drawing/2014/main" id="{D794DE45-B226-4516-A141-C0385F857621}"/>
              </a:ext>
            </a:extLst>
          </p:cNvPr>
          <p:cNvCxnSpPr>
            <a:stCxn id="20" idx="1"/>
            <a:endCxn id="5" idx="5"/>
          </p:cNvCxnSpPr>
          <p:nvPr/>
        </p:nvCxnSpPr>
        <p:spPr>
          <a:xfrm flipH="1" flipV="1">
            <a:off x="613936" y="2304478"/>
            <a:ext cx="2552271" cy="1708572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48" name="TextBox 47">
                <a:extLst>
                  <a:ext uri="{FF2B5EF4-FFF2-40B4-BE49-F238E27FC236}">
                    <a16:creationId xmlns:a16="http://schemas.microsoft.com/office/drawing/2014/main" id="{7440285E-646E-4CF4-AFE1-807599AA105C}"/>
                  </a:ext>
                </a:extLst>
              </p:cNvPr>
              <p:cNvSpPr txBox="1"/>
              <p:nvPr/>
            </p:nvSpPr>
            <p:spPr>
              <a:xfrm>
                <a:off x="6446986" y="1648945"/>
                <a:ext cx="6094428" cy="4919616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marL="0" indent="0">
                  <a:buNone/>
                </a:pPr>
                <a:r>
                  <a:rPr lang="en-GB" sz="1800"/>
                  <a:t>minimise 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nary>
                        <m:naryPr>
                          <m:chr m:val="∑"/>
                          <m:supHide m:val="on"/>
                          <m:ctrlPr>
                            <a:rPr lang="en-GB" sz="1800" i="1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en-GB" sz="1800" b="0" i="1" smtClean="0">
                              <a:latin typeface="Cambria Math" panose="02040503050406030204" pitchFamily="18" charset="0"/>
                            </a:rPr>
                            <m:t>𝑢</m:t>
                          </m:r>
                          <m:r>
                            <a:rPr lang="en-GB" sz="1800" b="0" i="1" smtClean="0">
                              <a:latin typeface="Cambria Math" panose="02040503050406030204" pitchFamily="18" charset="0"/>
                            </a:rPr>
                            <m:t>∈</m:t>
                          </m:r>
                          <m:r>
                            <a:rPr lang="en-GB" sz="1800" b="0" i="1" smtClean="0">
                              <a:latin typeface="Cambria Math" panose="02040503050406030204" pitchFamily="18" charset="0"/>
                            </a:rPr>
                            <m:t>𝑉</m:t>
                          </m:r>
                        </m:sub>
                        <m:sup/>
                        <m:e>
                          <m:sSub>
                            <m:sSubPr>
                              <m:ctrlPr>
                                <a:rPr lang="en-GB" sz="18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GB" sz="1800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GB" sz="1800" b="0" i="1" smtClean="0">
                                  <a:latin typeface="Cambria Math" panose="02040503050406030204" pitchFamily="18" charset="0"/>
                                </a:rPr>
                                <m:t>𝑢</m:t>
                              </m:r>
                            </m:sub>
                          </m:sSub>
                        </m:e>
                      </m:nary>
                      <m:r>
                        <a:rPr lang="en-GB" sz="1800" b="0" i="0" smtClean="0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GB" sz="18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sz="1800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GB" sz="18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GB" sz="1800" b="0" i="1" smtClean="0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GB" sz="18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sz="1800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GB" sz="18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en-GB" sz="1800" b="0" i="1" smtClean="0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GB" sz="18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sz="1800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GB" sz="1800" b="0" i="1" smtClean="0">
                              <a:latin typeface="Cambria Math" panose="02040503050406030204" pitchFamily="18" charset="0"/>
                            </a:rPr>
                            <m:t>3</m:t>
                          </m:r>
                        </m:sub>
                      </m:sSub>
                      <m:r>
                        <a:rPr lang="en-GB" sz="1800" b="0" i="1" smtClean="0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GB" sz="18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sz="1800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GB" sz="1800" b="0" i="1" smtClean="0">
                              <a:latin typeface="Cambria Math" panose="02040503050406030204" pitchFamily="18" charset="0"/>
                            </a:rPr>
                            <m:t>4</m:t>
                          </m:r>
                        </m:sub>
                      </m:sSub>
                      <m:r>
                        <a:rPr lang="en-GB" sz="1800" b="0" i="1" smtClean="0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GB" sz="18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sz="1800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GB" sz="1800" b="0" i="1" smtClean="0">
                              <a:latin typeface="Cambria Math" panose="02040503050406030204" pitchFamily="18" charset="0"/>
                            </a:rPr>
                            <m:t>5</m:t>
                          </m:r>
                        </m:sub>
                      </m:sSub>
                      <m:r>
                        <a:rPr lang="en-GB" sz="1800" b="0" i="1" smtClean="0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GB" sz="18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sz="1800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GB" sz="1800" b="0" i="1" smtClean="0">
                              <a:latin typeface="Cambria Math" panose="02040503050406030204" pitchFamily="18" charset="0"/>
                            </a:rPr>
                            <m:t>6</m:t>
                          </m:r>
                        </m:sub>
                      </m:sSub>
                      <m:r>
                        <a:rPr lang="en-GB" sz="1800" b="0" i="1" smtClean="0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GB" sz="18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sz="1800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GB" sz="1800" b="0" i="1" smtClean="0">
                              <a:latin typeface="Cambria Math" panose="02040503050406030204" pitchFamily="18" charset="0"/>
                            </a:rPr>
                            <m:t>7</m:t>
                          </m:r>
                        </m:sub>
                      </m:sSub>
                      <m:r>
                        <a:rPr lang="en-GB" sz="1800" b="0" i="1" smtClean="0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GB" sz="18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sz="1800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GB" sz="1800" b="0" i="1" smtClean="0">
                              <a:latin typeface="Cambria Math" panose="02040503050406030204" pitchFamily="18" charset="0"/>
                            </a:rPr>
                            <m:t>8</m:t>
                          </m:r>
                        </m:sub>
                      </m:sSub>
                    </m:oMath>
                  </m:oMathPara>
                </a14:m>
                <a:endParaRPr lang="en-GB" sz="1800"/>
              </a:p>
              <a:p>
                <a:pPr marL="0" indent="0">
                  <a:buNone/>
                </a:pPr>
                <a:endParaRPr lang="en-GB" sz="1800"/>
              </a:p>
              <a:p>
                <a:pPr marL="0" indent="0">
                  <a:buNone/>
                </a:pPr>
                <a:r>
                  <a:rPr lang="en-GB" sz="1800"/>
                  <a:t>subject to:</a:t>
                </a: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GB" sz="18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sz="180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GB" sz="18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GB" sz="1800" b="0" i="1" smtClean="0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GB" sz="18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sz="1800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GB" sz="18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en-GB" sz="1800" b="0" i="1" smtClean="0">
                          <a:latin typeface="Cambria Math" panose="02040503050406030204" pitchFamily="18" charset="0"/>
                        </a:rPr>
                        <m:t>≥1</m:t>
                      </m:r>
                    </m:oMath>
                  </m:oMathPara>
                </a14:m>
                <a:endParaRPr lang="en-GB" sz="1800" b="0" i="1">
                  <a:latin typeface="Cambria Math" panose="02040503050406030204" pitchFamily="18" charset="0"/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GB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i="1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GB" i="1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GB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i="1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8</m:t>
                          </m:r>
                        </m:sub>
                      </m:sSub>
                      <m:r>
                        <a:rPr lang="en-GB" i="1">
                          <a:latin typeface="Cambria Math" panose="02040503050406030204" pitchFamily="18" charset="0"/>
                        </a:rPr>
                        <m:t>≥1</m:t>
                      </m:r>
                    </m:oMath>
                    <m:oMath xmlns:m="http://schemas.openxmlformats.org/officeDocument/2006/math">
                      <m:sSub>
                        <m:sSubPr>
                          <m:ctrlPr>
                            <a:rPr lang="en-GB" sz="18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sz="180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GB" sz="18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en-GB" sz="1800" b="0" i="1" smtClean="0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GB" sz="18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sz="1800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GB" sz="1800" b="0" i="1" smtClean="0">
                              <a:latin typeface="Cambria Math" panose="02040503050406030204" pitchFamily="18" charset="0"/>
                            </a:rPr>
                            <m:t>3</m:t>
                          </m:r>
                        </m:sub>
                      </m:sSub>
                      <m:r>
                        <a:rPr lang="en-GB" sz="1800" b="0" i="1" smtClean="0">
                          <a:latin typeface="Cambria Math" panose="02040503050406030204" pitchFamily="18" charset="0"/>
                        </a:rPr>
                        <m:t>≥1</m:t>
                      </m:r>
                    </m:oMath>
                  </m:oMathPara>
                </a14:m>
                <a:endParaRPr lang="en-GB" sz="1800" b="0" i="1">
                  <a:latin typeface="Cambria Math" panose="02040503050406030204" pitchFamily="18" charset="0"/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GB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i="1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en-GB" i="1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GB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i="1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5</m:t>
                          </m:r>
                        </m:sub>
                      </m:sSub>
                      <m:r>
                        <a:rPr lang="en-GB" i="1">
                          <a:latin typeface="Cambria Math" panose="02040503050406030204" pitchFamily="18" charset="0"/>
                        </a:rPr>
                        <m:t>≥1</m:t>
                      </m:r>
                    </m:oMath>
                    <m:oMath xmlns:m="http://schemas.openxmlformats.org/officeDocument/2006/math">
                      <m:sSub>
                        <m:sSubPr>
                          <m:ctrlPr>
                            <a:rPr lang="en-GB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i="1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3</m:t>
                          </m:r>
                        </m:sub>
                      </m:sSub>
                      <m:r>
                        <a:rPr lang="en-GB" i="1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GB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i="1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4</m:t>
                          </m:r>
                        </m:sub>
                      </m:sSub>
                      <m:r>
                        <a:rPr lang="en-GB" i="1">
                          <a:latin typeface="Cambria Math" panose="02040503050406030204" pitchFamily="18" charset="0"/>
                        </a:rPr>
                        <m:t>≥1</m:t>
                      </m:r>
                    </m:oMath>
                    <m:oMath xmlns:m="http://schemas.openxmlformats.org/officeDocument/2006/math">
                      <m:sSub>
                        <m:sSubPr>
                          <m:ctrlPr>
                            <a:rPr lang="en-GB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i="1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4</m:t>
                          </m:r>
                        </m:sub>
                      </m:sSub>
                      <m:r>
                        <a:rPr lang="en-GB" i="1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GB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i="1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5</m:t>
                          </m:r>
                        </m:sub>
                      </m:sSub>
                      <m:r>
                        <a:rPr lang="en-GB" i="1">
                          <a:latin typeface="Cambria Math" panose="02040503050406030204" pitchFamily="18" charset="0"/>
                        </a:rPr>
                        <m:t>≥1</m:t>
                      </m:r>
                    </m:oMath>
                    <m:oMath xmlns:m="http://schemas.openxmlformats.org/officeDocument/2006/math">
                      <m:sSub>
                        <m:sSubPr>
                          <m:ctrlPr>
                            <a:rPr lang="en-GB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i="1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5</m:t>
                          </m:r>
                        </m:sub>
                      </m:sSub>
                      <m:r>
                        <a:rPr lang="en-GB" i="1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GB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i="1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6</m:t>
                          </m:r>
                        </m:sub>
                      </m:sSub>
                      <m:r>
                        <a:rPr lang="en-GB" i="1">
                          <a:latin typeface="Cambria Math" panose="02040503050406030204" pitchFamily="18" charset="0"/>
                        </a:rPr>
                        <m:t>≥1</m:t>
                      </m:r>
                    </m:oMath>
                  </m:oMathPara>
                </a14:m>
                <a:endParaRPr lang="en-GB" i="1">
                  <a:latin typeface="Cambria Math" panose="02040503050406030204" pitchFamily="18" charset="0"/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GB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i="1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5</m:t>
                          </m:r>
                        </m:sub>
                      </m:sSub>
                      <m:r>
                        <a:rPr lang="en-GB" i="1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GB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i="1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8</m:t>
                          </m:r>
                        </m:sub>
                      </m:sSub>
                      <m:r>
                        <a:rPr lang="en-GB" i="1">
                          <a:latin typeface="Cambria Math" panose="02040503050406030204" pitchFamily="18" charset="0"/>
                        </a:rPr>
                        <m:t>≥1</m:t>
                      </m:r>
                    </m:oMath>
                    <m:oMath xmlns:m="http://schemas.openxmlformats.org/officeDocument/2006/math">
                      <m:sSub>
                        <m:sSubPr>
                          <m:ctrlPr>
                            <a:rPr lang="en-GB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i="1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6</m:t>
                          </m:r>
                        </m:sub>
                      </m:sSub>
                      <m:r>
                        <a:rPr lang="en-GB" i="1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GB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i="1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7</m:t>
                          </m:r>
                        </m:sub>
                      </m:sSub>
                      <m:r>
                        <a:rPr lang="en-GB" i="1">
                          <a:latin typeface="Cambria Math" panose="02040503050406030204" pitchFamily="18" charset="0"/>
                        </a:rPr>
                        <m:t>≥1</m:t>
                      </m:r>
                    </m:oMath>
                    <m:oMath xmlns:m="http://schemas.openxmlformats.org/officeDocument/2006/math">
                      <m:sSub>
                        <m:sSubPr>
                          <m:ctrlPr>
                            <a:rPr lang="en-GB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i="1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7</m:t>
                          </m:r>
                        </m:sub>
                      </m:sSub>
                      <m:r>
                        <a:rPr lang="en-GB" i="1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GB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i="1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8</m:t>
                          </m:r>
                        </m:sub>
                      </m:sSub>
                      <m:r>
                        <a:rPr lang="en-GB" i="1">
                          <a:latin typeface="Cambria Math" panose="02040503050406030204" pitchFamily="18" charset="0"/>
                        </a:rPr>
                        <m:t>≥1</m:t>
                      </m:r>
                    </m:oMath>
                  </m:oMathPara>
                </a14:m>
                <a:br>
                  <a:rPr lang="en-GB" sz="1800" b="0" i="1">
                    <a:latin typeface="Cambria Math" panose="02040503050406030204" pitchFamily="18" charset="0"/>
                  </a:rPr>
                </a:br>
                <a:endParaRPr lang="en-GB" sz="1800" b="0" i="1">
                  <a:latin typeface="Cambria Math" panose="02040503050406030204" pitchFamily="18" charset="0"/>
                </a:endParaRPr>
              </a:p>
              <a:p>
                <a:pPr marL="0" indent="0">
                  <a:buNone/>
                </a:pPr>
                <a:endParaRPr lang="en-GB" i="1">
                  <a:latin typeface="Cambria Math" panose="02040503050406030204" pitchFamily="18" charset="0"/>
                </a:endParaRP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GB" sz="18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sz="1800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GB" sz="1800" b="0" i="1" smtClean="0">
                              <a:latin typeface="Cambria Math" panose="02040503050406030204" pitchFamily="18" charset="0"/>
                            </a:rPr>
                            <m:t>𝑢</m:t>
                          </m:r>
                        </m:sub>
                      </m:sSub>
                      <m:r>
                        <a:rPr lang="en-GB" sz="1800" b="0" i="1" smtClean="0">
                          <a:latin typeface="Cambria Math" panose="02040503050406030204" pitchFamily="18" charset="0"/>
                        </a:rPr>
                        <m:t>∈{0,1}</m:t>
                      </m:r>
                    </m:oMath>
                  </m:oMathPara>
                </a14:m>
                <a:endParaRPr lang="en-GB" sz="1800"/>
              </a:p>
            </p:txBody>
          </p:sp>
        </mc:Choice>
        <mc:Fallback xmlns="">
          <p:sp>
            <p:nvSpPr>
              <p:cNvPr id="48" name="TextBox 47">
                <a:extLst>
                  <a:ext uri="{FF2B5EF4-FFF2-40B4-BE49-F238E27FC236}">
                    <a16:creationId xmlns:a16="http://schemas.microsoft.com/office/drawing/2014/main" id="{7440285E-646E-4CF4-AFE1-807599AA105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446986" y="1648945"/>
                <a:ext cx="6094428" cy="4919616"/>
              </a:xfrm>
              <a:prstGeom prst="rect">
                <a:avLst/>
              </a:prstGeom>
              <a:blipFill>
                <a:blip r:embed="rId2"/>
                <a:stretch>
                  <a:fillRect l="-901" t="-619" b="-12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TextBox 2">
            <a:extLst>
              <a:ext uri="{FF2B5EF4-FFF2-40B4-BE49-F238E27FC236}">
                <a16:creationId xmlns:a16="http://schemas.microsoft.com/office/drawing/2014/main" id="{C414B8E7-4051-4B42-8C13-6838E29175B5}"/>
              </a:ext>
            </a:extLst>
          </p:cNvPr>
          <p:cNvSpPr txBox="1"/>
          <p:nvPr/>
        </p:nvSpPr>
        <p:spPr>
          <a:xfrm>
            <a:off x="1008668" y="5269584"/>
            <a:ext cx="194636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/>
              <a:t>Another possibility</a:t>
            </a:r>
          </a:p>
        </p:txBody>
      </p:sp>
    </p:spTree>
    <p:extLst>
      <p:ext uri="{BB962C8B-B14F-4D97-AF65-F5344CB8AC3E}">
        <p14:creationId xmlns:p14="http://schemas.microsoft.com/office/powerpoint/2010/main" val="3304692630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420B4EFC-5B2E-46AC-92BE-FA8317FB5FEB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GB"/>
              <a:t>Maximum Weight Matching</a:t>
            </a:r>
            <a:br>
              <a:rPr lang="en-GB"/>
            </a:br>
            <a:r>
              <a:rPr lang="en-GB"/>
              <a:t>and Assignment Problem</a:t>
            </a:r>
          </a:p>
        </p:txBody>
      </p:sp>
      <p:sp>
        <p:nvSpPr>
          <p:cNvPr id="5" name="Subtitle 4">
            <a:extLst>
              <a:ext uri="{FF2B5EF4-FFF2-40B4-BE49-F238E27FC236}">
                <a16:creationId xmlns:a16="http://schemas.microsoft.com/office/drawing/2014/main" id="{3A3C1D9E-087F-4F10-82A7-128B5EF1E31E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119715477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3E593E6-3D2F-4C7E-80B2-F78D636A9E0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706293"/>
          </a:xfrm>
        </p:spPr>
        <p:txBody>
          <a:bodyPr/>
          <a:lstStyle/>
          <a:p>
            <a:r>
              <a:rPr lang="en-GB"/>
              <a:t>Maximum Matching</a:t>
            </a:r>
          </a:p>
        </p:txBody>
      </p:sp>
      <p:pic>
        <p:nvPicPr>
          <p:cNvPr id="9218" name="Picture 2">
            <a:extLst>
              <a:ext uri="{FF2B5EF4-FFF2-40B4-BE49-F238E27FC236}">
                <a16:creationId xmlns:a16="http://schemas.microsoft.com/office/drawing/2014/main" id="{F96BEE7E-F8BC-4474-B13D-DD5F5C1D571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2549" y="3848661"/>
            <a:ext cx="12192000" cy="24384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14" name="Content Placeholder 5">
            <a:extLst>
              <a:ext uri="{FF2B5EF4-FFF2-40B4-BE49-F238E27FC236}">
                <a16:creationId xmlns:a16="http://schemas.microsoft.com/office/drawing/2014/main" id="{75F47005-A2E3-41C8-AB54-95A28ABF80A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351338"/>
          </a:xfrm>
        </p:spPr>
        <p:txBody>
          <a:bodyPr/>
          <a:lstStyle/>
          <a:p>
            <a:r>
              <a:rPr lang="en-GB"/>
              <a:t>Matching – Set of edges without common vertices</a:t>
            </a:r>
          </a:p>
          <a:p>
            <a:r>
              <a:rPr lang="en-GB"/>
              <a:t>Maximum Matching – Matching with the largest number of edges </a:t>
            </a:r>
          </a:p>
          <a:p>
            <a:pPr marL="0" indent="0">
              <a:buNone/>
            </a:pPr>
            <a:r>
              <a:rPr lang="en-GB" u="sng"/>
              <a:t>Examples of Maximum Matchings</a:t>
            </a:r>
          </a:p>
        </p:txBody>
      </p:sp>
    </p:spTree>
    <p:extLst>
      <p:ext uri="{BB962C8B-B14F-4D97-AF65-F5344CB8AC3E}">
        <p14:creationId xmlns:p14="http://schemas.microsoft.com/office/powerpoint/2010/main" val="4017261136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3E593E6-3D2F-4C7E-80B2-F78D636A9E0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706293"/>
          </a:xfrm>
        </p:spPr>
        <p:txBody>
          <a:bodyPr/>
          <a:lstStyle/>
          <a:p>
            <a:r>
              <a:rPr lang="en-GB"/>
              <a:t>Perfect Matching</a:t>
            </a:r>
          </a:p>
        </p:txBody>
      </p:sp>
      <p:sp>
        <p:nvSpPr>
          <p:cNvPr id="114" name="Content Placeholder 5">
            <a:extLst>
              <a:ext uri="{FF2B5EF4-FFF2-40B4-BE49-F238E27FC236}">
                <a16:creationId xmlns:a16="http://schemas.microsoft.com/office/drawing/2014/main" id="{75F47005-A2E3-41C8-AB54-95A28ABF80A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351338"/>
          </a:xfrm>
        </p:spPr>
        <p:txBody>
          <a:bodyPr/>
          <a:lstStyle/>
          <a:p>
            <a:r>
              <a:rPr lang="en-GB"/>
              <a:t>Matching – Set of edges without common vertices</a:t>
            </a:r>
          </a:p>
          <a:p>
            <a:r>
              <a:rPr lang="en-GB"/>
              <a:t>Perfect Matching – Matching that includes every vertex</a:t>
            </a:r>
          </a:p>
          <a:p>
            <a:pPr marL="0" indent="0">
              <a:buNone/>
            </a:pPr>
            <a:r>
              <a:rPr lang="en-GB" u="sng"/>
              <a:t>Examples</a:t>
            </a:r>
          </a:p>
        </p:txBody>
      </p:sp>
      <p:pic>
        <p:nvPicPr>
          <p:cNvPr id="21506" name="Picture 2">
            <a:extLst>
              <a:ext uri="{FF2B5EF4-FFF2-40B4-BE49-F238E27FC236}">
                <a16:creationId xmlns:a16="http://schemas.microsoft.com/office/drawing/2014/main" id="{5CF407B0-26ED-4C38-B05A-87B80BC54BD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637817" y="3679547"/>
            <a:ext cx="6916365" cy="268464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795052909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3E593E6-3D2F-4C7E-80B2-F78D636A9E0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706293"/>
          </a:xfrm>
        </p:spPr>
        <p:txBody>
          <a:bodyPr/>
          <a:lstStyle/>
          <a:p>
            <a:r>
              <a:rPr lang="en-GB"/>
              <a:t>Maximum Weight Matching</a:t>
            </a:r>
          </a:p>
        </p:txBody>
      </p:sp>
      <p:pic>
        <p:nvPicPr>
          <p:cNvPr id="6" name="Content Placeholder 5">
            <a:extLst>
              <a:ext uri="{FF2B5EF4-FFF2-40B4-BE49-F238E27FC236}">
                <a16:creationId xmlns:a16="http://schemas.microsoft.com/office/drawing/2014/main" id="{43455CEF-B33D-4A8C-B8F6-68EB7A6FE065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990599" y="4164734"/>
            <a:ext cx="5105400" cy="2286000"/>
          </a:xfrm>
          <a:prstGeom prst="rect">
            <a:avLst/>
          </a:prstGeom>
        </p:spPr>
      </p:pic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4B8968DC-CD40-450F-A2DA-9F526821B6C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47737" y="1550266"/>
            <a:ext cx="10296525" cy="2724150"/>
          </a:xfrm>
          <a:prstGeom prst="rect">
            <a:avLst/>
          </a:prstGeom>
        </p:spPr>
      </p:pic>
      <p:sp>
        <p:nvSpPr>
          <p:cNvPr id="115" name="TextBox 114">
            <a:extLst>
              <a:ext uri="{FF2B5EF4-FFF2-40B4-BE49-F238E27FC236}">
                <a16:creationId xmlns:a16="http://schemas.microsoft.com/office/drawing/2014/main" id="{61C26DDD-2656-43D7-A910-BEA83E97DB43}"/>
              </a:ext>
            </a:extLst>
          </p:cNvPr>
          <p:cNvSpPr txBox="1"/>
          <p:nvPr/>
        </p:nvSpPr>
        <p:spPr>
          <a:xfrm>
            <a:off x="6874497" y="4753264"/>
            <a:ext cx="6094428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/>
              <a:t>Select a set of edges without common vertices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/>
              <a:t>Maximise the weight of the edges</a:t>
            </a:r>
          </a:p>
          <a:p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082327340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3E593E6-3D2F-4C7E-80B2-F78D636A9E0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706293"/>
          </a:xfrm>
        </p:spPr>
        <p:txBody>
          <a:bodyPr/>
          <a:lstStyle/>
          <a:p>
            <a:r>
              <a:rPr lang="en-GB"/>
              <a:t>Balanced Assignment Problem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410F588-CD01-495F-9E8F-658803448F0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432874"/>
            <a:ext cx="10515600" cy="4744089"/>
          </a:xfrm>
        </p:spPr>
        <p:txBody>
          <a:bodyPr/>
          <a:lstStyle/>
          <a:p>
            <a:r>
              <a:rPr lang="en-GB"/>
              <a:t>Assign a worker to each job – minimise completion time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5267" name="Table 5267">
                <a:extLst>
                  <a:ext uri="{FF2B5EF4-FFF2-40B4-BE49-F238E27FC236}">
                    <a16:creationId xmlns:a16="http://schemas.microsoft.com/office/drawing/2014/main" id="{2FF5C1BF-4138-49A6-B0C2-7F98D7F71C5F}"/>
                  </a:ext>
                </a:extLst>
              </p:cNvPr>
              <p:cNvGraphicFramePr>
                <a:graphicFrameLocks noGrp="1"/>
              </p:cNvGraphicFramePr>
              <p:nvPr/>
            </p:nvGraphicFramePr>
            <p:xfrm>
              <a:off x="263165" y="2501900"/>
              <a:ext cx="5603710" cy="1854200"/>
            </p:xfrm>
            <a:graphic>
              <a:graphicData uri="http://schemas.openxmlformats.org/drawingml/2006/table">
                <a:tbl>
                  <a:tblPr firstRow="1" firstCol="1" bandRow="1">
                    <a:tableStyleId>{5C22544A-7EE6-4342-B048-85BDC9FD1C3A}</a:tableStyleId>
                  </a:tblPr>
                  <a:tblGrid>
                    <a:gridCol w="1120742">
                      <a:extLst>
                        <a:ext uri="{9D8B030D-6E8A-4147-A177-3AD203B41FA5}">
                          <a16:colId xmlns:a16="http://schemas.microsoft.com/office/drawing/2014/main" val="2571511227"/>
                        </a:ext>
                      </a:extLst>
                    </a:gridCol>
                    <a:gridCol w="1120742">
                      <a:extLst>
                        <a:ext uri="{9D8B030D-6E8A-4147-A177-3AD203B41FA5}">
                          <a16:colId xmlns:a16="http://schemas.microsoft.com/office/drawing/2014/main" val="2761822873"/>
                        </a:ext>
                      </a:extLst>
                    </a:gridCol>
                    <a:gridCol w="1120742">
                      <a:extLst>
                        <a:ext uri="{9D8B030D-6E8A-4147-A177-3AD203B41FA5}">
                          <a16:colId xmlns:a16="http://schemas.microsoft.com/office/drawing/2014/main" val="772889813"/>
                        </a:ext>
                      </a:extLst>
                    </a:gridCol>
                    <a:gridCol w="1120742">
                      <a:extLst>
                        <a:ext uri="{9D8B030D-6E8A-4147-A177-3AD203B41FA5}">
                          <a16:colId xmlns:a16="http://schemas.microsoft.com/office/drawing/2014/main" val="869018946"/>
                        </a:ext>
                      </a:extLst>
                    </a:gridCol>
                    <a:gridCol w="1120742">
                      <a:extLst>
                        <a:ext uri="{9D8B030D-6E8A-4147-A177-3AD203B41FA5}">
                          <a16:colId xmlns:a16="http://schemas.microsoft.com/office/drawing/2014/main" val="3353398207"/>
                        </a:ext>
                      </a:extLst>
                    </a:gridCol>
                  </a:tblGrid>
                  <a:tr h="370840">
                    <a:tc>
                      <a:txBody>
                        <a:bodyPr/>
                        <a:lstStyle/>
                        <a:p>
                          <a:endParaRPr lang="en-GB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GB"/>
                            <a:t>Job 1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GB"/>
                            <a:t>Job 2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GB"/>
                            <a:t>Job 3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GB"/>
                            <a:t>Job 4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962495220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r>
                            <a:rPr lang="en-GB"/>
                            <a:t>Worker 1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GB" b="0" i="1" smtClean="0">
                                    <a:latin typeface="Cambria Math" panose="02040503050406030204" pitchFamily="18" charset="0"/>
                                  </a:rPr>
                                  <m:t>9</m:t>
                                </m:r>
                              </m:oMath>
                            </m:oMathPara>
                          </a14:m>
                          <a:endParaRPr lang="en-GB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GB" b="0" i="1" smtClean="0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oMath>
                            </m:oMathPara>
                          </a14:m>
                          <a:endParaRPr lang="en-GB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GB" b="0" i="1" smtClean="0">
                                    <a:latin typeface="Cambria Math" panose="02040503050406030204" pitchFamily="18" charset="0"/>
                                  </a:rPr>
                                  <m:t>7</m:t>
                                </m:r>
                              </m:oMath>
                            </m:oMathPara>
                          </a14:m>
                          <a:endParaRPr lang="en-GB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GB" b="0" i="1" smtClean="0">
                                    <a:latin typeface="Cambria Math" panose="02040503050406030204" pitchFamily="18" charset="0"/>
                                  </a:rPr>
                                  <m:t>8</m:t>
                                </m:r>
                              </m:oMath>
                            </m:oMathPara>
                          </a14:m>
                          <a:endParaRPr lang="en-GB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624059737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GB"/>
                            <a:t>Worker 2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GB" b="0" i="1" smtClean="0">
                                    <a:latin typeface="Cambria Math" panose="02040503050406030204" pitchFamily="18" charset="0"/>
                                  </a:rPr>
                                  <m:t>6</m:t>
                                </m:r>
                              </m:oMath>
                            </m:oMathPara>
                          </a14:m>
                          <a:endParaRPr lang="en-GB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GB" b="0" i="1" smtClean="0">
                                    <a:latin typeface="Cambria Math" panose="02040503050406030204" pitchFamily="18" charset="0"/>
                                  </a:rPr>
                                  <m:t>4</m:t>
                                </m:r>
                              </m:oMath>
                            </m:oMathPara>
                          </a14:m>
                          <a:endParaRPr lang="en-GB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GB" b="0" i="1" smtClean="0">
                                    <a:latin typeface="Cambria Math" panose="02040503050406030204" pitchFamily="18" charset="0"/>
                                  </a:rPr>
                                  <m:t>3</m:t>
                                </m:r>
                              </m:oMath>
                            </m:oMathPara>
                          </a14:m>
                          <a:endParaRPr lang="en-GB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GB" b="0" i="1" smtClean="0">
                                    <a:latin typeface="Cambria Math" panose="02040503050406030204" pitchFamily="18" charset="0"/>
                                  </a:rPr>
                                  <m:t>7</m:t>
                                </m:r>
                              </m:oMath>
                            </m:oMathPara>
                          </a14:m>
                          <a:endParaRPr lang="en-GB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698853676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GB"/>
                            <a:t>Worker 3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GB" b="0" i="1" smtClean="0">
                                    <a:latin typeface="Cambria Math" panose="02040503050406030204" pitchFamily="18" charset="0"/>
                                  </a:rPr>
                                  <m:t>5</m:t>
                                </m:r>
                              </m:oMath>
                            </m:oMathPara>
                          </a14:m>
                          <a:endParaRPr lang="en-GB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GB" b="0" i="1" smtClean="0">
                                    <a:latin typeface="Cambria Math" panose="02040503050406030204" pitchFamily="18" charset="0"/>
                                  </a:rPr>
                                  <m:t>8</m:t>
                                </m:r>
                              </m:oMath>
                            </m:oMathPara>
                          </a14:m>
                          <a:endParaRPr lang="en-GB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GB" b="0" i="1" smtClean="0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oMath>
                            </m:oMathPara>
                          </a14:m>
                          <a:endParaRPr lang="en-GB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GB" b="0" i="1" smtClean="0">
                                    <a:latin typeface="Cambria Math" panose="02040503050406030204" pitchFamily="18" charset="0"/>
                                  </a:rPr>
                                  <m:t>8</m:t>
                                </m:r>
                              </m:oMath>
                            </m:oMathPara>
                          </a14:m>
                          <a:endParaRPr lang="en-GB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4201405043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GB"/>
                            <a:t>Worker 4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GB" b="0" i="1" smtClean="0">
                                    <a:latin typeface="Cambria Math" panose="02040503050406030204" pitchFamily="18" charset="0"/>
                                  </a:rPr>
                                  <m:t>7</m:t>
                                </m:r>
                              </m:oMath>
                            </m:oMathPara>
                          </a14:m>
                          <a:endParaRPr lang="en-GB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GB" b="0" i="1" smtClean="0">
                                    <a:latin typeface="Cambria Math" panose="02040503050406030204" pitchFamily="18" charset="0"/>
                                  </a:rPr>
                                  <m:t>6</m:t>
                                </m:r>
                              </m:oMath>
                            </m:oMathPara>
                          </a14:m>
                          <a:endParaRPr lang="en-GB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GB" b="0" i="1" smtClean="0">
                                    <a:latin typeface="Cambria Math" panose="02040503050406030204" pitchFamily="18" charset="0"/>
                                  </a:rPr>
                                  <m:t>9</m:t>
                                </m:r>
                              </m:oMath>
                            </m:oMathPara>
                          </a14:m>
                          <a:endParaRPr lang="en-GB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GB" b="0" i="1" smtClean="0">
                                    <a:latin typeface="Cambria Math" panose="02040503050406030204" pitchFamily="18" charset="0"/>
                                  </a:rPr>
                                  <m:t>4</m:t>
                                </m:r>
                              </m:oMath>
                            </m:oMathPara>
                          </a14:m>
                          <a:endParaRPr lang="en-GB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4119807754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5267" name="Table 5267">
                <a:extLst>
                  <a:ext uri="{FF2B5EF4-FFF2-40B4-BE49-F238E27FC236}">
                    <a16:creationId xmlns:a16="http://schemas.microsoft.com/office/drawing/2014/main" id="{2FF5C1BF-4138-49A6-B0C2-7F98D7F71C5F}"/>
                  </a:ext>
                </a:extLst>
              </p:cNvPr>
              <p:cNvGraphicFramePr>
                <a:graphicFrameLocks noGrp="1"/>
              </p:cNvGraphicFramePr>
              <p:nvPr/>
            </p:nvGraphicFramePr>
            <p:xfrm>
              <a:off x="263165" y="2501900"/>
              <a:ext cx="5603710" cy="1854200"/>
            </p:xfrm>
            <a:graphic>
              <a:graphicData uri="http://schemas.openxmlformats.org/drawingml/2006/table">
                <a:tbl>
                  <a:tblPr firstRow="1" firstCol="1" bandRow="1">
                    <a:tableStyleId>{5C22544A-7EE6-4342-B048-85BDC9FD1C3A}</a:tableStyleId>
                  </a:tblPr>
                  <a:tblGrid>
                    <a:gridCol w="1120742">
                      <a:extLst>
                        <a:ext uri="{9D8B030D-6E8A-4147-A177-3AD203B41FA5}">
                          <a16:colId xmlns:a16="http://schemas.microsoft.com/office/drawing/2014/main" val="2571511227"/>
                        </a:ext>
                      </a:extLst>
                    </a:gridCol>
                    <a:gridCol w="1120742">
                      <a:extLst>
                        <a:ext uri="{9D8B030D-6E8A-4147-A177-3AD203B41FA5}">
                          <a16:colId xmlns:a16="http://schemas.microsoft.com/office/drawing/2014/main" val="2761822873"/>
                        </a:ext>
                      </a:extLst>
                    </a:gridCol>
                    <a:gridCol w="1120742">
                      <a:extLst>
                        <a:ext uri="{9D8B030D-6E8A-4147-A177-3AD203B41FA5}">
                          <a16:colId xmlns:a16="http://schemas.microsoft.com/office/drawing/2014/main" val="772889813"/>
                        </a:ext>
                      </a:extLst>
                    </a:gridCol>
                    <a:gridCol w="1120742">
                      <a:extLst>
                        <a:ext uri="{9D8B030D-6E8A-4147-A177-3AD203B41FA5}">
                          <a16:colId xmlns:a16="http://schemas.microsoft.com/office/drawing/2014/main" val="869018946"/>
                        </a:ext>
                      </a:extLst>
                    </a:gridCol>
                    <a:gridCol w="1120742">
                      <a:extLst>
                        <a:ext uri="{9D8B030D-6E8A-4147-A177-3AD203B41FA5}">
                          <a16:colId xmlns:a16="http://schemas.microsoft.com/office/drawing/2014/main" val="3353398207"/>
                        </a:ext>
                      </a:extLst>
                    </a:gridCol>
                  </a:tblGrid>
                  <a:tr h="370840">
                    <a:tc>
                      <a:txBody>
                        <a:bodyPr/>
                        <a:lstStyle/>
                        <a:p>
                          <a:endParaRPr lang="en-GB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GB"/>
                            <a:t>Job 1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GB"/>
                            <a:t>Job 2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GB"/>
                            <a:t>Job 3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GB"/>
                            <a:t>Job 4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962495220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r>
                            <a:rPr lang="en-GB"/>
                            <a:t>Worker 1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2"/>
                          <a:stretch>
                            <a:fillRect l="-100543" t="-108197" r="-302174" b="-32459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2"/>
                          <a:stretch>
                            <a:fillRect l="-200543" t="-108197" r="-202174" b="-32459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2"/>
                          <a:stretch>
                            <a:fillRect l="-300543" t="-108197" r="-102174" b="-32459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2"/>
                          <a:stretch>
                            <a:fillRect l="-400543" t="-108197" r="-2174" b="-324590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624059737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GB"/>
                            <a:t>Worker 2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2"/>
                          <a:stretch>
                            <a:fillRect l="-100543" t="-208197" r="-302174" b="-22459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2"/>
                          <a:stretch>
                            <a:fillRect l="-200543" t="-208197" r="-202174" b="-22459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2"/>
                          <a:stretch>
                            <a:fillRect l="-300543" t="-208197" r="-102174" b="-22459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2"/>
                          <a:stretch>
                            <a:fillRect l="-400543" t="-208197" r="-2174" b="-224590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3698853676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GB"/>
                            <a:t>Worker 3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2"/>
                          <a:stretch>
                            <a:fillRect l="-100543" t="-308197" r="-302174" b="-12459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2"/>
                          <a:stretch>
                            <a:fillRect l="-200543" t="-308197" r="-202174" b="-12459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2"/>
                          <a:stretch>
                            <a:fillRect l="-300543" t="-308197" r="-102174" b="-12459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2"/>
                          <a:stretch>
                            <a:fillRect l="-400543" t="-308197" r="-2174" b="-124590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4201405043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GB"/>
                            <a:t>Worker 4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2"/>
                          <a:stretch>
                            <a:fillRect l="-100543" t="-408197" r="-302174" b="-2459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2"/>
                          <a:stretch>
                            <a:fillRect l="-200543" t="-408197" r="-202174" b="-2459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2"/>
                          <a:stretch>
                            <a:fillRect l="-300543" t="-408197" r="-102174" b="-2459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2"/>
                          <a:stretch>
                            <a:fillRect l="-400543" t="-408197" r="-2174" b="-24590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4119807754"/>
                      </a:ext>
                    </a:extLst>
                  </a:tr>
                </a:tbl>
              </a:graphicData>
            </a:graphic>
          </p:graphicFrame>
        </mc:Fallback>
      </mc:AlternateContent>
      <p:grpSp>
        <p:nvGrpSpPr>
          <p:cNvPr id="6" name="Group 5">
            <a:extLst>
              <a:ext uri="{FF2B5EF4-FFF2-40B4-BE49-F238E27FC236}">
                <a16:creationId xmlns:a16="http://schemas.microsoft.com/office/drawing/2014/main" id="{06280EFC-A85E-4638-8A5F-C21ECE459A82}"/>
              </a:ext>
            </a:extLst>
          </p:cNvPr>
          <p:cNvGrpSpPr/>
          <p:nvPr/>
        </p:nvGrpSpPr>
        <p:grpSpPr>
          <a:xfrm>
            <a:off x="7394713" y="1893545"/>
            <a:ext cx="3959087" cy="3611217"/>
            <a:chOff x="1401417" y="2365513"/>
            <a:chExt cx="3959087" cy="3611217"/>
          </a:xfrm>
        </p:grpSpPr>
        <p:sp>
          <p:nvSpPr>
            <p:cNvPr id="7" name="Oval 6">
              <a:extLst>
                <a:ext uri="{FF2B5EF4-FFF2-40B4-BE49-F238E27FC236}">
                  <a16:creationId xmlns:a16="http://schemas.microsoft.com/office/drawing/2014/main" id="{F1AAFD12-EE8B-4263-8FEF-678A5AE4F815}"/>
                </a:ext>
              </a:extLst>
            </p:cNvPr>
            <p:cNvSpPr/>
            <p:nvPr/>
          </p:nvSpPr>
          <p:spPr>
            <a:xfrm>
              <a:off x="1401417" y="2365513"/>
              <a:ext cx="914400" cy="914400"/>
            </a:xfrm>
            <a:prstGeom prst="ellipse">
              <a:avLst/>
            </a:prstGeom>
            <a:ln w="28575">
              <a:headEnd type="none" w="med" len="med"/>
              <a:tailEnd type="none" w="med" len="me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GB"/>
                <a:t>1</a:t>
              </a:r>
            </a:p>
          </p:txBody>
        </p:sp>
        <p:sp>
          <p:nvSpPr>
            <p:cNvPr id="8" name="Oval 7">
              <a:extLst>
                <a:ext uri="{FF2B5EF4-FFF2-40B4-BE49-F238E27FC236}">
                  <a16:creationId xmlns:a16="http://schemas.microsoft.com/office/drawing/2014/main" id="{4DCD040F-C774-4949-A2C0-9E362AD31262}"/>
                </a:ext>
              </a:extLst>
            </p:cNvPr>
            <p:cNvSpPr/>
            <p:nvPr/>
          </p:nvSpPr>
          <p:spPr>
            <a:xfrm>
              <a:off x="1401417" y="3713921"/>
              <a:ext cx="914400" cy="914400"/>
            </a:xfrm>
            <a:prstGeom prst="ellipse">
              <a:avLst/>
            </a:prstGeom>
            <a:ln w="28575">
              <a:headEnd type="none" w="med" len="med"/>
              <a:tailEnd type="none" w="med" len="me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GB"/>
                <a:t>2</a:t>
              </a:r>
            </a:p>
          </p:txBody>
        </p:sp>
        <p:sp>
          <p:nvSpPr>
            <p:cNvPr id="9" name="Oval 8">
              <a:extLst>
                <a:ext uri="{FF2B5EF4-FFF2-40B4-BE49-F238E27FC236}">
                  <a16:creationId xmlns:a16="http://schemas.microsoft.com/office/drawing/2014/main" id="{88055194-E144-4BC4-B12F-DA80C72A27E0}"/>
                </a:ext>
              </a:extLst>
            </p:cNvPr>
            <p:cNvSpPr/>
            <p:nvPr/>
          </p:nvSpPr>
          <p:spPr>
            <a:xfrm>
              <a:off x="1401417" y="5062330"/>
              <a:ext cx="914400" cy="914400"/>
            </a:xfrm>
            <a:prstGeom prst="ellipse">
              <a:avLst/>
            </a:prstGeom>
            <a:ln w="28575">
              <a:headEnd type="none" w="med" len="med"/>
              <a:tailEnd type="none" w="med" len="me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GB"/>
                <a:t>3</a:t>
              </a:r>
            </a:p>
          </p:txBody>
        </p:sp>
        <p:sp>
          <p:nvSpPr>
            <p:cNvPr id="10" name="Oval 9">
              <a:extLst>
                <a:ext uri="{FF2B5EF4-FFF2-40B4-BE49-F238E27FC236}">
                  <a16:creationId xmlns:a16="http://schemas.microsoft.com/office/drawing/2014/main" id="{5DC40150-CCFA-40B1-8F65-BF76E72B7B3E}"/>
                </a:ext>
              </a:extLst>
            </p:cNvPr>
            <p:cNvSpPr/>
            <p:nvPr/>
          </p:nvSpPr>
          <p:spPr>
            <a:xfrm>
              <a:off x="4446104" y="2365513"/>
              <a:ext cx="914400" cy="914400"/>
            </a:xfrm>
            <a:prstGeom prst="ellipse">
              <a:avLst/>
            </a:prstGeom>
            <a:ln w="28575">
              <a:headEnd type="none" w="med" len="med"/>
              <a:tailEnd type="none" w="med" len="me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GB"/>
                <a:t>1</a:t>
              </a:r>
            </a:p>
          </p:txBody>
        </p:sp>
        <p:sp>
          <p:nvSpPr>
            <p:cNvPr id="11" name="Oval 10">
              <a:extLst>
                <a:ext uri="{FF2B5EF4-FFF2-40B4-BE49-F238E27FC236}">
                  <a16:creationId xmlns:a16="http://schemas.microsoft.com/office/drawing/2014/main" id="{4E1C2953-DC8B-4723-B295-A3486D4709FA}"/>
                </a:ext>
              </a:extLst>
            </p:cNvPr>
            <p:cNvSpPr/>
            <p:nvPr/>
          </p:nvSpPr>
          <p:spPr>
            <a:xfrm>
              <a:off x="4446104" y="3713921"/>
              <a:ext cx="914400" cy="914400"/>
            </a:xfrm>
            <a:prstGeom prst="ellipse">
              <a:avLst/>
            </a:prstGeom>
            <a:ln w="28575">
              <a:headEnd type="none" w="med" len="med"/>
              <a:tailEnd type="none" w="med" len="me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GB"/>
                <a:t>2</a:t>
              </a:r>
            </a:p>
          </p:txBody>
        </p:sp>
        <p:sp>
          <p:nvSpPr>
            <p:cNvPr id="12" name="Oval 11">
              <a:extLst>
                <a:ext uri="{FF2B5EF4-FFF2-40B4-BE49-F238E27FC236}">
                  <a16:creationId xmlns:a16="http://schemas.microsoft.com/office/drawing/2014/main" id="{92200340-A816-4859-8361-61760B2C8990}"/>
                </a:ext>
              </a:extLst>
            </p:cNvPr>
            <p:cNvSpPr/>
            <p:nvPr/>
          </p:nvSpPr>
          <p:spPr>
            <a:xfrm>
              <a:off x="4446104" y="5062330"/>
              <a:ext cx="914400" cy="914400"/>
            </a:xfrm>
            <a:prstGeom prst="ellipse">
              <a:avLst/>
            </a:prstGeom>
            <a:ln w="28575">
              <a:headEnd type="none" w="med" len="med"/>
              <a:tailEnd type="none" w="med" len="me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GB"/>
                <a:t>3</a:t>
              </a:r>
            </a:p>
          </p:txBody>
        </p:sp>
        <p:cxnSp>
          <p:nvCxnSpPr>
            <p:cNvPr id="13" name="Straight Arrow Connector 12">
              <a:extLst>
                <a:ext uri="{FF2B5EF4-FFF2-40B4-BE49-F238E27FC236}">
                  <a16:creationId xmlns:a16="http://schemas.microsoft.com/office/drawing/2014/main" id="{65663B3F-6D63-431B-93EF-70A35F64CC8F}"/>
                </a:ext>
              </a:extLst>
            </p:cNvPr>
            <p:cNvCxnSpPr>
              <a:stCxn id="7" idx="6"/>
              <a:endCxn id="10" idx="2"/>
            </p:cNvCxnSpPr>
            <p:nvPr/>
          </p:nvCxnSpPr>
          <p:spPr>
            <a:xfrm>
              <a:off x="2315817" y="2822713"/>
              <a:ext cx="2130287" cy="0"/>
            </a:xfrm>
            <a:prstGeom prst="straightConnector1">
              <a:avLst/>
            </a:prstGeom>
            <a:ln w="28575"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Straight Arrow Connector 13">
              <a:extLst>
                <a:ext uri="{FF2B5EF4-FFF2-40B4-BE49-F238E27FC236}">
                  <a16:creationId xmlns:a16="http://schemas.microsoft.com/office/drawing/2014/main" id="{1CBBAA8C-8E94-4A92-9D25-9E446C8616D0}"/>
                </a:ext>
              </a:extLst>
            </p:cNvPr>
            <p:cNvCxnSpPr>
              <a:stCxn id="7" idx="6"/>
              <a:endCxn id="11" idx="2"/>
            </p:cNvCxnSpPr>
            <p:nvPr/>
          </p:nvCxnSpPr>
          <p:spPr>
            <a:xfrm>
              <a:off x="2315817" y="2822713"/>
              <a:ext cx="2130287" cy="1348408"/>
            </a:xfrm>
            <a:prstGeom prst="straightConnector1">
              <a:avLst/>
            </a:prstGeom>
            <a:ln w="28575"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Straight Arrow Connector 14">
              <a:extLst>
                <a:ext uri="{FF2B5EF4-FFF2-40B4-BE49-F238E27FC236}">
                  <a16:creationId xmlns:a16="http://schemas.microsoft.com/office/drawing/2014/main" id="{FABCD906-54EF-447C-AAFC-4403514E3EDD}"/>
                </a:ext>
              </a:extLst>
            </p:cNvPr>
            <p:cNvCxnSpPr>
              <a:stCxn id="7" idx="6"/>
              <a:endCxn id="12" idx="2"/>
            </p:cNvCxnSpPr>
            <p:nvPr/>
          </p:nvCxnSpPr>
          <p:spPr>
            <a:xfrm>
              <a:off x="2315817" y="2822713"/>
              <a:ext cx="2130287" cy="2696817"/>
            </a:xfrm>
            <a:prstGeom prst="straightConnector1">
              <a:avLst/>
            </a:prstGeom>
            <a:ln w="28575"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Straight Arrow Connector 15">
              <a:extLst>
                <a:ext uri="{FF2B5EF4-FFF2-40B4-BE49-F238E27FC236}">
                  <a16:creationId xmlns:a16="http://schemas.microsoft.com/office/drawing/2014/main" id="{5E4519FE-7923-4684-ACD7-057A047A18A5}"/>
                </a:ext>
              </a:extLst>
            </p:cNvPr>
            <p:cNvCxnSpPr>
              <a:stCxn id="8" idx="6"/>
              <a:endCxn id="10" idx="2"/>
            </p:cNvCxnSpPr>
            <p:nvPr/>
          </p:nvCxnSpPr>
          <p:spPr>
            <a:xfrm flipV="1">
              <a:off x="2315817" y="2822713"/>
              <a:ext cx="2130287" cy="1348408"/>
            </a:xfrm>
            <a:prstGeom prst="straightConnector1">
              <a:avLst/>
            </a:prstGeom>
            <a:ln w="28575"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Straight Arrow Connector 16">
              <a:extLst>
                <a:ext uri="{FF2B5EF4-FFF2-40B4-BE49-F238E27FC236}">
                  <a16:creationId xmlns:a16="http://schemas.microsoft.com/office/drawing/2014/main" id="{12637B46-7C0B-4824-9D31-C703F00FEB5B}"/>
                </a:ext>
              </a:extLst>
            </p:cNvPr>
            <p:cNvCxnSpPr>
              <a:cxnSpLocks/>
              <a:stCxn id="8" idx="6"/>
              <a:endCxn id="11" idx="2"/>
            </p:cNvCxnSpPr>
            <p:nvPr/>
          </p:nvCxnSpPr>
          <p:spPr>
            <a:xfrm>
              <a:off x="2315817" y="4171121"/>
              <a:ext cx="2130287" cy="0"/>
            </a:xfrm>
            <a:prstGeom prst="straightConnector1">
              <a:avLst/>
            </a:prstGeom>
            <a:ln w="28575"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Straight Arrow Connector 17">
              <a:extLst>
                <a:ext uri="{FF2B5EF4-FFF2-40B4-BE49-F238E27FC236}">
                  <a16:creationId xmlns:a16="http://schemas.microsoft.com/office/drawing/2014/main" id="{0CA763BA-76DC-4B8A-B4D0-63FC015C8FCE}"/>
                </a:ext>
              </a:extLst>
            </p:cNvPr>
            <p:cNvCxnSpPr>
              <a:cxnSpLocks/>
              <a:stCxn id="8" idx="6"/>
              <a:endCxn id="12" idx="2"/>
            </p:cNvCxnSpPr>
            <p:nvPr/>
          </p:nvCxnSpPr>
          <p:spPr>
            <a:xfrm>
              <a:off x="2315817" y="4171121"/>
              <a:ext cx="2130287" cy="1348409"/>
            </a:xfrm>
            <a:prstGeom prst="straightConnector1">
              <a:avLst/>
            </a:prstGeom>
            <a:ln w="28575"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Straight Arrow Connector 18">
              <a:extLst>
                <a:ext uri="{FF2B5EF4-FFF2-40B4-BE49-F238E27FC236}">
                  <a16:creationId xmlns:a16="http://schemas.microsoft.com/office/drawing/2014/main" id="{C0B38595-8C78-4AF8-907A-7CE0FFD4D1F2}"/>
                </a:ext>
              </a:extLst>
            </p:cNvPr>
            <p:cNvCxnSpPr>
              <a:stCxn id="9" idx="6"/>
              <a:endCxn id="10" idx="2"/>
            </p:cNvCxnSpPr>
            <p:nvPr/>
          </p:nvCxnSpPr>
          <p:spPr>
            <a:xfrm flipV="1">
              <a:off x="2315817" y="2822713"/>
              <a:ext cx="2130287" cy="2696817"/>
            </a:xfrm>
            <a:prstGeom prst="straightConnector1">
              <a:avLst/>
            </a:prstGeom>
            <a:ln w="28575"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Straight Arrow Connector 19">
              <a:extLst>
                <a:ext uri="{FF2B5EF4-FFF2-40B4-BE49-F238E27FC236}">
                  <a16:creationId xmlns:a16="http://schemas.microsoft.com/office/drawing/2014/main" id="{1E6B2619-16BE-4179-A0D6-CF29ECF07BEF}"/>
                </a:ext>
              </a:extLst>
            </p:cNvPr>
            <p:cNvCxnSpPr>
              <a:stCxn id="9" idx="6"/>
              <a:endCxn id="12" idx="2"/>
            </p:cNvCxnSpPr>
            <p:nvPr/>
          </p:nvCxnSpPr>
          <p:spPr>
            <a:xfrm>
              <a:off x="2315817" y="5519530"/>
              <a:ext cx="2130287" cy="0"/>
            </a:xfrm>
            <a:prstGeom prst="straightConnector1">
              <a:avLst/>
            </a:prstGeom>
            <a:ln w="28575"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Arrow Connector 20">
              <a:extLst>
                <a:ext uri="{FF2B5EF4-FFF2-40B4-BE49-F238E27FC236}">
                  <a16:creationId xmlns:a16="http://schemas.microsoft.com/office/drawing/2014/main" id="{64ED88E7-7FC2-4E5E-BF47-01DB46FE5C7E}"/>
                </a:ext>
              </a:extLst>
            </p:cNvPr>
            <p:cNvCxnSpPr>
              <a:stCxn id="9" idx="6"/>
              <a:endCxn id="11" idx="2"/>
            </p:cNvCxnSpPr>
            <p:nvPr/>
          </p:nvCxnSpPr>
          <p:spPr>
            <a:xfrm flipV="1">
              <a:off x="2315817" y="4171121"/>
              <a:ext cx="2130287" cy="1348409"/>
            </a:xfrm>
            <a:prstGeom prst="straightConnector1">
              <a:avLst/>
            </a:prstGeom>
            <a:ln w="28575"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2" name="Oval 21">
            <a:extLst>
              <a:ext uri="{FF2B5EF4-FFF2-40B4-BE49-F238E27FC236}">
                <a16:creationId xmlns:a16="http://schemas.microsoft.com/office/drawing/2014/main" id="{8F4D3A9B-D5CD-45E1-B9D4-179FF2BA21B3}"/>
              </a:ext>
            </a:extLst>
          </p:cNvPr>
          <p:cNvSpPr/>
          <p:nvPr/>
        </p:nvSpPr>
        <p:spPr>
          <a:xfrm>
            <a:off x="7394713" y="5866218"/>
            <a:ext cx="914400" cy="914400"/>
          </a:xfrm>
          <a:prstGeom prst="ellipse">
            <a:avLst/>
          </a:prstGeom>
          <a:ln w="28575"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/>
              <a:t>4</a:t>
            </a:r>
          </a:p>
        </p:txBody>
      </p:sp>
      <p:sp>
        <p:nvSpPr>
          <p:cNvPr id="23" name="Oval 22">
            <a:extLst>
              <a:ext uri="{FF2B5EF4-FFF2-40B4-BE49-F238E27FC236}">
                <a16:creationId xmlns:a16="http://schemas.microsoft.com/office/drawing/2014/main" id="{90BDBD5D-8B7A-4911-BAD6-705D42648A03}"/>
              </a:ext>
            </a:extLst>
          </p:cNvPr>
          <p:cNvSpPr/>
          <p:nvPr/>
        </p:nvSpPr>
        <p:spPr>
          <a:xfrm>
            <a:off x="10439400" y="5866218"/>
            <a:ext cx="914400" cy="914400"/>
          </a:xfrm>
          <a:prstGeom prst="ellipse">
            <a:avLst/>
          </a:prstGeom>
          <a:ln w="28575"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/>
              <a:t>4</a:t>
            </a:r>
          </a:p>
        </p:txBody>
      </p:sp>
      <p:cxnSp>
        <p:nvCxnSpPr>
          <p:cNvPr id="24" name="Straight Arrow Connector 23">
            <a:extLst>
              <a:ext uri="{FF2B5EF4-FFF2-40B4-BE49-F238E27FC236}">
                <a16:creationId xmlns:a16="http://schemas.microsoft.com/office/drawing/2014/main" id="{2FE4D87B-0FDC-4A76-8325-35034A1E07A1}"/>
              </a:ext>
            </a:extLst>
          </p:cNvPr>
          <p:cNvCxnSpPr>
            <a:cxnSpLocks/>
            <a:stCxn id="7" idx="6"/>
            <a:endCxn id="23" idx="2"/>
          </p:cNvCxnSpPr>
          <p:nvPr/>
        </p:nvCxnSpPr>
        <p:spPr>
          <a:xfrm>
            <a:off x="8309113" y="2350745"/>
            <a:ext cx="2130287" cy="3972673"/>
          </a:xfrm>
          <a:prstGeom prst="straightConnector1">
            <a:avLst/>
          </a:prstGeom>
          <a:ln w="28575"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Straight Arrow Connector 24">
            <a:extLst>
              <a:ext uri="{FF2B5EF4-FFF2-40B4-BE49-F238E27FC236}">
                <a16:creationId xmlns:a16="http://schemas.microsoft.com/office/drawing/2014/main" id="{5411E733-9E05-4127-8427-CE742ED2AE16}"/>
              </a:ext>
            </a:extLst>
          </p:cNvPr>
          <p:cNvCxnSpPr>
            <a:cxnSpLocks/>
            <a:stCxn id="8" idx="6"/>
            <a:endCxn id="23" idx="2"/>
          </p:cNvCxnSpPr>
          <p:nvPr/>
        </p:nvCxnSpPr>
        <p:spPr>
          <a:xfrm>
            <a:off x="8309113" y="3699153"/>
            <a:ext cx="2130287" cy="2624265"/>
          </a:xfrm>
          <a:prstGeom prst="straightConnector1">
            <a:avLst/>
          </a:prstGeom>
          <a:ln w="28575"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Straight Arrow Connector 25">
            <a:extLst>
              <a:ext uri="{FF2B5EF4-FFF2-40B4-BE49-F238E27FC236}">
                <a16:creationId xmlns:a16="http://schemas.microsoft.com/office/drawing/2014/main" id="{2EE21810-5449-4112-A0F4-75DDA28FC559}"/>
              </a:ext>
            </a:extLst>
          </p:cNvPr>
          <p:cNvCxnSpPr>
            <a:cxnSpLocks/>
            <a:stCxn id="9" idx="6"/>
            <a:endCxn id="23" idx="2"/>
          </p:cNvCxnSpPr>
          <p:nvPr/>
        </p:nvCxnSpPr>
        <p:spPr>
          <a:xfrm>
            <a:off x="8309113" y="5047562"/>
            <a:ext cx="2130287" cy="1275856"/>
          </a:xfrm>
          <a:prstGeom prst="straightConnector1">
            <a:avLst/>
          </a:prstGeom>
          <a:ln w="28575"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Straight Arrow Connector 26">
            <a:extLst>
              <a:ext uri="{FF2B5EF4-FFF2-40B4-BE49-F238E27FC236}">
                <a16:creationId xmlns:a16="http://schemas.microsoft.com/office/drawing/2014/main" id="{311BDBE4-3F76-41FD-A596-E452DBA813EE}"/>
              </a:ext>
            </a:extLst>
          </p:cNvPr>
          <p:cNvCxnSpPr>
            <a:cxnSpLocks/>
            <a:stCxn id="22" idx="6"/>
            <a:endCxn id="23" idx="2"/>
          </p:cNvCxnSpPr>
          <p:nvPr/>
        </p:nvCxnSpPr>
        <p:spPr>
          <a:xfrm>
            <a:off x="8309113" y="6323418"/>
            <a:ext cx="2130287" cy="0"/>
          </a:xfrm>
          <a:prstGeom prst="straightConnector1">
            <a:avLst/>
          </a:prstGeom>
          <a:ln w="28575"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Straight Arrow Connector 27">
            <a:extLst>
              <a:ext uri="{FF2B5EF4-FFF2-40B4-BE49-F238E27FC236}">
                <a16:creationId xmlns:a16="http://schemas.microsoft.com/office/drawing/2014/main" id="{A1B93A43-3615-4BB5-A928-25DC872945A1}"/>
              </a:ext>
            </a:extLst>
          </p:cNvPr>
          <p:cNvCxnSpPr>
            <a:cxnSpLocks/>
            <a:stCxn id="22" idx="6"/>
            <a:endCxn id="12" idx="2"/>
          </p:cNvCxnSpPr>
          <p:nvPr/>
        </p:nvCxnSpPr>
        <p:spPr>
          <a:xfrm flipV="1">
            <a:off x="8309113" y="5047562"/>
            <a:ext cx="2130287" cy="1275856"/>
          </a:xfrm>
          <a:prstGeom prst="straightConnector1">
            <a:avLst/>
          </a:prstGeom>
          <a:ln w="28575"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Straight Arrow Connector 28">
            <a:extLst>
              <a:ext uri="{FF2B5EF4-FFF2-40B4-BE49-F238E27FC236}">
                <a16:creationId xmlns:a16="http://schemas.microsoft.com/office/drawing/2014/main" id="{670F3C34-C0A2-46C1-AE38-C564DC807725}"/>
              </a:ext>
            </a:extLst>
          </p:cNvPr>
          <p:cNvCxnSpPr>
            <a:cxnSpLocks/>
            <a:stCxn id="22" idx="6"/>
            <a:endCxn id="11" idx="2"/>
          </p:cNvCxnSpPr>
          <p:nvPr/>
        </p:nvCxnSpPr>
        <p:spPr>
          <a:xfrm flipV="1">
            <a:off x="8309113" y="3699153"/>
            <a:ext cx="2130287" cy="2624265"/>
          </a:xfrm>
          <a:prstGeom prst="straightConnector1">
            <a:avLst/>
          </a:prstGeom>
          <a:ln w="28575"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" name="Straight Arrow Connector 29">
            <a:extLst>
              <a:ext uri="{FF2B5EF4-FFF2-40B4-BE49-F238E27FC236}">
                <a16:creationId xmlns:a16="http://schemas.microsoft.com/office/drawing/2014/main" id="{CA4EEF14-22A4-4D33-83E6-29AAB4C55F06}"/>
              </a:ext>
            </a:extLst>
          </p:cNvPr>
          <p:cNvCxnSpPr>
            <a:cxnSpLocks/>
            <a:stCxn id="22" idx="6"/>
            <a:endCxn id="10" idx="2"/>
          </p:cNvCxnSpPr>
          <p:nvPr/>
        </p:nvCxnSpPr>
        <p:spPr>
          <a:xfrm flipV="1">
            <a:off x="8309113" y="2350745"/>
            <a:ext cx="2130287" cy="3972673"/>
          </a:xfrm>
          <a:prstGeom prst="straightConnector1">
            <a:avLst/>
          </a:prstGeom>
          <a:ln w="28575"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32" name="TextBox 31">
                <a:extLst>
                  <a:ext uri="{FF2B5EF4-FFF2-40B4-BE49-F238E27FC236}">
                    <a16:creationId xmlns:a16="http://schemas.microsoft.com/office/drawing/2014/main" id="{A6F61CA7-D6F4-42BD-9BAA-C66E8AF0A052}"/>
                  </a:ext>
                </a:extLst>
              </p:cNvPr>
              <p:cNvSpPr txBox="1"/>
              <p:nvPr/>
            </p:nvSpPr>
            <p:spPr>
              <a:xfrm>
                <a:off x="612068" y="4726115"/>
                <a:ext cx="6094378" cy="203132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en-GB"/>
                  <a:t>This is a bipartite graph and requires a perfect matching…</a:t>
                </a:r>
              </a:p>
              <a:p>
                <a:endParaRPr lang="en-GB"/>
              </a:p>
              <a:p>
                <a:r>
                  <a:rPr lang="en-GB"/>
                  <a:t>How many solutions?</a:t>
                </a:r>
              </a:p>
              <a:p>
                <a:endParaRPr lang="en-GB"/>
              </a:p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GB" i="1" dirty="0" smtClean="0">
                          <a:latin typeface="Cambria Math" panose="02040503050406030204" pitchFamily="18" charset="0"/>
                        </a:rPr>
                        <m:t>4!</m:t>
                      </m:r>
                    </m:oMath>
                  </m:oMathPara>
                </a14:m>
                <a:endParaRPr lang="en-GB"/>
              </a:p>
              <a:p>
                <a:endParaRPr lang="en-GB"/>
              </a:p>
              <a:p>
                <a:r>
                  <a:rPr lang="en-GB"/>
                  <a:t>In general </a:t>
                </a:r>
                <a14:m>
                  <m:oMath xmlns:m="http://schemas.openxmlformats.org/officeDocument/2006/math">
                    <m:r>
                      <a:rPr lang="en-GB" b="0" i="1" smtClean="0">
                        <a:latin typeface="Cambria Math" panose="02040503050406030204" pitchFamily="18" charset="0"/>
                      </a:rPr>
                      <m:t>𝑛</m:t>
                    </m:r>
                    <m:r>
                      <a:rPr lang="en-GB" b="0" i="1" smtClean="0">
                        <a:latin typeface="Cambria Math" panose="02040503050406030204" pitchFamily="18" charset="0"/>
                      </a:rPr>
                      <m:t>!</m:t>
                    </m:r>
                  </m:oMath>
                </a14:m>
                <a:endParaRPr lang="en-GB"/>
              </a:p>
            </p:txBody>
          </p:sp>
        </mc:Choice>
        <mc:Fallback xmlns="">
          <p:sp>
            <p:nvSpPr>
              <p:cNvPr id="32" name="TextBox 31">
                <a:extLst>
                  <a:ext uri="{FF2B5EF4-FFF2-40B4-BE49-F238E27FC236}">
                    <a16:creationId xmlns:a16="http://schemas.microsoft.com/office/drawing/2014/main" id="{A6F61CA7-D6F4-42BD-9BAA-C66E8AF0A05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12068" y="4726115"/>
                <a:ext cx="6094378" cy="2031325"/>
              </a:xfrm>
              <a:prstGeom prst="rect">
                <a:avLst/>
              </a:prstGeom>
              <a:blipFill>
                <a:blip r:embed="rId3"/>
                <a:stretch>
                  <a:fillRect l="-800" t="-1497" b="-359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74529932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2" grpId="0" build="p"/>
    </p:bld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3E593E6-3D2F-4C7E-80B2-F78D636A9E0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706293"/>
          </a:xfrm>
        </p:spPr>
        <p:txBody>
          <a:bodyPr/>
          <a:lstStyle/>
          <a:p>
            <a:r>
              <a:rPr lang="en-GB"/>
              <a:t>Balanced Assignment Problem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410F588-CD01-495F-9E8F-658803448F0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432874"/>
            <a:ext cx="10515600" cy="4744089"/>
          </a:xfrm>
        </p:spPr>
        <p:txBody>
          <a:bodyPr/>
          <a:lstStyle/>
          <a:p>
            <a:r>
              <a:rPr lang="en-GB"/>
              <a:t>Example Solution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5267" name="Table 5267">
                <a:extLst>
                  <a:ext uri="{FF2B5EF4-FFF2-40B4-BE49-F238E27FC236}">
                    <a16:creationId xmlns:a16="http://schemas.microsoft.com/office/drawing/2014/main" id="{2FF5C1BF-4138-49A6-B0C2-7F98D7F71C5F}"/>
                  </a:ext>
                </a:extLst>
              </p:cNvPr>
              <p:cNvGraphicFramePr>
                <a:graphicFrameLocks noGrp="1"/>
              </p:cNvGraphicFramePr>
              <p:nvPr/>
            </p:nvGraphicFramePr>
            <p:xfrm>
              <a:off x="263165" y="2501900"/>
              <a:ext cx="5603710" cy="1854200"/>
            </p:xfrm>
            <a:graphic>
              <a:graphicData uri="http://schemas.openxmlformats.org/drawingml/2006/table">
                <a:tbl>
                  <a:tblPr firstRow="1" firstCol="1" bandRow="1">
                    <a:tableStyleId>{5C22544A-7EE6-4342-B048-85BDC9FD1C3A}</a:tableStyleId>
                  </a:tblPr>
                  <a:tblGrid>
                    <a:gridCol w="1120742">
                      <a:extLst>
                        <a:ext uri="{9D8B030D-6E8A-4147-A177-3AD203B41FA5}">
                          <a16:colId xmlns:a16="http://schemas.microsoft.com/office/drawing/2014/main" val="2571511227"/>
                        </a:ext>
                      </a:extLst>
                    </a:gridCol>
                    <a:gridCol w="1120742">
                      <a:extLst>
                        <a:ext uri="{9D8B030D-6E8A-4147-A177-3AD203B41FA5}">
                          <a16:colId xmlns:a16="http://schemas.microsoft.com/office/drawing/2014/main" val="2761822873"/>
                        </a:ext>
                      </a:extLst>
                    </a:gridCol>
                    <a:gridCol w="1120742">
                      <a:extLst>
                        <a:ext uri="{9D8B030D-6E8A-4147-A177-3AD203B41FA5}">
                          <a16:colId xmlns:a16="http://schemas.microsoft.com/office/drawing/2014/main" val="772889813"/>
                        </a:ext>
                      </a:extLst>
                    </a:gridCol>
                    <a:gridCol w="1120742">
                      <a:extLst>
                        <a:ext uri="{9D8B030D-6E8A-4147-A177-3AD203B41FA5}">
                          <a16:colId xmlns:a16="http://schemas.microsoft.com/office/drawing/2014/main" val="869018946"/>
                        </a:ext>
                      </a:extLst>
                    </a:gridCol>
                    <a:gridCol w="1120742">
                      <a:extLst>
                        <a:ext uri="{9D8B030D-6E8A-4147-A177-3AD203B41FA5}">
                          <a16:colId xmlns:a16="http://schemas.microsoft.com/office/drawing/2014/main" val="3353398207"/>
                        </a:ext>
                      </a:extLst>
                    </a:gridCol>
                  </a:tblGrid>
                  <a:tr h="370840">
                    <a:tc>
                      <a:txBody>
                        <a:bodyPr/>
                        <a:lstStyle/>
                        <a:p>
                          <a:endParaRPr lang="en-GB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GB"/>
                            <a:t>Job 1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GB"/>
                            <a:t>Job 2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GB"/>
                            <a:t>Job 3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GB"/>
                            <a:t>Job 4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962495220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r>
                            <a:rPr lang="en-GB"/>
                            <a:t>Worker 1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GB" b="0" i="1" smtClean="0">
                                    <a:latin typeface="Cambria Math" panose="02040503050406030204" pitchFamily="18" charset="0"/>
                                  </a:rPr>
                                  <m:t>9</m:t>
                                </m:r>
                              </m:oMath>
                            </m:oMathPara>
                          </a14:m>
                          <a:endParaRPr lang="en-GB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GB" b="0" i="1" smtClean="0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oMath>
                            </m:oMathPara>
                          </a14:m>
                          <a:endParaRPr lang="en-GB"/>
                        </a:p>
                      </a:txBody>
                      <a:tcPr>
                        <a:solidFill>
                          <a:schemeClr val="accent4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GB" b="0" i="1" smtClean="0">
                                    <a:latin typeface="Cambria Math" panose="02040503050406030204" pitchFamily="18" charset="0"/>
                                  </a:rPr>
                                  <m:t>7</m:t>
                                </m:r>
                              </m:oMath>
                            </m:oMathPara>
                          </a14:m>
                          <a:endParaRPr lang="en-GB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GB" b="0" i="1" smtClean="0">
                                    <a:latin typeface="Cambria Math" panose="02040503050406030204" pitchFamily="18" charset="0"/>
                                  </a:rPr>
                                  <m:t>8</m:t>
                                </m:r>
                              </m:oMath>
                            </m:oMathPara>
                          </a14:m>
                          <a:endParaRPr lang="en-GB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624059737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GB"/>
                            <a:t>Worker 2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GB" b="0" i="1" smtClean="0">
                                    <a:latin typeface="Cambria Math" panose="02040503050406030204" pitchFamily="18" charset="0"/>
                                  </a:rPr>
                                  <m:t>6</m:t>
                                </m:r>
                              </m:oMath>
                            </m:oMathPara>
                          </a14:m>
                          <a:endParaRPr lang="en-GB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GB" b="0" i="1" smtClean="0">
                                    <a:latin typeface="Cambria Math" panose="02040503050406030204" pitchFamily="18" charset="0"/>
                                  </a:rPr>
                                  <m:t>4</m:t>
                                </m:r>
                              </m:oMath>
                            </m:oMathPara>
                          </a14:m>
                          <a:endParaRPr lang="en-GB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GB" b="0" i="1" smtClean="0">
                                    <a:latin typeface="Cambria Math" panose="02040503050406030204" pitchFamily="18" charset="0"/>
                                  </a:rPr>
                                  <m:t>3</m:t>
                                </m:r>
                              </m:oMath>
                            </m:oMathPara>
                          </a14:m>
                          <a:endParaRPr lang="en-GB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GB" b="0" i="1" smtClean="0">
                                    <a:latin typeface="Cambria Math" panose="02040503050406030204" pitchFamily="18" charset="0"/>
                                  </a:rPr>
                                  <m:t>7</m:t>
                                </m:r>
                              </m:oMath>
                            </m:oMathPara>
                          </a14:m>
                          <a:endParaRPr lang="en-GB"/>
                        </a:p>
                      </a:txBody>
                      <a:tcPr>
                        <a:solidFill>
                          <a:schemeClr val="accent4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698853676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GB"/>
                            <a:t>Worker 3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GB" b="0" i="1" smtClean="0">
                                    <a:latin typeface="Cambria Math" panose="02040503050406030204" pitchFamily="18" charset="0"/>
                                  </a:rPr>
                                  <m:t>5</m:t>
                                </m:r>
                              </m:oMath>
                            </m:oMathPara>
                          </a14:m>
                          <a:endParaRPr lang="en-GB"/>
                        </a:p>
                      </a:txBody>
                      <a:tcPr>
                        <a:solidFill>
                          <a:schemeClr val="accent4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GB" b="0" i="1" smtClean="0">
                                    <a:latin typeface="Cambria Math" panose="02040503050406030204" pitchFamily="18" charset="0"/>
                                  </a:rPr>
                                  <m:t>8</m:t>
                                </m:r>
                              </m:oMath>
                            </m:oMathPara>
                          </a14:m>
                          <a:endParaRPr lang="en-GB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GB" b="0" i="1" smtClean="0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oMath>
                            </m:oMathPara>
                          </a14:m>
                          <a:endParaRPr lang="en-GB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GB" b="0" i="1" smtClean="0">
                                    <a:latin typeface="Cambria Math" panose="02040503050406030204" pitchFamily="18" charset="0"/>
                                  </a:rPr>
                                  <m:t>8</m:t>
                                </m:r>
                              </m:oMath>
                            </m:oMathPara>
                          </a14:m>
                          <a:endParaRPr lang="en-GB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4201405043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GB"/>
                            <a:t>Worker 4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GB" b="0" i="1" smtClean="0">
                                    <a:latin typeface="Cambria Math" panose="02040503050406030204" pitchFamily="18" charset="0"/>
                                  </a:rPr>
                                  <m:t>7</m:t>
                                </m:r>
                              </m:oMath>
                            </m:oMathPara>
                          </a14:m>
                          <a:endParaRPr lang="en-GB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GB" b="0" i="1" smtClean="0">
                                    <a:latin typeface="Cambria Math" panose="02040503050406030204" pitchFamily="18" charset="0"/>
                                  </a:rPr>
                                  <m:t>6</m:t>
                                </m:r>
                              </m:oMath>
                            </m:oMathPara>
                          </a14:m>
                          <a:endParaRPr lang="en-GB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GB" b="0" i="1" smtClean="0">
                                    <a:latin typeface="Cambria Math" panose="02040503050406030204" pitchFamily="18" charset="0"/>
                                  </a:rPr>
                                  <m:t>9</m:t>
                                </m:r>
                              </m:oMath>
                            </m:oMathPara>
                          </a14:m>
                          <a:endParaRPr lang="en-GB"/>
                        </a:p>
                      </a:txBody>
                      <a:tcPr>
                        <a:solidFill>
                          <a:schemeClr val="accent4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GB" b="0" i="1" smtClean="0">
                                    <a:latin typeface="Cambria Math" panose="02040503050406030204" pitchFamily="18" charset="0"/>
                                  </a:rPr>
                                  <m:t>4</m:t>
                                </m:r>
                              </m:oMath>
                            </m:oMathPara>
                          </a14:m>
                          <a:endParaRPr lang="en-GB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4119807754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5267" name="Table 5267">
                <a:extLst>
                  <a:ext uri="{FF2B5EF4-FFF2-40B4-BE49-F238E27FC236}">
                    <a16:creationId xmlns:a16="http://schemas.microsoft.com/office/drawing/2014/main" id="{2FF5C1BF-4138-49A6-B0C2-7F98D7F71C5F}"/>
                  </a:ext>
                </a:extLst>
              </p:cNvPr>
              <p:cNvGraphicFramePr>
                <a:graphicFrameLocks noGrp="1"/>
              </p:cNvGraphicFramePr>
              <p:nvPr/>
            </p:nvGraphicFramePr>
            <p:xfrm>
              <a:off x="263165" y="2501900"/>
              <a:ext cx="5603710" cy="1854200"/>
            </p:xfrm>
            <a:graphic>
              <a:graphicData uri="http://schemas.openxmlformats.org/drawingml/2006/table">
                <a:tbl>
                  <a:tblPr firstRow="1" firstCol="1" bandRow="1">
                    <a:tableStyleId>{5C22544A-7EE6-4342-B048-85BDC9FD1C3A}</a:tableStyleId>
                  </a:tblPr>
                  <a:tblGrid>
                    <a:gridCol w="1120742">
                      <a:extLst>
                        <a:ext uri="{9D8B030D-6E8A-4147-A177-3AD203B41FA5}">
                          <a16:colId xmlns:a16="http://schemas.microsoft.com/office/drawing/2014/main" val="2571511227"/>
                        </a:ext>
                      </a:extLst>
                    </a:gridCol>
                    <a:gridCol w="1120742">
                      <a:extLst>
                        <a:ext uri="{9D8B030D-6E8A-4147-A177-3AD203B41FA5}">
                          <a16:colId xmlns:a16="http://schemas.microsoft.com/office/drawing/2014/main" val="2761822873"/>
                        </a:ext>
                      </a:extLst>
                    </a:gridCol>
                    <a:gridCol w="1120742">
                      <a:extLst>
                        <a:ext uri="{9D8B030D-6E8A-4147-A177-3AD203B41FA5}">
                          <a16:colId xmlns:a16="http://schemas.microsoft.com/office/drawing/2014/main" val="772889813"/>
                        </a:ext>
                      </a:extLst>
                    </a:gridCol>
                    <a:gridCol w="1120742">
                      <a:extLst>
                        <a:ext uri="{9D8B030D-6E8A-4147-A177-3AD203B41FA5}">
                          <a16:colId xmlns:a16="http://schemas.microsoft.com/office/drawing/2014/main" val="869018946"/>
                        </a:ext>
                      </a:extLst>
                    </a:gridCol>
                    <a:gridCol w="1120742">
                      <a:extLst>
                        <a:ext uri="{9D8B030D-6E8A-4147-A177-3AD203B41FA5}">
                          <a16:colId xmlns:a16="http://schemas.microsoft.com/office/drawing/2014/main" val="3353398207"/>
                        </a:ext>
                      </a:extLst>
                    </a:gridCol>
                  </a:tblGrid>
                  <a:tr h="370840">
                    <a:tc>
                      <a:txBody>
                        <a:bodyPr/>
                        <a:lstStyle/>
                        <a:p>
                          <a:endParaRPr lang="en-GB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GB"/>
                            <a:t>Job 1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GB"/>
                            <a:t>Job 2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GB"/>
                            <a:t>Job 3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GB"/>
                            <a:t>Job 4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962495220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r>
                            <a:rPr lang="en-GB"/>
                            <a:t>Worker 1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2"/>
                          <a:stretch>
                            <a:fillRect l="-100543" t="-108197" r="-302174" b="-32459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2"/>
                          <a:stretch>
                            <a:fillRect l="-200543" t="-108197" r="-202174" b="-32459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2"/>
                          <a:stretch>
                            <a:fillRect l="-300543" t="-108197" r="-102174" b="-32459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2"/>
                          <a:stretch>
                            <a:fillRect l="-400543" t="-108197" r="-2174" b="-324590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624059737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GB"/>
                            <a:t>Worker 2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2"/>
                          <a:stretch>
                            <a:fillRect l="-100543" t="-208197" r="-302174" b="-22459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2"/>
                          <a:stretch>
                            <a:fillRect l="-200543" t="-208197" r="-202174" b="-22459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2"/>
                          <a:stretch>
                            <a:fillRect l="-300543" t="-208197" r="-102174" b="-22459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2"/>
                          <a:stretch>
                            <a:fillRect l="-400543" t="-208197" r="-2174" b="-224590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3698853676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GB"/>
                            <a:t>Worker 3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2"/>
                          <a:stretch>
                            <a:fillRect l="-100543" t="-308197" r="-302174" b="-12459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2"/>
                          <a:stretch>
                            <a:fillRect l="-200543" t="-308197" r="-202174" b="-12459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2"/>
                          <a:stretch>
                            <a:fillRect l="-300543" t="-308197" r="-102174" b="-12459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2"/>
                          <a:stretch>
                            <a:fillRect l="-400543" t="-308197" r="-2174" b="-124590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4201405043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GB"/>
                            <a:t>Worker 4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2"/>
                          <a:stretch>
                            <a:fillRect l="-100543" t="-408197" r="-302174" b="-2459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2"/>
                          <a:stretch>
                            <a:fillRect l="-200543" t="-408197" r="-202174" b="-2459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2"/>
                          <a:stretch>
                            <a:fillRect l="-300543" t="-408197" r="-102174" b="-2459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2"/>
                          <a:stretch>
                            <a:fillRect l="-400543" t="-408197" r="-2174" b="-24590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4119807754"/>
                      </a:ext>
                    </a:extLst>
                  </a:tr>
                </a:tbl>
              </a:graphicData>
            </a:graphic>
          </p:graphicFrame>
        </mc:Fallback>
      </mc:AlternateContent>
      <p:grpSp>
        <p:nvGrpSpPr>
          <p:cNvPr id="6" name="Group 5">
            <a:extLst>
              <a:ext uri="{FF2B5EF4-FFF2-40B4-BE49-F238E27FC236}">
                <a16:creationId xmlns:a16="http://schemas.microsoft.com/office/drawing/2014/main" id="{06280EFC-A85E-4638-8A5F-C21ECE459A82}"/>
              </a:ext>
            </a:extLst>
          </p:cNvPr>
          <p:cNvGrpSpPr/>
          <p:nvPr/>
        </p:nvGrpSpPr>
        <p:grpSpPr>
          <a:xfrm>
            <a:off x="7394713" y="1893545"/>
            <a:ext cx="3959087" cy="3611217"/>
            <a:chOff x="1401417" y="2365513"/>
            <a:chExt cx="3959087" cy="3611217"/>
          </a:xfrm>
        </p:grpSpPr>
        <p:sp>
          <p:nvSpPr>
            <p:cNvPr id="7" name="Oval 6">
              <a:extLst>
                <a:ext uri="{FF2B5EF4-FFF2-40B4-BE49-F238E27FC236}">
                  <a16:creationId xmlns:a16="http://schemas.microsoft.com/office/drawing/2014/main" id="{F1AAFD12-EE8B-4263-8FEF-678A5AE4F815}"/>
                </a:ext>
              </a:extLst>
            </p:cNvPr>
            <p:cNvSpPr/>
            <p:nvPr/>
          </p:nvSpPr>
          <p:spPr>
            <a:xfrm>
              <a:off x="1401417" y="2365513"/>
              <a:ext cx="914400" cy="914400"/>
            </a:xfrm>
            <a:prstGeom prst="ellipse">
              <a:avLst/>
            </a:prstGeom>
            <a:ln w="28575">
              <a:headEnd type="none" w="med" len="med"/>
              <a:tailEnd type="none" w="med" len="me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GB"/>
                <a:t>1</a:t>
              </a:r>
            </a:p>
          </p:txBody>
        </p:sp>
        <p:sp>
          <p:nvSpPr>
            <p:cNvPr id="8" name="Oval 7">
              <a:extLst>
                <a:ext uri="{FF2B5EF4-FFF2-40B4-BE49-F238E27FC236}">
                  <a16:creationId xmlns:a16="http://schemas.microsoft.com/office/drawing/2014/main" id="{4DCD040F-C774-4949-A2C0-9E362AD31262}"/>
                </a:ext>
              </a:extLst>
            </p:cNvPr>
            <p:cNvSpPr/>
            <p:nvPr/>
          </p:nvSpPr>
          <p:spPr>
            <a:xfrm>
              <a:off x="1401417" y="3713921"/>
              <a:ext cx="914400" cy="914400"/>
            </a:xfrm>
            <a:prstGeom prst="ellipse">
              <a:avLst/>
            </a:prstGeom>
            <a:ln w="28575">
              <a:headEnd type="none" w="med" len="med"/>
              <a:tailEnd type="none" w="med" len="me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GB"/>
                <a:t>2</a:t>
              </a:r>
            </a:p>
          </p:txBody>
        </p:sp>
        <p:sp>
          <p:nvSpPr>
            <p:cNvPr id="9" name="Oval 8">
              <a:extLst>
                <a:ext uri="{FF2B5EF4-FFF2-40B4-BE49-F238E27FC236}">
                  <a16:creationId xmlns:a16="http://schemas.microsoft.com/office/drawing/2014/main" id="{88055194-E144-4BC4-B12F-DA80C72A27E0}"/>
                </a:ext>
              </a:extLst>
            </p:cNvPr>
            <p:cNvSpPr/>
            <p:nvPr/>
          </p:nvSpPr>
          <p:spPr>
            <a:xfrm>
              <a:off x="1401417" y="5062330"/>
              <a:ext cx="914400" cy="914400"/>
            </a:xfrm>
            <a:prstGeom prst="ellipse">
              <a:avLst/>
            </a:prstGeom>
            <a:ln w="28575">
              <a:headEnd type="none" w="med" len="med"/>
              <a:tailEnd type="none" w="med" len="me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GB"/>
                <a:t>3</a:t>
              </a:r>
            </a:p>
          </p:txBody>
        </p:sp>
        <p:sp>
          <p:nvSpPr>
            <p:cNvPr id="10" name="Oval 9">
              <a:extLst>
                <a:ext uri="{FF2B5EF4-FFF2-40B4-BE49-F238E27FC236}">
                  <a16:creationId xmlns:a16="http://schemas.microsoft.com/office/drawing/2014/main" id="{5DC40150-CCFA-40B1-8F65-BF76E72B7B3E}"/>
                </a:ext>
              </a:extLst>
            </p:cNvPr>
            <p:cNvSpPr/>
            <p:nvPr/>
          </p:nvSpPr>
          <p:spPr>
            <a:xfrm>
              <a:off x="4446104" y="2365513"/>
              <a:ext cx="914400" cy="914400"/>
            </a:xfrm>
            <a:prstGeom prst="ellipse">
              <a:avLst/>
            </a:prstGeom>
            <a:ln w="28575">
              <a:headEnd type="none" w="med" len="med"/>
              <a:tailEnd type="none" w="med" len="me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GB"/>
                <a:t>1</a:t>
              </a:r>
            </a:p>
          </p:txBody>
        </p:sp>
        <p:sp>
          <p:nvSpPr>
            <p:cNvPr id="11" name="Oval 10">
              <a:extLst>
                <a:ext uri="{FF2B5EF4-FFF2-40B4-BE49-F238E27FC236}">
                  <a16:creationId xmlns:a16="http://schemas.microsoft.com/office/drawing/2014/main" id="{4E1C2953-DC8B-4723-B295-A3486D4709FA}"/>
                </a:ext>
              </a:extLst>
            </p:cNvPr>
            <p:cNvSpPr/>
            <p:nvPr/>
          </p:nvSpPr>
          <p:spPr>
            <a:xfrm>
              <a:off x="4446104" y="3713921"/>
              <a:ext cx="914400" cy="914400"/>
            </a:xfrm>
            <a:prstGeom prst="ellipse">
              <a:avLst/>
            </a:prstGeom>
            <a:ln w="28575">
              <a:headEnd type="none" w="med" len="med"/>
              <a:tailEnd type="none" w="med" len="me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GB"/>
                <a:t>2</a:t>
              </a:r>
            </a:p>
          </p:txBody>
        </p:sp>
        <p:sp>
          <p:nvSpPr>
            <p:cNvPr id="12" name="Oval 11">
              <a:extLst>
                <a:ext uri="{FF2B5EF4-FFF2-40B4-BE49-F238E27FC236}">
                  <a16:creationId xmlns:a16="http://schemas.microsoft.com/office/drawing/2014/main" id="{92200340-A816-4859-8361-61760B2C8990}"/>
                </a:ext>
              </a:extLst>
            </p:cNvPr>
            <p:cNvSpPr/>
            <p:nvPr/>
          </p:nvSpPr>
          <p:spPr>
            <a:xfrm>
              <a:off x="4446104" y="5062330"/>
              <a:ext cx="914400" cy="914400"/>
            </a:xfrm>
            <a:prstGeom prst="ellipse">
              <a:avLst/>
            </a:prstGeom>
            <a:ln w="28575">
              <a:headEnd type="none" w="med" len="med"/>
              <a:tailEnd type="none" w="med" len="me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GB"/>
                <a:t>3</a:t>
              </a:r>
            </a:p>
          </p:txBody>
        </p:sp>
        <p:cxnSp>
          <p:nvCxnSpPr>
            <p:cNvPr id="14" name="Straight Arrow Connector 13">
              <a:extLst>
                <a:ext uri="{FF2B5EF4-FFF2-40B4-BE49-F238E27FC236}">
                  <a16:creationId xmlns:a16="http://schemas.microsoft.com/office/drawing/2014/main" id="{1CBBAA8C-8E94-4A92-9D25-9E446C8616D0}"/>
                </a:ext>
              </a:extLst>
            </p:cNvPr>
            <p:cNvCxnSpPr>
              <a:stCxn id="7" idx="6"/>
              <a:endCxn id="11" idx="2"/>
            </p:cNvCxnSpPr>
            <p:nvPr/>
          </p:nvCxnSpPr>
          <p:spPr>
            <a:xfrm>
              <a:off x="2315817" y="2822713"/>
              <a:ext cx="2130287" cy="1348408"/>
            </a:xfrm>
            <a:prstGeom prst="straightConnector1">
              <a:avLst/>
            </a:prstGeom>
            <a:ln w="28575"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Straight Arrow Connector 18">
              <a:extLst>
                <a:ext uri="{FF2B5EF4-FFF2-40B4-BE49-F238E27FC236}">
                  <a16:creationId xmlns:a16="http://schemas.microsoft.com/office/drawing/2014/main" id="{C0B38595-8C78-4AF8-907A-7CE0FFD4D1F2}"/>
                </a:ext>
              </a:extLst>
            </p:cNvPr>
            <p:cNvCxnSpPr>
              <a:stCxn id="9" idx="6"/>
              <a:endCxn id="10" idx="2"/>
            </p:cNvCxnSpPr>
            <p:nvPr/>
          </p:nvCxnSpPr>
          <p:spPr>
            <a:xfrm flipV="1">
              <a:off x="2315817" y="2822713"/>
              <a:ext cx="2130287" cy="2696817"/>
            </a:xfrm>
            <a:prstGeom prst="straightConnector1">
              <a:avLst/>
            </a:prstGeom>
            <a:ln w="28575"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2" name="Oval 21">
            <a:extLst>
              <a:ext uri="{FF2B5EF4-FFF2-40B4-BE49-F238E27FC236}">
                <a16:creationId xmlns:a16="http://schemas.microsoft.com/office/drawing/2014/main" id="{8F4D3A9B-D5CD-45E1-B9D4-179FF2BA21B3}"/>
              </a:ext>
            </a:extLst>
          </p:cNvPr>
          <p:cNvSpPr/>
          <p:nvPr/>
        </p:nvSpPr>
        <p:spPr>
          <a:xfrm>
            <a:off x="7394713" y="5866218"/>
            <a:ext cx="914400" cy="914400"/>
          </a:xfrm>
          <a:prstGeom prst="ellipse">
            <a:avLst/>
          </a:prstGeom>
          <a:ln w="28575"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/>
              <a:t>4</a:t>
            </a:r>
          </a:p>
        </p:txBody>
      </p:sp>
      <p:sp>
        <p:nvSpPr>
          <p:cNvPr id="23" name="Oval 22">
            <a:extLst>
              <a:ext uri="{FF2B5EF4-FFF2-40B4-BE49-F238E27FC236}">
                <a16:creationId xmlns:a16="http://schemas.microsoft.com/office/drawing/2014/main" id="{90BDBD5D-8B7A-4911-BAD6-705D42648A03}"/>
              </a:ext>
            </a:extLst>
          </p:cNvPr>
          <p:cNvSpPr/>
          <p:nvPr/>
        </p:nvSpPr>
        <p:spPr>
          <a:xfrm>
            <a:off x="10439400" y="5866218"/>
            <a:ext cx="914400" cy="914400"/>
          </a:xfrm>
          <a:prstGeom prst="ellipse">
            <a:avLst/>
          </a:prstGeom>
          <a:ln w="28575"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/>
              <a:t>4</a:t>
            </a:r>
          </a:p>
        </p:txBody>
      </p:sp>
      <p:cxnSp>
        <p:nvCxnSpPr>
          <p:cNvPr id="25" name="Straight Arrow Connector 24">
            <a:extLst>
              <a:ext uri="{FF2B5EF4-FFF2-40B4-BE49-F238E27FC236}">
                <a16:creationId xmlns:a16="http://schemas.microsoft.com/office/drawing/2014/main" id="{5411E733-9E05-4127-8427-CE742ED2AE16}"/>
              </a:ext>
            </a:extLst>
          </p:cNvPr>
          <p:cNvCxnSpPr>
            <a:cxnSpLocks/>
            <a:stCxn id="8" idx="6"/>
            <a:endCxn id="23" idx="2"/>
          </p:cNvCxnSpPr>
          <p:nvPr/>
        </p:nvCxnSpPr>
        <p:spPr>
          <a:xfrm>
            <a:off x="8309113" y="3699153"/>
            <a:ext cx="2130287" cy="2624265"/>
          </a:xfrm>
          <a:prstGeom prst="straightConnector1">
            <a:avLst/>
          </a:prstGeom>
          <a:ln w="28575"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Straight Arrow Connector 27">
            <a:extLst>
              <a:ext uri="{FF2B5EF4-FFF2-40B4-BE49-F238E27FC236}">
                <a16:creationId xmlns:a16="http://schemas.microsoft.com/office/drawing/2014/main" id="{A1B93A43-3615-4BB5-A928-25DC872945A1}"/>
              </a:ext>
            </a:extLst>
          </p:cNvPr>
          <p:cNvCxnSpPr>
            <a:cxnSpLocks/>
            <a:stCxn id="22" idx="6"/>
            <a:endCxn id="12" idx="2"/>
          </p:cNvCxnSpPr>
          <p:nvPr/>
        </p:nvCxnSpPr>
        <p:spPr>
          <a:xfrm flipV="1">
            <a:off x="8309113" y="5047562"/>
            <a:ext cx="2130287" cy="1275856"/>
          </a:xfrm>
          <a:prstGeom prst="straightConnector1">
            <a:avLst/>
          </a:prstGeom>
          <a:ln w="28575"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32" name="TextBox 31">
                <a:extLst>
                  <a:ext uri="{FF2B5EF4-FFF2-40B4-BE49-F238E27FC236}">
                    <a16:creationId xmlns:a16="http://schemas.microsoft.com/office/drawing/2014/main" id="{A6F61CA7-D6F4-42BD-9BAA-C66E8AF0A052}"/>
                  </a:ext>
                </a:extLst>
              </p:cNvPr>
              <p:cNvSpPr txBox="1"/>
              <p:nvPr/>
            </p:nvSpPr>
            <p:spPr>
              <a:xfrm>
                <a:off x="612068" y="4726115"/>
                <a:ext cx="6094378" cy="1754326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en-GB"/>
                  <a:t>This is a bipartite graph and requires a perfect matching…</a:t>
                </a:r>
              </a:p>
              <a:p>
                <a:endParaRPr lang="en-GB"/>
              </a:p>
              <a:p>
                <a:r>
                  <a:rPr lang="en-GB"/>
                  <a:t>Here every vertex is included and no edge has a common vertex</a:t>
                </a:r>
              </a:p>
              <a:p>
                <a:endParaRPr lang="en-GB"/>
              </a:p>
              <a:p>
                <a:r>
                  <a:rPr lang="en-GB"/>
                  <a:t>Cost is </a:t>
                </a:r>
                <a14:m>
                  <m:oMath xmlns:m="http://schemas.openxmlformats.org/officeDocument/2006/math">
                    <m:r>
                      <a:rPr lang="en-GB" b="0" i="1" smtClean="0">
                        <a:latin typeface="Cambria Math" panose="02040503050406030204" pitchFamily="18" charset="0"/>
                      </a:rPr>
                      <m:t>2+7+5+9=23</m:t>
                    </m:r>
                  </m:oMath>
                </a14:m>
                <a:endParaRPr lang="en-GB"/>
              </a:p>
            </p:txBody>
          </p:sp>
        </mc:Choice>
        <mc:Fallback xmlns="">
          <p:sp>
            <p:nvSpPr>
              <p:cNvPr id="32" name="TextBox 31">
                <a:extLst>
                  <a:ext uri="{FF2B5EF4-FFF2-40B4-BE49-F238E27FC236}">
                    <a16:creationId xmlns:a16="http://schemas.microsoft.com/office/drawing/2014/main" id="{A6F61CA7-D6F4-42BD-9BAA-C66E8AF0A05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12068" y="4726115"/>
                <a:ext cx="6094378" cy="1754326"/>
              </a:xfrm>
              <a:prstGeom prst="rect">
                <a:avLst/>
              </a:prstGeom>
              <a:blipFill>
                <a:blip r:embed="rId3"/>
                <a:stretch>
                  <a:fillRect l="-800" t="-1736" b="-451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899946234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3E593E6-3D2F-4C7E-80B2-F78D636A9E0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706293"/>
          </a:xfrm>
        </p:spPr>
        <p:txBody>
          <a:bodyPr/>
          <a:lstStyle/>
          <a:p>
            <a:r>
              <a:rPr lang="en-GB"/>
              <a:t>Balanced Assignment Problem – Model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410F588-CD01-495F-9E8F-658803448F0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432874"/>
            <a:ext cx="10515600" cy="4744089"/>
          </a:xfrm>
        </p:spPr>
        <p:txBody>
          <a:bodyPr/>
          <a:lstStyle/>
          <a:p>
            <a:r>
              <a:rPr lang="en-GB"/>
              <a:t>Pick 1 per row and 1 per column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5267" name="Table 5267">
                <a:extLst>
                  <a:ext uri="{FF2B5EF4-FFF2-40B4-BE49-F238E27FC236}">
                    <a16:creationId xmlns:a16="http://schemas.microsoft.com/office/drawing/2014/main" id="{2FF5C1BF-4138-49A6-B0C2-7F98D7F71C5F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2328935483"/>
                  </p:ext>
                </p:extLst>
              </p:nvPr>
            </p:nvGraphicFramePr>
            <p:xfrm>
              <a:off x="263165" y="2501900"/>
              <a:ext cx="5603710" cy="1854200"/>
            </p:xfrm>
            <a:graphic>
              <a:graphicData uri="http://schemas.openxmlformats.org/drawingml/2006/table">
                <a:tbl>
                  <a:tblPr firstRow="1" firstCol="1" bandRow="1">
                    <a:tableStyleId>{5C22544A-7EE6-4342-B048-85BDC9FD1C3A}</a:tableStyleId>
                  </a:tblPr>
                  <a:tblGrid>
                    <a:gridCol w="1120742">
                      <a:extLst>
                        <a:ext uri="{9D8B030D-6E8A-4147-A177-3AD203B41FA5}">
                          <a16:colId xmlns:a16="http://schemas.microsoft.com/office/drawing/2014/main" val="2571511227"/>
                        </a:ext>
                      </a:extLst>
                    </a:gridCol>
                    <a:gridCol w="1120742">
                      <a:extLst>
                        <a:ext uri="{9D8B030D-6E8A-4147-A177-3AD203B41FA5}">
                          <a16:colId xmlns:a16="http://schemas.microsoft.com/office/drawing/2014/main" val="2761822873"/>
                        </a:ext>
                      </a:extLst>
                    </a:gridCol>
                    <a:gridCol w="1120742">
                      <a:extLst>
                        <a:ext uri="{9D8B030D-6E8A-4147-A177-3AD203B41FA5}">
                          <a16:colId xmlns:a16="http://schemas.microsoft.com/office/drawing/2014/main" val="772889813"/>
                        </a:ext>
                      </a:extLst>
                    </a:gridCol>
                    <a:gridCol w="1120742">
                      <a:extLst>
                        <a:ext uri="{9D8B030D-6E8A-4147-A177-3AD203B41FA5}">
                          <a16:colId xmlns:a16="http://schemas.microsoft.com/office/drawing/2014/main" val="869018946"/>
                        </a:ext>
                      </a:extLst>
                    </a:gridCol>
                    <a:gridCol w="1120742">
                      <a:extLst>
                        <a:ext uri="{9D8B030D-6E8A-4147-A177-3AD203B41FA5}">
                          <a16:colId xmlns:a16="http://schemas.microsoft.com/office/drawing/2014/main" val="3353398207"/>
                        </a:ext>
                      </a:extLst>
                    </a:gridCol>
                  </a:tblGrid>
                  <a:tr h="370840">
                    <a:tc>
                      <a:txBody>
                        <a:bodyPr/>
                        <a:lstStyle/>
                        <a:p>
                          <a:endParaRPr lang="en-GB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GB"/>
                            <a:t>Job 1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GB"/>
                            <a:t>Job 2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GB"/>
                            <a:t>Job 3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GB"/>
                            <a:t>Job 4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962495220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r>
                            <a:rPr lang="en-GB"/>
                            <a:t>Worker 1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GB" b="0" i="1" smtClean="0">
                                    <a:latin typeface="Cambria Math" panose="02040503050406030204" pitchFamily="18" charset="0"/>
                                  </a:rPr>
                                  <m:t>9</m:t>
                                </m:r>
                              </m:oMath>
                            </m:oMathPara>
                          </a14:m>
                          <a:endParaRPr lang="en-GB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GB" b="0" i="1" smtClean="0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oMath>
                            </m:oMathPara>
                          </a14:m>
                          <a:endParaRPr lang="en-GB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GB" b="0" i="1" smtClean="0">
                                    <a:latin typeface="Cambria Math" panose="02040503050406030204" pitchFamily="18" charset="0"/>
                                  </a:rPr>
                                  <m:t>7</m:t>
                                </m:r>
                              </m:oMath>
                            </m:oMathPara>
                          </a14:m>
                          <a:endParaRPr lang="en-GB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GB" b="0" i="1" smtClean="0">
                                    <a:latin typeface="Cambria Math" panose="02040503050406030204" pitchFamily="18" charset="0"/>
                                  </a:rPr>
                                  <m:t>8</m:t>
                                </m:r>
                              </m:oMath>
                            </m:oMathPara>
                          </a14:m>
                          <a:endParaRPr lang="en-GB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624059737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GB"/>
                            <a:t>Worker 2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GB" b="0" i="1" smtClean="0">
                                    <a:latin typeface="Cambria Math" panose="02040503050406030204" pitchFamily="18" charset="0"/>
                                  </a:rPr>
                                  <m:t>6</m:t>
                                </m:r>
                              </m:oMath>
                            </m:oMathPara>
                          </a14:m>
                          <a:endParaRPr lang="en-GB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GB" b="0" i="1" smtClean="0">
                                    <a:latin typeface="Cambria Math" panose="02040503050406030204" pitchFamily="18" charset="0"/>
                                  </a:rPr>
                                  <m:t>4</m:t>
                                </m:r>
                              </m:oMath>
                            </m:oMathPara>
                          </a14:m>
                          <a:endParaRPr lang="en-GB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GB" b="0" i="1" smtClean="0">
                                    <a:latin typeface="Cambria Math" panose="02040503050406030204" pitchFamily="18" charset="0"/>
                                  </a:rPr>
                                  <m:t>3</m:t>
                                </m:r>
                              </m:oMath>
                            </m:oMathPara>
                          </a14:m>
                          <a:endParaRPr lang="en-GB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GB" b="0" i="1" smtClean="0">
                                    <a:latin typeface="Cambria Math" panose="02040503050406030204" pitchFamily="18" charset="0"/>
                                  </a:rPr>
                                  <m:t>7</m:t>
                                </m:r>
                              </m:oMath>
                            </m:oMathPara>
                          </a14:m>
                          <a:endParaRPr lang="en-GB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698853676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GB"/>
                            <a:t>Worker 3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GB" b="0" i="1" smtClean="0">
                                    <a:latin typeface="Cambria Math" panose="02040503050406030204" pitchFamily="18" charset="0"/>
                                  </a:rPr>
                                  <m:t>5</m:t>
                                </m:r>
                              </m:oMath>
                            </m:oMathPara>
                          </a14:m>
                          <a:endParaRPr lang="en-GB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GB" b="0" i="1" smtClean="0">
                                    <a:latin typeface="Cambria Math" panose="02040503050406030204" pitchFamily="18" charset="0"/>
                                  </a:rPr>
                                  <m:t>8</m:t>
                                </m:r>
                              </m:oMath>
                            </m:oMathPara>
                          </a14:m>
                          <a:endParaRPr lang="en-GB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GB" b="0" i="1" smtClean="0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oMath>
                            </m:oMathPara>
                          </a14:m>
                          <a:endParaRPr lang="en-GB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GB" b="0" i="1" smtClean="0">
                                    <a:latin typeface="Cambria Math" panose="02040503050406030204" pitchFamily="18" charset="0"/>
                                  </a:rPr>
                                  <m:t>8</m:t>
                                </m:r>
                              </m:oMath>
                            </m:oMathPara>
                          </a14:m>
                          <a:endParaRPr lang="en-GB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4201405043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GB"/>
                            <a:t>Worker 4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GB" b="0" i="1" smtClean="0">
                                    <a:latin typeface="Cambria Math" panose="02040503050406030204" pitchFamily="18" charset="0"/>
                                  </a:rPr>
                                  <m:t>7</m:t>
                                </m:r>
                              </m:oMath>
                            </m:oMathPara>
                          </a14:m>
                          <a:endParaRPr lang="en-GB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GB" b="0" i="1" smtClean="0">
                                    <a:latin typeface="Cambria Math" panose="02040503050406030204" pitchFamily="18" charset="0"/>
                                  </a:rPr>
                                  <m:t>6</m:t>
                                </m:r>
                              </m:oMath>
                            </m:oMathPara>
                          </a14:m>
                          <a:endParaRPr lang="en-GB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GB" b="0" i="1" smtClean="0">
                                    <a:latin typeface="Cambria Math" panose="02040503050406030204" pitchFamily="18" charset="0"/>
                                  </a:rPr>
                                  <m:t>9</m:t>
                                </m:r>
                              </m:oMath>
                            </m:oMathPara>
                          </a14:m>
                          <a:endParaRPr lang="en-GB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GB" b="0" i="1" smtClean="0">
                                    <a:latin typeface="Cambria Math" panose="02040503050406030204" pitchFamily="18" charset="0"/>
                                  </a:rPr>
                                  <m:t>4</m:t>
                                </m:r>
                              </m:oMath>
                            </m:oMathPara>
                          </a14:m>
                          <a:endParaRPr lang="en-GB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4119807754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5267" name="Table 5267">
                <a:extLst>
                  <a:ext uri="{FF2B5EF4-FFF2-40B4-BE49-F238E27FC236}">
                    <a16:creationId xmlns:a16="http://schemas.microsoft.com/office/drawing/2014/main" id="{2FF5C1BF-4138-49A6-B0C2-7F98D7F71C5F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2328935483"/>
                  </p:ext>
                </p:extLst>
              </p:nvPr>
            </p:nvGraphicFramePr>
            <p:xfrm>
              <a:off x="263165" y="2501900"/>
              <a:ext cx="5603710" cy="1854200"/>
            </p:xfrm>
            <a:graphic>
              <a:graphicData uri="http://schemas.openxmlformats.org/drawingml/2006/table">
                <a:tbl>
                  <a:tblPr firstRow="1" firstCol="1" bandRow="1">
                    <a:tableStyleId>{5C22544A-7EE6-4342-B048-85BDC9FD1C3A}</a:tableStyleId>
                  </a:tblPr>
                  <a:tblGrid>
                    <a:gridCol w="1120742">
                      <a:extLst>
                        <a:ext uri="{9D8B030D-6E8A-4147-A177-3AD203B41FA5}">
                          <a16:colId xmlns:a16="http://schemas.microsoft.com/office/drawing/2014/main" val="2571511227"/>
                        </a:ext>
                      </a:extLst>
                    </a:gridCol>
                    <a:gridCol w="1120742">
                      <a:extLst>
                        <a:ext uri="{9D8B030D-6E8A-4147-A177-3AD203B41FA5}">
                          <a16:colId xmlns:a16="http://schemas.microsoft.com/office/drawing/2014/main" val="2761822873"/>
                        </a:ext>
                      </a:extLst>
                    </a:gridCol>
                    <a:gridCol w="1120742">
                      <a:extLst>
                        <a:ext uri="{9D8B030D-6E8A-4147-A177-3AD203B41FA5}">
                          <a16:colId xmlns:a16="http://schemas.microsoft.com/office/drawing/2014/main" val="772889813"/>
                        </a:ext>
                      </a:extLst>
                    </a:gridCol>
                    <a:gridCol w="1120742">
                      <a:extLst>
                        <a:ext uri="{9D8B030D-6E8A-4147-A177-3AD203B41FA5}">
                          <a16:colId xmlns:a16="http://schemas.microsoft.com/office/drawing/2014/main" val="869018946"/>
                        </a:ext>
                      </a:extLst>
                    </a:gridCol>
                    <a:gridCol w="1120742">
                      <a:extLst>
                        <a:ext uri="{9D8B030D-6E8A-4147-A177-3AD203B41FA5}">
                          <a16:colId xmlns:a16="http://schemas.microsoft.com/office/drawing/2014/main" val="3353398207"/>
                        </a:ext>
                      </a:extLst>
                    </a:gridCol>
                  </a:tblGrid>
                  <a:tr h="370840">
                    <a:tc>
                      <a:txBody>
                        <a:bodyPr/>
                        <a:lstStyle/>
                        <a:p>
                          <a:endParaRPr lang="en-GB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GB"/>
                            <a:t>Job 1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GB"/>
                            <a:t>Job 2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GB"/>
                            <a:t>Job 3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GB"/>
                            <a:t>Job 4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962495220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r>
                            <a:rPr lang="en-GB"/>
                            <a:t>Worker 1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2"/>
                          <a:stretch>
                            <a:fillRect l="-100543" t="-108197" r="-302174" b="-32459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2"/>
                          <a:stretch>
                            <a:fillRect l="-200543" t="-108197" r="-202174" b="-32459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2"/>
                          <a:stretch>
                            <a:fillRect l="-300543" t="-108197" r="-102174" b="-32459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2"/>
                          <a:stretch>
                            <a:fillRect l="-400543" t="-108197" r="-2174" b="-324590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624059737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GB"/>
                            <a:t>Worker 2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2"/>
                          <a:stretch>
                            <a:fillRect l="-100543" t="-208197" r="-302174" b="-22459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2"/>
                          <a:stretch>
                            <a:fillRect l="-200543" t="-208197" r="-202174" b="-22459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2"/>
                          <a:stretch>
                            <a:fillRect l="-300543" t="-208197" r="-102174" b="-22459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2"/>
                          <a:stretch>
                            <a:fillRect l="-400543" t="-208197" r="-2174" b="-224590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3698853676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GB"/>
                            <a:t>Worker 3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2"/>
                          <a:stretch>
                            <a:fillRect l="-100543" t="-308197" r="-302174" b="-12459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2"/>
                          <a:stretch>
                            <a:fillRect l="-200543" t="-308197" r="-202174" b="-12459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2"/>
                          <a:stretch>
                            <a:fillRect l="-300543" t="-308197" r="-102174" b="-12459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2"/>
                          <a:stretch>
                            <a:fillRect l="-400543" t="-308197" r="-2174" b="-124590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4201405043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GB"/>
                            <a:t>Worker 4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2"/>
                          <a:stretch>
                            <a:fillRect l="-100543" t="-408197" r="-302174" b="-2459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2"/>
                          <a:stretch>
                            <a:fillRect l="-200543" t="-408197" r="-202174" b="-2459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2"/>
                          <a:stretch>
                            <a:fillRect l="-300543" t="-408197" r="-102174" b="-2459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2"/>
                          <a:stretch>
                            <a:fillRect l="-400543" t="-408197" r="-2174" b="-24590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4119807754"/>
                      </a:ext>
                    </a:extLst>
                  </a:tr>
                </a:tbl>
              </a:graphicData>
            </a:graphic>
          </p:graphicFrame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77" name="TextBox 276">
                <a:extLst>
                  <a:ext uri="{FF2B5EF4-FFF2-40B4-BE49-F238E27FC236}">
                    <a16:creationId xmlns:a16="http://schemas.microsoft.com/office/drawing/2014/main" id="{A2785456-9093-4F5D-9117-3CC17774F8F6}"/>
                  </a:ext>
                </a:extLst>
              </p:cNvPr>
              <p:cNvSpPr txBox="1"/>
              <p:nvPr/>
            </p:nvSpPr>
            <p:spPr>
              <a:xfrm>
                <a:off x="6096000" y="1625574"/>
                <a:ext cx="6440338" cy="5769656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en-GB" sz="1800" b="0" i="1" smtClean="0">
                        <a:latin typeface="Cambria Math" panose="02040503050406030204" pitchFamily="18" charset="0"/>
                      </a:rPr>
                      <m:t>𝑊</m:t>
                    </m:r>
                  </m:oMath>
                </a14:m>
                <a:r>
                  <a:rPr lang="en-GB" sz="1800" b="0" i="1">
                    <a:latin typeface="Cambria Math" panose="02040503050406030204" pitchFamily="18" charset="0"/>
                  </a:rPr>
                  <a:t>- </a:t>
                </a:r>
                <a:r>
                  <a:rPr lang="en-GB"/>
                  <a:t>Set of Workers</a:t>
                </a:r>
                <a:endParaRPr lang="en-GB" sz="1800" b="0" i="1">
                  <a:latin typeface="Cambria Math" panose="02040503050406030204" pitchFamily="18" charset="0"/>
                </a:endParaRPr>
              </a:p>
              <a:p>
                <a:pPr marL="0" indent="0">
                  <a:buNone/>
                </a:pPr>
                <a14:m>
                  <m:oMath xmlns:m="http://schemas.openxmlformats.org/officeDocument/2006/math">
                    <m:r>
                      <a:rPr lang="en-GB" sz="1800" b="0" i="1" smtClean="0">
                        <a:latin typeface="Cambria Math" panose="02040503050406030204" pitchFamily="18" charset="0"/>
                      </a:rPr>
                      <m:t>𝐽</m:t>
                    </m:r>
                  </m:oMath>
                </a14:m>
                <a:r>
                  <a:rPr lang="en-GB" sz="1800"/>
                  <a:t>   - Set of Jobs</a:t>
                </a:r>
              </a:p>
              <a:p>
                <a:pPr marL="0" indent="0">
                  <a:buNone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GB" sz="18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sz="1800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GB" sz="1800" b="0" i="1" smtClean="0">
                            <a:latin typeface="Cambria Math" panose="02040503050406030204" pitchFamily="18" charset="0"/>
                          </a:rPr>
                          <m:t>𝑢𝑣</m:t>
                        </m:r>
                      </m:sub>
                    </m:sSub>
                  </m:oMath>
                </a14:m>
                <a:r>
                  <a:rPr lang="en-GB" sz="1800"/>
                  <a:t> - Worker </a:t>
                </a:r>
                <a14:m>
                  <m:oMath xmlns:m="http://schemas.openxmlformats.org/officeDocument/2006/math">
                    <m:r>
                      <a:rPr lang="en-GB" sz="1800" b="0" i="1" smtClean="0">
                        <a:latin typeface="Cambria Math" panose="02040503050406030204" pitchFamily="18" charset="0"/>
                      </a:rPr>
                      <m:t>𝑢</m:t>
                    </m:r>
                  </m:oMath>
                </a14:m>
                <a:r>
                  <a:rPr lang="en-GB" sz="1800"/>
                  <a:t> completes job </a:t>
                </a:r>
                <a14:m>
                  <m:oMath xmlns:m="http://schemas.openxmlformats.org/officeDocument/2006/math">
                    <m:r>
                      <a:rPr lang="en-GB" sz="1800" b="0" i="1" smtClean="0">
                        <a:latin typeface="Cambria Math" panose="02040503050406030204" pitchFamily="18" charset="0"/>
                      </a:rPr>
                      <m:t>𝑣</m:t>
                    </m:r>
                  </m:oMath>
                </a14:m>
                <a:endParaRPr lang="en-GB" sz="1800"/>
              </a:p>
              <a:p>
                <a:pPr marL="0" indent="0">
                  <a:buNone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GB" sz="18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sz="1800" b="0" i="1" smtClean="0">
                            <a:latin typeface="Cambria Math" panose="02040503050406030204" pitchFamily="18" charset="0"/>
                          </a:rPr>
                          <m:t>𝑐</m:t>
                        </m:r>
                      </m:e>
                      <m:sub>
                        <m:r>
                          <a:rPr lang="en-GB" sz="1800" b="0" i="1" smtClean="0">
                            <a:latin typeface="Cambria Math" panose="02040503050406030204" pitchFamily="18" charset="0"/>
                          </a:rPr>
                          <m:t>𝑢𝑣</m:t>
                        </m:r>
                      </m:sub>
                    </m:sSub>
                  </m:oMath>
                </a14:m>
                <a:r>
                  <a:rPr lang="en-GB" sz="1800"/>
                  <a:t> - Completion time for worker </a:t>
                </a:r>
                <a14:m>
                  <m:oMath xmlns:m="http://schemas.openxmlformats.org/officeDocument/2006/math">
                    <m:r>
                      <a:rPr lang="en-GB" sz="1800" b="0" i="1" smtClean="0">
                        <a:latin typeface="Cambria Math" panose="02040503050406030204" pitchFamily="18" charset="0"/>
                      </a:rPr>
                      <m:t>𝑢</m:t>
                    </m:r>
                  </m:oMath>
                </a14:m>
                <a:r>
                  <a:rPr lang="en-GB" sz="1800"/>
                  <a:t> completing job </a:t>
                </a:r>
                <a14:m>
                  <m:oMath xmlns:m="http://schemas.openxmlformats.org/officeDocument/2006/math">
                    <m:r>
                      <a:rPr lang="en-GB" sz="1800" b="0" i="1" smtClean="0">
                        <a:latin typeface="Cambria Math" panose="02040503050406030204" pitchFamily="18" charset="0"/>
                      </a:rPr>
                      <m:t>𝑣</m:t>
                    </m:r>
                  </m:oMath>
                </a14:m>
                <a:endParaRPr lang="en-GB" sz="1800"/>
              </a:p>
              <a:p>
                <a:pPr marL="0" indent="0">
                  <a:buNone/>
                </a:pPr>
                <a:endParaRPr lang="en-GB" sz="1800"/>
              </a:p>
              <a:p>
                <a:pPr marL="0" indent="0">
                  <a:buNone/>
                </a:pPr>
                <a:r>
                  <a:rPr lang="en-GB" sz="1800"/>
                  <a:t>minimise </a:t>
                </a: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nary>
                        <m:naryPr>
                          <m:chr m:val="∑"/>
                          <m:supHide m:val="on"/>
                          <m:ctrlPr>
                            <a:rPr lang="en-GB" sz="1800" b="0" i="1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en-GB" sz="1800" b="0" i="1" smtClean="0">
                              <a:latin typeface="Cambria Math" panose="02040503050406030204" pitchFamily="18" charset="0"/>
                            </a:rPr>
                            <m:t>𝑢</m:t>
                          </m:r>
                          <m:r>
                            <a:rPr lang="en-GB" sz="1800" b="0" i="1" smtClean="0">
                              <a:latin typeface="Cambria Math" panose="02040503050406030204" pitchFamily="18" charset="0"/>
                            </a:rPr>
                            <m:t>∈</m:t>
                          </m:r>
                          <m:r>
                            <a:rPr lang="en-GB" sz="1800" b="0" i="1" smtClean="0">
                              <a:latin typeface="Cambria Math" panose="02040503050406030204" pitchFamily="18" charset="0"/>
                            </a:rPr>
                            <m:t>𝑊</m:t>
                          </m:r>
                        </m:sub>
                        <m:sup/>
                        <m:e>
                          <m:nary>
                            <m:naryPr>
                              <m:chr m:val="∑"/>
                              <m:supHide m:val="on"/>
                              <m:ctrlPr>
                                <a:rPr lang="en-GB" b="0" i="1" smtClean="0">
                                  <a:latin typeface="Cambria Math" panose="02040503050406030204" pitchFamily="18" charset="0"/>
                                </a:rPr>
                              </m:ctrlPr>
                            </m:naryPr>
                            <m:sub>
                              <m:r>
                                <a:rPr lang="en-GB" b="0" i="1" smtClean="0">
                                  <a:latin typeface="Cambria Math" panose="02040503050406030204" pitchFamily="18" charset="0"/>
                                </a:rPr>
                                <m:t>𝑣</m:t>
                              </m:r>
                              <m:r>
                                <a:rPr lang="en-GB" b="0" i="1" smtClean="0">
                                  <a:latin typeface="Cambria Math" panose="02040503050406030204" pitchFamily="18" charset="0"/>
                                </a:rPr>
                                <m:t>∈</m:t>
                              </m:r>
                              <m:r>
                                <a:rPr lang="en-GB" b="0" i="1" smtClean="0">
                                  <a:latin typeface="Cambria Math" panose="02040503050406030204" pitchFamily="18" charset="0"/>
                                </a:rPr>
                                <m:t>𝐽</m:t>
                              </m:r>
                            </m:sub>
                            <m:sup/>
                            <m:e>
                              <m:sSub>
                                <m:sSubPr>
                                  <m:ctrlPr>
                                    <a:rPr lang="en-GB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sSub>
                                    <m:sSubPr>
                                      <m:ctrlPr>
                                        <a:rPr lang="en-GB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GB" b="0" i="1" smtClean="0">
                                          <a:latin typeface="Cambria Math" panose="02040503050406030204" pitchFamily="18" charset="0"/>
                                        </a:rPr>
                                        <m:t>𝑐</m:t>
                                      </m:r>
                                    </m:e>
                                    <m:sub>
                                      <m:r>
                                        <a:rPr lang="en-GB" b="0" i="1" smtClean="0">
                                          <a:latin typeface="Cambria Math" panose="02040503050406030204" pitchFamily="18" charset="0"/>
                                        </a:rPr>
                                        <m:t>𝑢𝑣</m:t>
                                      </m:r>
                                    </m:sub>
                                  </m:sSub>
                                  <m:r>
                                    <a:rPr lang="en-GB" b="0" i="1" smtClean="0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en-GB" b="0" i="1" smtClean="0">
                                      <a:latin typeface="Cambria Math" panose="02040503050406030204" pitchFamily="18" charset="0"/>
                                    </a:rPr>
                                    <m:t>𝑢𝑣</m:t>
                                  </m:r>
                                </m:sub>
                              </m:sSub>
                            </m:e>
                          </m:nary>
                        </m:e>
                      </m:nary>
                      <m:r>
                        <a:rPr lang="en-GB" sz="1800" b="0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GB" i="1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GB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sSub>
                            <m:sSubPr>
                              <m:ctrlPr>
                                <a:rPr lang="en-GB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GB" b="0" i="1" smtClean="0">
                                  <a:latin typeface="Cambria Math" panose="02040503050406030204" pitchFamily="18" charset="0"/>
                                </a:rPr>
                                <m:t>𝑐</m:t>
                              </m:r>
                            </m:e>
                            <m:sub>
                              <m:r>
                                <a:rPr lang="en-GB" b="0" i="1" smtClean="0">
                                  <a:latin typeface="Cambria Math" panose="02040503050406030204" pitchFamily="18" charset="0"/>
                                </a:rPr>
                                <m:t>11</m:t>
                              </m:r>
                            </m:sub>
                          </m:sSub>
                          <m:r>
                            <a:rPr lang="en-GB" i="1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GB" i="1">
                              <a:latin typeface="Cambria Math" panose="02040503050406030204" pitchFamily="18" charset="0"/>
                            </a:rPr>
                            <m:t>11</m:t>
                          </m:r>
                        </m:sub>
                      </m:sSub>
                      <m:r>
                        <a:rPr lang="en-GB" i="1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GB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sSub>
                            <m:sSubPr>
                              <m:ctrlPr>
                                <a:rPr lang="en-GB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GB" b="0" i="1" smtClean="0">
                                  <a:latin typeface="Cambria Math" panose="02040503050406030204" pitchFamily="18" charset="0"/>
                                </a:rPr>
                                <m:t>𝑐</m:t>
                              </m:r>
                            </m:e>
                            <m:sub>
                              <m:r>
                                <a:rPr lang="en-GB" b="0" i="1" smtClean="0">
                                  <a:latin typeface="Cambria Math" panose="02040503050406030204" pitchFamily="18" charset="0"/>
                                </a:rPr>
                                <m:t>12</m:t>
                              </m:r>
                            </m:sub>
                          </m:sSub>
                          <m:r>
                            <a:rPr lang="en-GB" i="1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GB" i="1">
                              <a:latin typeface="Cambria Math" panose="02040503050406030204" pitchFamily="18" charset="0"/>
                            </a:rPr>
                            <m:t>12</m:t>
                          </m:r>
                        </m:sub>
                      </m:sSub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+…</m:t>
                      </m:r>
                    </m:oMath>
                    <m:oMath xmlns:m="http://schemas.openxmlformats.org/officeDocument/2006/math"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                                                +</m:t>
                      </m:r>
                      <m:sSub>
                        <m:sSubPr>
                          <m:ctrlPr>
                            <a:rPr lang="en-GB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sSub>
                            <m:sSubPr>
                              <m:ctrlPr>
                                <a:rPr lang="en-GB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GB" b="0" i="1" smtClean="0">
                                  <a:latin typeface="Cambria Math" panose="02040503050406030204" pitchFamily="18" charset="0"/>
                                </a:rPr>
                                <m:t>𝑐</m:t>
                              </m:r>
                            </m:e>
                            <m:sub>
                              <m:r>
                                <a:rPr lang="en-GB" b="0" i="1" smtClean="0">
                                  <a:latin typeface="Cambria Math" panose="02040503050406030204" pitchFamily="18" charset="0"/>
                                </a:rPr>
                                <m:t>𝑢𝑣</m:t>
                              </m:r>
                            </m:sub>
                          </m:sSub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𝑢𝑣</m:t>
                          </m:r>
                        </m:sub>
                      </m:sSub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+…+</m:t>
                      </m:r>
                      <m:sSub>
                        <m:sSubPr>
                          <m:ctrlPr>
                            <a:rPr lang="en-GB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sSub>
                            <m:sSubPr>
                              <m:ctrlPr>
                                <a:rPr lang="en-GB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GB" b="0" i="1" smtClean="0">
                                  <a:latin typeface="Cambria Math" panose="02040503050406030204" pitchFamily="18" charset="0"/>
                                </a:rPr>
                                <m:t>𝑐</m:t>
                              </m:r>
                            </m:e>
                            <m:sub>
                              <m:r>
                                <a:rPr lang="en-GB" b="0" i="1" smtClean="0">
                                  <a:latin typeface="Cambria Math" panose="02040503050406030204" pitchFamily="18" charset="0"/>
                                </a:rPr>
                                <m:t>44</m:t>
                              </m:r>
                            </m:sub>
                          </m:sSub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44</m:t>
                          </m:r>
                        </m:sub>
                      </m:sSub>
                    </m:oMath>
                  </m:oMathPara>
                </a14:m>
                <a:endParaRPr lang="en-GB" sz="1800"/>
              </a:p>
              <a:p>
                <a:pPr marL="0" indent="0">
                  <a:buNone/>
                </a:pPr>
                <a:r>
                  <a:rPr lang="en-GB" sz="1800"/>
                  <a:t>subject to:</a:t>
                </a: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nary>
                        <m:naryPr>
                          <m:chr m:val="∑"/>
                          <m:supHide m:val="on"/>
                          <m:ctrlPr>
                            <a:rPr lang="en-GB" i="1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𝑣</m:t>
                          </m:r>
                          <m:r>
                            <a:rPr lang="en-GB" i="1">
                              <a:latin typeface="Cambria Math" panose="02040503050406030204" pitchFamily="18" charset="0"/>
                            </a:rPr>
                            <m:t>∈</m:t>
                          </m:r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𝐽</m:t>
                          </m:r>
                        </m:sub>
                        <m:sup/>
                        <m:e>
                          <m:sSub>
                            <m:sSubPr>
                              <m:ctrlPr>
                                <a:rPr lang="en-GB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GB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GB" b="0" i="1" smtClean="0">
                                  <a:latin typeface="Cambria Math" panose="02040503050406030204" pitchFamily="18" charset="0"/>
                                </a:rPr>
                                <m:t>𝑢𝑣</m:t>
                              </m:r>
                            </m:sub>
                          </m:sSub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=1</m:t>
                          </m:r>
                        </m:e>
                      </m:nary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,  ∀</m:t>
                      </m:r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𝑢</m:t>
                      </m:r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∈</m:t>
                      </m:r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𝑊</m:t>
                      </m:r>
                    </m:oMath>
                  </m:oMathPara>
                </a14:m>
                <a:endParaRPr lang="en-GB" sz="1800"/>
              </a:p>
              <a:p>
                <a:endParaRPr lang="en-GB"/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nary>
                        <m:naryPr>
                          <m:chr m:val="∑"/>
                          <m:supHide m:val="on"/>
                          <m:ctrlPr>
                            <a:rPr lang="en-GB" i="1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𝑢</m:t>
                          </m:r>
                          <m:r>
                            <a:rPr lang="en-GB" i="1">
                              <a:latin typeface="Cambria Math" panose="02040503050406030204" pitchFamily="18" charset="0"/>
                            </a:rPr>
                            <m:t>∈</m:t>
                          </m:r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𝑊</m:t>
                          </m:r>
                        </m:sub>
                        <m:sup/>
                        <m:e>
                          <m:sSub>
                            <m:sSubPr>
                              <m:ctrlPr>
                                <a:rPr lang="en-GB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GB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GB" b="0" i="1" smtClean="0">
                                  <a:latin typeface="Cambria Math" panose="02040503050406030204" pitchFamily="18" charset="0"/>
                                </a:rPr>
                                <m:t>𝑢𝑣</m:t>
                              </m:r>
                            </m:sub>
                          </m:sSub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=1</m:t>
                          </m:r>
                        </m:e>
                      </m:nary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,  ∀</m:t>
                      </m:r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𝑣</m:t>
                      </m:r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∈</m:t>
                      </m:r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𝐽</m:t>
                      </m:r>
                    </m:oMath>
                  </m:oMathPara>
                </a14:m>
                <a:endParaRPr lang="en-GB" sz="1800"/>
              </a:p>
              <a:p>
                <a:endParaRPr lang="en-GB"/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GB" sz="18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sz="1800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GB" sz="1800" b="0" i="1" smtClean="0">
                              <a:latin typeface="Cambria Math" panose="02040503050406030204" pitchFamily="18" charset="0"/>
                            </a:rPr>
                            <m:t>𝑢𝑣</m:t>
                          </m:r>
                        </m:sub>
                      </m:sSub>
                      <m:r>
                        <a:rPr lang="en-GB" sz="1800" b="0" i="1" smtClean="0">
                          <a:latin typeface="Cambria Math" panose="02040503050406030204" pitchFamily="18" charset="0"/>
                        </a:rPr>
                        <m:t>∈{0,1}</m:t>
                      </m:r>
                    </m:oMath>
                  </m:oMathPara>
                </a14:m>
                <a:endParaRPr lang="en-GB" sz="1800"/>
              </a:p>
              <a:p>
                <a:endParaRPr lang="en-GB" sz="1800"/>
              </a:p>
              <a:p>
                <a:endParaRPr lang="en-GB" sz="1800"/>
              </a:p>
            </p:txBody>
          </p:sp>
        </mc:Choice>
        <mc:Fallback xmlns="">
          <p:sp>
            <p:nvSpPr>
              <p:cNvPr id="277" name="TextBox 276">
                <a:extLst>
                  <a:ext uri="{FF2B5EF4-FFF2-40B4-BE49-F238E27FC236}">
                    <a16:creationId xmlns:a16="http://schemas.microsoft.com/office/drawing/2014/main" id="{A2785456-9093-4F5D-9117-3CC17774F8F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096000" y="1625574"/>
                <a:ext cx="6440338" cy="5769656"/>
              </a:xfrm>
              <a:prstGeom prst="rect">
                <a:avLst/>
              </a:prstGeom>
              <a:blipFill>
                <a:blip r:embed="rId3"/>
                <a:stretch>
                  <a:fillRect l="-758" t="-84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5269" name="Content Placeholder 5">
            <a:extLst>
              <a:ext uri="{FF2B5EF4-FFF2-40B4-BE49-F238E27FC236}">
                <a16:creationId xmlns:a16="http://schemas.microsoft.com/office/drawing/2014/main" id="{BECB2219-215D-46C4-899E-92DDE590905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12320" y="4356100"/>
            <a:ext cx="5105400" cy="2286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75782865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3E593E6-3D2F-4C7E-80B2-F78D636A9E0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706293"/>
          </a:xfrm>
        </p:spPr>
        <p:txBody>
          <a:bodyPr/>
          <a:lstStyle/>
          <a:p>
            <a:r>
              <a:rPr lang="en-GB"/>
              <a:t>Balanced Assignment Problem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410F588-CD01-495F-9E8F-658803448F0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432874"/>
            <a:ext cx="10515600" cy="4744089"/>
          </a:xfrm>
        </p:spPr>
        <p:txBody>
          <a:bodyPr/>
          <a:lstStyle/>
          <a:p>
            <a:r>
              <a:rPr lang="en-GB"/>
              <a:t>Optimal Solution</a:t>
            </a:r>
          </a:p>
        </p:txBody>
      </p:sp>
      <p:grpSp>
        <p:nvGrpSpPr>
          <p:cNvPr id="6" name="Group 5">
            <a:extLst>
              <a:ext uri="{FF2B5EF4-FFF2-40B4-BE49-F238E27FC236}">
                <a16:creationId xmlns:a16="http://schemas.microsoft.com/office/drawing/2014/main" id="{06280EFC-A85E-4638-8A5F-C21ECE459A82}"/>
              </a:ext>
            </a:extLst>
          </p:cNvPr>
          <p:cNvGrpSpPr/>
          <p:nvPr/>
        </p:nvGrpSpPr>
        <p:grpSpPr>
          <a:xfrm>
            <a:off x="7394713" y="1893545"/>
            <a:ext cx="3959087" cy="3611217"/>
            <a:chOff x="1401417" y="2365513"/>
            <a:chExt cx="3959087" cy="3611217"/>
          </a:xfrm>
        </p:grpSpPr>
        <p:sp>
          <p:nvSpPr>
            <p:cNvPr id="7" name="Oval 6">
              <a:extLst>
                <a:ext uri="{FF2B5EF4-FFF2-40B4-BE49-F238E27FC236}">
                  <a16:creationId xmlns:a16="http://schemas.microsoft.com/office/drawing/2014/main" id="{F1AAFD12-EE8B-4263-8FEF-678A5AE4F815}"/>
                </a:ext>
              </a:extLst>
            </p:cNvPr>
            <p:cNvSpPr/>
            <p:nvPr/>
          </p:nvSpPr>
          <p:spPr>
            <a:xfrm>
              <a:off x="1401417" y="2365513"/>
              <a:ext cx="914400" cy="914400"/>
            </a:xfrm>
            <a:prstGeom prst="ellipse">
              <a:avLst/>
            </a:prstGeom>
            <a:ln w="28575">
              <a:headEnd type="none" w="med" len="med"/>
              <a:tailEnd type="none" w="med" len="me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GB"/>
                <a:t>1</a:t>
              </a:r>
            </a:p>
          </p:txBody>
        </p:sp>
        <p:sp>
          <p:nvSpPr>
            <p:cNvPr id="8" name="Oval 7">
              <a:extLst>
                <a:ext uri="{FF2B5EF4-FFF2-40B4-BE49-F238E27FC236}">
                  <a16:creationId xmlns:a16="http://schemas.microsoft.com/office/drawing/2014/main" id="{4DCD040F-C774-4949-A2C0-9E362AD31262}"/>
                </a:ext>
              </a:extLst>
            </p:cNvPr>
            <p:cNvSpPr/>
            <p:nvPr/>
          </p:nvSpPr>
          <p:spPr>
            <a:xfrm>
              <a:off x="1401417" y="3713921"/>
              <a:ext cx="914400" cy="914400"/>
            </a:xfrm>
            <a:prstGeom prst="ellipse">
              <a:avLst/>
            </a:prstGeom>
            <a:ln w="28575">
              <a:headEnd type="none" w="med" len="med"/>
              <a:tailEnd type="none" w="med" len="me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GB"/>
                <a:t>2</a:t>
              </a:r>
            </a:p>
          </p:txBody>
        </p:sp>
        <p:sp>
          <p:nvSpPr>
            <p:cNvPr id="9" name="Oval 8">
              <a:extLst>
                <a:ext uri="{FF2B5EF4-FFF2-40B4-BE49-F238E27FC236}">
                  <a16:creationId xmlns:a16="http://schemas.microsoft.com/office/drawing/2014/main" id="{88055194-E144-4BC4-B12F-DA80C72A27E0}"/>
                </a:ext>
              </a:extLst>
            </p:cNvPr>
            <p:cNvSpPr/>
            <p:nvPr/>
          </p:nvSpPr>
          <p:spPr>
            <a:xfrm>
              <a:off x="1401417" y="5062330"/>
              <a:ext cx="914400" cy="914400"/>
            </a:xfrm>
            <a:prstGeom prst="ellipse">
              <a:avLst/>
            </a:prstGeom>
            <a:ln w="28575">
              <a:headEnd type="none" w="med" len="med"/>
              <a:tailEnd type="none" w="med" len="me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GB"/>
                <a:t>3</a:t>
              </a:r>
            </a:p>
          </p:txBody>
        </p:sp>
        <p:sp>
          <p:nvSpPr>
            <p:cNvPr id="10" name="Oval 9">
              <a:extLst>
                <a:ext uri="{FF2B5EF4-FFF2-40B4-BE49-F238E27FC236}">
                  <a16:creationId xmlns:a16="http://schemas.microsoft.com/office/drawing/2014/main" id="{5DC40150-CCFA-40B1-8F65-BF76E72B7B3E}"/>
                </a:ext>
              </a:extLst>
            </p:cNvPr>
            <p:cNvSpPr/>
            <p:nvPr/>
          </p:nvSpPr>
          <p:spPr>
            <a:xfrm>
              <a:off x="4446104" y="2365513"/>
              <a:ext cx="914400" cy="914400"/>
            </a:xfrm>
            <a:prstGeom prst="ellipse">
              <a:avLst/>
            </a:prstGeom>
            <a:ln w="28575">
              <a:headEnd type="none" w="med" len="med"/>
              <a:tailEnd type="none" w="med" len="me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GB"/>
                <a:t>1</a:t>
              </a:r>
            </a:p>
          </p:txBody>
        </p:sp>
        <p:sp>
          <p:nvSpPr>
            <p:cNvPr id="11" name="Oval 10">
              <a:extLst>
                <a:ext uri="{FF2B5EF4-FFF2-40B4-BE49-F238E27FC236}">
                  <a16:creationId xmlns:a16="http://schemas.microsoft.com/office/drawing/2014/main" id="{4E1C2953-DC8B-4723-B295-A3486D4709FA}"/>
                </a:ext>
              </a:extLst>
            </p:cNvPr>
            <p:cNvSpPr/>
            <p:nvPr/>
          </p:nvSpPr>
          <p:spPr>
            <a:xfrm>
              <a:off x="4446104" y="3713921"/>
              <a:ext cx="914400" cy="914400"/>
            </a:xfrm>
            <a:prstGeom prst="ellipse">
              <a:avLst/>
            </a:prstGeom>
            <a:ln w="28575">
              <a:headEnd type="none" w="med" len="med"/>
              <a:tailEnd type="none" w="med" len="me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GB"/>
                <a:t>2</a:t>
              </a:r>
            </a:p>
          </p:txBody>
        </p:sp>
        <p:sp>
          <p:nvSpPr>
            <p:cNvPr id="12" name="Oval 11">
              <a:extLst>
                <a:ext uri="{FF2B5EF4-FFF2-40B4-BE49-F238E27FC236}">
                  <a16:creationId xmlns:a16="http://schemas.microsoft.com/office/drawing/2014/main" id="{92200340-A816-4859-8361-61760B2C8990}"/>
                </a:ext>
              </a:extLst>
            </p:cNvPr>
            <p:cNvSpPr/>
            <p:nvPr/>
          </p:nvSpPr>
          <p:spPr>
            <a:xfrm>
              <a:off x="4446104" y="5062330"/>
              <a:ext cx="914400" cy="914400"/>
            </a:xfrm>
            <a:prstGeom prst="ellipse">
              <a:avLst/>
            </a:prstGeom>
            <a:ln w="28575">
              <a:headEnd type="none" w="med" len="med"/>
              <a:tailEnd type="none" w="med" len="me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GB"/>
                <a:t>3</a:t>
              </a:r>
            </a:p>
          </p:txBody>
        </p:sp>
        <p:cxnSp>
          <p:nvCxnSpPr>
            <p:cNvPr id="14" name="Straight Arrow Connector 13">
              <a:extLst>
                <a:ext uri="{FF2B5EF4-FFF2-40B4-BE49-F238E27FC236}">
                  <a16:creationId xmlns:a16="http://schemas.microsoft.com/office/drawing/2014/main" id="{1CBBAA8C-8E94-4A92-9D25-9E446C8616D0}"/>
                </a:ext>
              </a:extLst>
            </p:cNvPr>
            <p:cNvCxnSpPr>
              <a:stCxn id="7" idx="6"/>
              <a:endCxn id="11" idx="2"/>
            </p:cNvCxnSpPr>
            <p:nvPr/>
          </p:nvCxnSpPr>
          <p:spPr>
            <a:xfrm>
              <a:off x="2315817" y="2822713"/>
              <a:ext cx="2130287" cy="1348408"/>
            </a:xfrm>
            <a:prstGeom prst="straightConnector1">
              <a:avLst/>
            </a:prstGeom>
            <a:ln w="28575"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Straight Arrow Connector 18">
              <a:extLst>
                <a:ext uri="{FF2B5EF4-FFF2-40B4-BE49-F238E27FC236}">
                  <a16:creationId xmlns:a16="http://schemas.microsoft.com/office/drawing/2014/main" id="{C0B38595-8C78-4AF8-907A-7CE0FFD4D1F2}"/>
                </a:ext>
              </a:extLst>
            </p:cNvPr>
            <p:cNvCxnSpPr>
              <a:cxnSpLocks/>
              <a:stCxn id="9" idx="6"/>
              <a:endCxn id="12" idx="2"/>
            </p:cNvCxnSpPr>
            <p:nvPr/>
          </p:nvCxnSpPr>
          <p:spPr>
            <a:xfrm>
              <a:off x="2315817" y="5519530"/>
              <a:ext cx="2130287" cy="0"/>
            </a:xfrm>
            <a:prstGeom prst="straightConnector1">
              <a:avLst/>
            </a:prstGeom>
            <a:ln w="28575"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2" name="Oval 21">
            <a:extLst>
              <a:ext uri="{FF2B5EF4-FFF2-40B4-BE49-F238E27FC236}">
                <a16:creationId xmlns:a16="http://schemas.microsoft.com/office/drawing/2014/main" id="{8F4D3A9B-D5CD-45E1-B9D4-179FF2BA21B3}"/>
              </a:ext>
            </a:extLst>
          </p:cNvPr>
          <p:cNvSpPr/>
          <p:nvPr/>
        </p:nvSpPr>
        <p:spPr>
          <a:xfrm>
            <a:off x="7394713" y="5866218"/>
            <a:ext cx="914400" cy="914400"/>
          </a:xfrm>
          <a:prstGeom prst="ellipse">
            <a:avLst/>
          </a:prstGeom>
          <a:ln w="28575"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/>
              <a:t>4</a:t>
            </a:r>
          </a:p>
        </p:txBody>
      </p:sp>
      <p:sp>
        <p:nvSpPr>
          <p:cNvPr id="23" name="Oval 22">
            <a:extLst>
              <a:ext uri="{FF2B5EF4-FFF2-40B4-BE49-F238E27FC236}">
                <a16:creationId xmlns:a16="http://schemas.microsoft.com/office/drawing/2014/main" id="{90BDBD5D-8B7A-4911-BAD6-705D42648A03}"/>
              </a:ext>
            </a:extLst>
          </p:cNvPr>
          <p:cNvSpPr/>
          <p:nvPr/>
        </p:nvSpPr>
        <p:spPr>
          <a:xfrm>
            <a:off x="10439400" y="5866218"/>
            <a:ext cx="914400" cy="914400"/>
          </a:xfrm>
          <a:prstGeom prst="ellipse">
            <a:avLst/>
          </a:prstGeom>
          <a:ln w="28575"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/>
              <a:t>4</a:t>
            </a:r>
          </a:p>
        </p:txBody>
      </p:sp>
      <p:cxnSp>
        <p:nvCxnSpPr>
          <p:cNvPr id="25" name="Straight Arrow Connector 24">
            <a:extLst>
              <a:ext uri="{FF2B5EF4-FFF2-40B4-BE49-F238E27FC236}">
                <a16:creationId xmlns:a16="http://schemas.microsoft.com/office/drawing/2014/main" id="{5411E733-9E05-4127-8427-CE742ED2AE16}"/>
              </a:ext>
            </a:extLst>
          </p:cNvPr>
          <p:cNvCxnSpPr>
            <a:cxnSpLocks/>
            <a:stCxn id="8" idx="6"/>
            <a:endCxn id="10" idx="2"/>
          </p:cNvCxnSpPr>
          <p:nvPr/>
        </p:nvCxnSpPr>
        <p:spPr>
          <a:xfrm flipV="1">
            <a:off x="8309113" y="2350745"/>
            <a:ext cx="2130287" cy="1348408"/>
          </a:xfrm>
          <a:prstGeom prst="straightConnector1">
            <a:avLst/>
          </a:prstGeom>
          <a:ln w="28575"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Straight Arrow Connector 27">
            <a:extLst>
              <a:ext uri="{FF2B5EF4-FFF2-40B4-BE49-F238E27FC236}">
                <a16:creationId xmlns:a16="http://schemas.microsoft.com/office/drawing/2014/main" id="{A1B93A43-3615-4BB5-A928-25DC872945A1}"/>
              </a:ext>
            </a:extLst>
          </p:cNvPr>
          <p:cNvCxnSpPr>
            <a:cxnSpLocks/>
            <a:stCxn id="22" idx="6"/>
            <a:endCxn id="23" idx="2"/>
          </p:cNvCxnSpPr>
          <p:nvPr/>
        </p:nvCxnSpPr>
        <p:spPr>
          <a:xfrm>
            <a:off x="8309113" y="6323418"/>
            <a:ext cx="2130287" cy="0"/>
          </a:xfrm>
          <a:prstGeom prst="straightConnector1">
            <a:avLst/>
          </a:prstGeom>
          <a:ln w="28575"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32" name="TextBox 31">
                <a:extLst>
                  <a:ext uri="{FF2B5EF4-FFF2-40B4-BE49-F238E27FC236}">
                    <a16:creationId xmlns:a16="http://schemas.microsoft.com/office/drawing/2014/main" id="{A6F61CA7-D6F4-42BD-9BAA-C66E8AF0A052}"/>
                  </a:ext>
                </a:extLst>
              </p:cNvPr>
              <p:cNvSpPr txBox="1"/>
              <p:nvPr/>
            </p:nvSpPr>
            <p:spPr>
              <a:xfrm>
                <a:off x="612068" y="4726115"/>
                <a:ext cx="6094378" cy="1754326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en-GB"/>
                  <a:t>This is a bipartite graph and requires a perfect matching…</a:t>
                </a:r>
              </a:p>
              <a:p>
                <a:endParaRPr lang="en-GB"/>
              </a:p>
              <a:p>
                <a:r>
                  <a:rPr lang="en-GB"/>
                  <a:t>Here every vertex is included and no edge has a common vertex</a:t>
                </a:r>
              </a:p>
              <a:p>
                <a:endParaRPr lang="en-GB"/>
              </a:p>
              <a:p>
                <a:r>
                  <a:rPr lang="en-GB"/>
                  <a:t>Cost is </a:t>
                </a:r>
                <a14:m>
                  <m:oMath xmlns:m="http://schemas.openxmlformats.org/officeDocument/2006/math">
                    <m:r>
                      <a:rPr lang="en-GB" b="0" i="1" smtClean="0">
                        <a:latin typeface="Cambria Math" panose="02040503050406030204" pitchFamily="18" charset="0"/>
                      </a:rPr>
                      <m:t>2+6+1+4=13</m:t>
                    </m:r>
                  </m:oMath>
                </a14:m>
                <a:endParaRPr lang="en-GB"/>
              </a:p>
            </p:txBody>
          </p:sp>
        </mc:Choice>
        <mc:Fallback xmlns="">
          <p:sp>
            <p:nvSpPr>
              <p:cNvPr id="32" name="TextBox 31">
                <a:extLst>
                  <a:ext uri="{FF2B5EF4-FFF2-40B4-BE49-F238E27FC236}">
                    <a16:creationId xmlns:a16="http://schemas.microsoft.com/office/drawing/2014/main" id="{A6F61CA7-D6F4-42BD-9BAA-C66E8AF0A05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12068" y="4726115"/>
                <a:ext cx="6094378" cy="1754326"/>
              </a:xfrm>
              <a:prstGeom prst="rect">
                <a:avLst/>
              </a:prstGeom>
              <a:blipFill>
                <a:blip r:embed="rId2"/>
                <a:stretch>
                  <a:fillRect l="-800" t="-1736" b="-451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3" name="Table 5267">
                <a:extLst>
                  <a:ext uri="{FF2B5EF4-FFF2-40B4-BE49-F238E27FC236}">
                    <a16:creationId xmlns:a16="http://schemas.microsoft.com/office/drawing/2014/main" id="{B7567E64-58FF-4349-81E2-6B0DDD0BA05C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2779365105"/>
                  </p:ext>
                </p:extLst>
              </p:nvPr>
            </p:nvGraphicFramePr>
            <p:xfrm>
              <a:off x="263165" y="2501900"/>
              <a:ext cx="5603710" cy="1854200"/>
            </p:xfrm>
            <a:graphic>
              <a:graphicData uri="http://schemas.openxmlformats.org/drawingml/2006/table">
                <a:tbl>
                  <a:tblPr firstRow="1" firstCol="1" bandRow="1">
                    <a:tableStyleId>{5C22544A-7EE6-4342-B048-85BDC9FD1C3A}</a:tableStyleId>
                  </a:tblPr>
                  <a:tblGrid>
                    <a:gridCol w="1120742">
                      <a:extLst>
                        <a:ext uri="{9D8B030D-6E8A-4147-A177-3AD203B41FA5}">
                          <a16:colId xmlns:a16="http://schemas.microsoft.com/office/drawing/2014/main" val="2571511227"/>
                        </a:ext>
                      </a:extLst>
                    </a:gridCol>
                    <a:gridCol w="1120742">
                      <a:extLst>
                        <a:ext uri="{9D8B030D-6E8A-4147-A177-3AD203B41FA5}">
                          <a16:colId xmlns:a16="http://schemas.microsoft.com/office/drawing/2014/main" val="2761822873"/>
                        </a:ext>
                      </a:extLst>
                    </a:gridCol>
                    <a:gridCol w="1120742">
                      <a:extLst>
                        <a:ext uri="{9D8B030D-6E8A-4147-A177-3AD203B41FA5}">
                          <a16:colId xmlns:a16="http://schemas.microsoft.com/office/drawing/2014/main" val="772889813"/>
                        </a:ext>
                      </a:extLst>
                    </a:gridCol>
                    <a:gridCol w="1120742">
                      <a:extLst>
                        <a:ext uri="{9D8B030D-6E8A-4147-A177-3AD203B41FA5}">
                          <a16:colId xmlns:a16="http://schemas.microsoft.com/office/drawing/2014/main" val="869018946"/>
                        </a:ext>
                      </a:extLst>
                    </a:gridCol>
                    <a:gridCol w="1120742">
                      <a:extLst>
                        <a:ext uri="{9D8B030D-6E8A-4147-A177-3AD203B41FA5}">
                          <a16:colId xmlns:a16="http://schemas.microsoft.com/office/drawing/2014/main" val="3353398207"/>
                        </a:ext>
                      </a:extLst>
                    </a:gridCol>
                  </a:tblGrid>
                  <a:tr h="370840">
                    <a:tc>
                      <a:txBody>
                        <a:bodyPr/>
                        <a:lstStyle/>
                        <a:p>
                          <a:endParaRPr lang="en-GB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GB"/>
                            <a:t>Job 1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GB"/>
                            <a:t>Job 2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GB"/>
                            <a:t>Job 3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GB"/>
                            <a:t>Job 4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962495220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r>
                            <a:rPr lang="en-GB"/>
                            <a:t>Worker 1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GB" b="0" i="1" smtClean="0">
                                    <a:latin typeface="Cambria Math" panose="02040503050406030204" pitchFamily="18" charset="0"/>
                                  </a:rPr>
                                  <m:t>9</m:t>
                                </m:r>
                              </m:oMath>
                            </m:oMathPara>
                          </a14:m>
                          <a:endParaRPr lang="en-GB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GB" b="0" i="1" smtClean="0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oMath>
                            </m:oMathPara>
                          </a14:m>
                          <a:endParaRPr lang="en-GB"/>
                        </a:p>
                      </a:txBody>
                      <a:tcPr>
                        <a:solidFill>
                          <a:schemeClr val="accent4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GB" b="0" i="1" smtClean="0">
                                    <a:latin typeface="Cambria Math" panose="02040503050406030204" pitchFamily="18" charset="0"/>
                                  </a:rPr>
                                  <m:t>7</m:t>
                                </m:r>
                              </m:oMath>
                            </m:oMathPara>
                          </a14:m>
                          <a:endParaRPr lang="en-GB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GB" b="0" i="1" smtClean="0">
                                    <a:latin typeface="Cambria Math" panose="02040503050406030204" pitchFamily="18" charset="0"/>
                                  </a:rPr>
                                  <m:t>8</m:t>
                                </m:r>
                              </m:oMath>
                            </m:oMathPara>
                          </a14:m>
                          <a:endParaRPr lang="en-GB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624059737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GB"/>
                            <a:t>Worker 2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GB" b="0" i="1" smtClean="0">
                                    <a:latin typeface="Cambria Math" panose="02040503050406030204" pitchFamily="18" charset="0"/>
                                  </a:rPr>
                                  <m:t>6</m:t>
                                </m:r>
                              </m:oMath>
                            </m:oMathPara>
                          </a14:m>
                          <a:endParaRPr lang="en-GB"/>
                        </a:p>
                      </a:txBody>
                      <a:tcPr>
                        <a:solidFill>
                          <a:schemeClr val="accent4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GB" b="0" i="1" smtClean="0">
                                    <a:latin typeface="Cambria Math" panose="02040503050406030204" pitchFamily="18" charset="0"/>
                                  </a:rPr>
                                  <m:t>4</m:t>
                                </m:r>
                              </m:oMath>
                            </m:oMathPara>
                          </a14:m>
                          <a:endParaRPr lang="en-GB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GB" b="0" i="1" smtClean="0">
                                    <a:latin typeface="Cambria Math" panose="02040503050406030204" pitchFamily="18" charset="0"/>
                                  </a:rPr>
                                  <m:t>3</m:t>
                                </m:r>
                              </m:oMath>
                            </m:oMathPara>
                          </a14:m>
                          <a:endParaRPr lang="en-GB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GB" b="0" i="1" smtClean="0">
                                    <a:latin typeface="Cambria Math" panose="02040503050406030204" pitchFamily="18" charset="0"/>
                                  </a:rPr>
                                  <m:t>7</m:t>
                                </m:r>
                              </m:oMath>
                            </m:oMathPara>
                          </a14:m>
                          <a:endParaRPr lang="en-GB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698853676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GB"/>
                            <a:t>Worker 3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GB" b="0" i="1" smtClean="0">
                                    <a:latin typeface="Cambria Math" panose="02040503050406030204" pitchFamily="18" charset="0"/>
                                  </a:rPr>
                                  <m:t>5</m:t>
                                </m:r>
                              </m:oMath>
                            </m:oMathPara>
                          </a14:m>
                          <a:endParaRPr lang="en-GB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GB" b="0" i="1" smtClean="0">
                                    <a:latin typeface="Cambria Math" panose="02040503050406030204" pitchFamily="18" charset="0"/>
                                  </a:rPr>
                                  <m:t>8</m:t>
                                </m:r>
                              </m:oMath>
                            </m:oMathPara>
                          </a14:m>
                          <a:endParaRPr lang="en-GB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GB" b="0" i="1" smtClean="0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oMath>
                            </m:oMathPara>
                          </a14:m>
                          <a:endParaRPr lang="en-GB"/>
                        </a:p>
                      </a:txBody>
                      <a:tcPr>
                        <a:solidFill>
                          <a:schemeClr val="accent4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GB" b="0" i="1" smtClean="0">
                                    <a:latin typeface="Cambria Math" panose="02040503050406030204" pitchFamily="18" charset="0"/>
                                  </a:rPr>
                                  <m:t>8</m:t>
                                </m:r>
                              </m:oMath>
                            </m:oMathPara>
                          </a14:m>
                          <a:endParaRPr lang="en-GB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4201405043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GB"/>
                            <a:t>Worker 4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GB" b="0" i="1" smtClean="0">
                                    <a:latin typeface="Cambria Math" panose="02040503050406030204" pitchFamily="18" charset="0"/>
                                  </a:rPr>
                                  <m:t>7</m:t>
                                </m:r>
                              </m:oMath>
                            </m:oMathPara>
                          </a14:m>
                          <a:endParaRPr lang="en-GB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GB" b="0" i="1" smtClean="0">
                                    <a:latin typeface="Cambria Math" panose="02040503050406030204" pitchFamily="18" charset="0"/>
                                  </a:rPr>
                                  <m:t>6</m:t>
                                </m:r>
                              </m:oMath>
                            </m:oMathPara>
                          </a14:m>
                          <a:endParaRPr lang="en-GB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GB" b="0" i="1" smtClean="0">
                                    <a:latin typeface="Cambria Math" panose="02040503050406030204" pitchFamily="18" charset="0"/>
                                  </a:rPr>
                                  <m:t>9</m:t>
                                </m:r>
                              </m:oMath>
                            </m:oMathPara>
                          </a14:m>
                          <a:endParaRPr lang="en-GB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GB" b="0" i="1" smtClean="0">
                                    <a:latin typeface="Cambria Math" panose="02040503050406030204" pitchFamily="18" charset="0"/>
                                  </a:rPr>
                                  <m:t>4</m:t>
                                </m:r>
                              </m:oMath>
                            </m:oMathPara>
                          </a14:m>
                          <a:endParaRPr lang="en-GB"/>
                        </a:p>
                      </a:txBody>
                      <a:tcPr>
                        <a:solidFill>
                          <a:schemeClr val="accent4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4119807754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3" name="Table 5267">
                <a:extLst>
                  <a:ext uri="{FF2B5EF4-FFF2-40B4-BE49-F238E27FC236}">
                    <a16:creationId xmlns:a16="http://schemas.microsoft.com/office/drawing/2014/main" id="{B7567E64-58FF-4349-81E2-6B0DDD0BA05C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2779365105"/>
                  </p:ext>
                </p:extLst>
              </p:nvPr>
            </p:nvGraphicFramePr>
            <p:xfrm>
              <a:off x="263165" y="2501900"/>
              <a:ext cx="5603710" cy="1854200"/>
            </p:xfrm>
            <a:graphic>
              <a:graphicData uri="http://schemas.openxmlformats.org/drawingml/2006/table">
                <a:tbl>
                  <a:tblPr firstRow="1" firstCol="1" bandRow="1">
                    <a:tableStyleId>{5C22544A-7EE6-4342-B048-85BDC9FD1C3A}</a:tableStyleId>
                  </a:tblPr>
                  <a:tblGrid>
                    <a:gridCol w="1120742">
                      <a:extLst>
                        <a:ext uri="{9D8B030D-6E8A-4147-A177-3AD203B41FA5}">
                          <a16:colId xmlns:a16="http://schemas.microsoft.com/office/drawing/2014/main" val="2571511227"/>
                        </a:ext>
                      </a:extLst>
                    </a:gridCol>
                    <a:gridCol w="1120742">
                      <a:extLst>
                        <a:ext uri="{9D8B030D-6E8A-4147-A177-3AD203B41FA5}">
                          <a16:colId xmlns:a16="http://schemas.microsoft.com/office/drawing/2014/main" val="2761822873"/>
                        </a:ext>
                      </a:extLst>
                    </a:gridCol>
                    <a:gridCol w="1120742">
                      <a:extLst>
                        <a:ext uri="{9D8B030D-6E8A-4147-A177-3AD203B41FA5}">
                          <a16:colId xmlns:a16="http://schemas.microsoft.com/office/drawing/2014/main" val="772889813"/>
                        </a:ext>
                      </a:extLst>
                    </a:gridCol>
                    <a:gridCol w="1120742">
                      <a:extLst>
                        <a:ext uri="{9D8B030D-6E8A-4147-A177-3AD203B41FA5}">
                          <a16:colId xmlns:a16="http://schemas.microsoft.com/office/drawing/2014/main" val="869018946"/>
                        </a:ext>
                      </a:extLst>
                    </a:gridCol>
                    <a:gridCol w="1120742">
                      <a:extLst>
                        <a:ext uri="{9D8B030D-6E8A-4147-A177-3AD203B41FA5}">
                          <a16:colId xmlns:a16="http://schemas.microsoft.com/office/drawing/2014/main" val="3353398207"/>
                        </a:ext>
                      </a:extLst>
                    </a:gridCol>
                  </a:tblGrid>
                  <a:tr h="370840">
                    <a:tc>
                      <a:txBody>
                        <a:bodyPr/>
                        <a:lstStyle/>
                        <a:p>
                          <a:endParaRPr lang="en-GB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GB"/>
                            <a:t>Job 1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GB"/>
                            <a:t>Job 2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GB"/>
                            <a:t>Job 3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GB"/>
                            <a:t>Job 4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962495220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r>
                            <a:rPr lang="en-GB"/>
                            <a:t>Worker 1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3"/>
                          <a:stretch>
                            <a:fillRect l="-100543" t="-108197" r="-302174" b="-32459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3"/>
                          <a:stretch>
                            <a:fillRect l="-200543" t="-108197" r="-202174" b="-32459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3"/>
                          <a:stretch>
                            <a:fillRect l="-300543" t="-108197" r="-102174" b="-32459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3"/>
                          <a:stretch>
                            <a:fillRect l="-400543" t="-108197" r="-2174" b="-324590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624059737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GB"/>
                            <a:t>Worker 2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3"/>
                          <a:stretch>
                            <a:fillRect l="-100543" t="-208197" r="-302174" b="-22459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3"/>
                          <a:stretch>
                            <a:fillRect l="-200543" t="-208197" r="-202174" b="-22459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3"/>
                          <a:stretch>
                            <a:fillRect l="-300543" t="-208197" r="-102174" b="-22459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3"/>
                          <a:stretch>
                            <a:fillRect l="-400543" t="-208197" r="-2174" b="-224590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3698853676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GB"/>
                            <a:t>Worker 3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3"/>
                          <a:stretch>
                            <a:fillRect l="-100543" t="-308197" r="-302174" b="-12459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3"/>
                          <a:stretch>
                            <a:fillRect l="-200543" t="-308197" r="-202174" b="-12459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3"/>
                          <a:stretch>
                            <a:fillRect l="-300543" t="-308197" r="-102174" b="-12459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3"/>
                          <a:stretch>
                            <a:fillRect l="-400543" t="-308197" r="-2174" b="-124590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4201405043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GB"/>
                            <a:t>Worker 4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3"/>
                          <a:stretch>
                            <a:fillRect l="-100543" t="-408197" r="-302174" b="-2459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3"/>
                          <a:stretch>
                            <a:fillRect l="-200543" t="-408197" r="-202174" b="-2459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3"/>
                          <a:stretch>
                            <a:fillRect l="-300543" t="-408197" r="-102174" b="-2459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3"/>
                          <a:stretch>
                            <a:fillRect l="-400543" t="-408197" r="-2174" b="-24590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4119807754"/>
                      </a:ext>
                    </a:extLst>
                  </a:tr>
                </a:tbl>
              </a:graphicData>
            </a:graphic>
          </p:graphicFrame>
        </mc:Fallback>
      </mc:AlternateContent>
    </p:spTree>
    <p:extLst>
      <p:ext uri="{BB962C8B-B14F-4D97-AF65-F5344CB8AC3E}">
        <p14:creationId xmlns:p14="http://schemas.microsoft.com/office/powerpoint/2010/main" val="3753985237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A2D7D6E-393A-4784-B833-7D21C4520C8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228725"/>
            <a:ext cx="10515600" cy="4948238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GB">
                <a:cs typeface="Courier New" panose="02070309020205020404" pitchFamily="49" charset="0"/>
              </a:rPr>
              <a:t>Assign 3 students to the 3 different dissertation projects.</a:t>
            </a:r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10824B4C-1689-48F9-9163-86902E954DFC}"/>
              </a:ext>
            </a:extLst>
          </p:cNvPr>
          <p:cNvSpPr txBox="1">
            <a:spLocks/>
          </p:cNvSpPr>
          <p:nvPr/>
        </p:nvSpPr>
        <p:spPr>
          <a:xfrm>
            <a:off x="838200" y="365128"/>
            <a:ext cx="10515600" cy="70491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377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GB" sz="3600"/>
              <a:t>Assignment Problem</a:t>
            </a:r>
          </a:p>
        </p:txBody>
      </p:sp>
      <p:grpSp>
        <p:nvGrpSpPr>
          <p:cNvPr id="113" name="Group 112">
            <a:extLst>
              <a:ext uri="{FF2B5EF4-FFF2-40B4-BE49-F238E27FC236}">
                <a16:creationId xmlns:a16="http://schemas.microsoft.com/office/drawing/2014/main" id="{6933585B-C245-48E7-895E-131D599196E4}"/>
              </a:ext>
            </a:extLst>
          </p:cNvPr>
          <p:cNvGrpSpPr/>
          <p:nvPr/>
        </p:nvGrpSpPr>
        <p:grpSpPr>
          <a:xfrm>
            <a:off x="1401417" y="2365513"/>
            <a:ext cx="3959087" cy="3611217"/>
            <a:chOff x="1401417" y="2365513"/>
            <a:chExt cx="3959087" cy="3611217"/>
          </a:xfrm>
        </p:grpSpPr>
        <p:sp>
          <p:nvSpPr>
            <p:cNvPr id="62" name="Oval 61">
              <a:extLst>
                <a:ext uri="{FF2B5EF4-FFF2-40B4-BE49-F238E27FC236}">
                  <a16:creationId xmlns:a16="http://schemas.microsoft.com/office/drawing/2014/main" id="{95D6F8F8-AA88-4851-BD55-650F6F374E1A}"/>
                </a:ext>
              </a:extLst>
            </p:cNvPr>
            <p:cNvSpPr/>
            <p:nvPr/>
          </p:nvSpPr>
          <p:spPr>
            <a:xfrm>
              <a:off x="1401417" y="2365513"/>
              <a:ext cx="914400" cy="914400"/>
            </a:xfrm>
            <a:prstGeom prst="ellipse">
              <a:avLst/>
            </a:prstGeom>
            <a:ln w="28575"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GB"/>
                <a:t>s1</a:t>
              </a:r>
            </a:p>
          </p:txBody>
        </p:sp>
        <p:sp>
          <p:nvSpPr>
            <p:cNvPr id="63" name="Oval 62">
              <a:extLst>
                <a:ext uri="{FF2B5EF4-FFF2-40B4-BE49-F238E27FC236}">
                  <a16:creationId xmlns:a16="http://schemas.microsoft.com/office/drawing/2014/main" id="{691FB7F3-3B14-4A27-9DF4-87962C888935}"/>
                </a:ext>
              </a:extLst>
            </p:cNvPr>
            <p:cNvSpPr/>
            <p:nvPr/>
          </p:nvSpPr>
          <p:spPr>
            <a:xfrm>
              <a:off x="1401417" y="3713921"/>
              <a:ext cx="914400" cy="914400"/>
            </a:xfrm>
            <a:prstGeom prst="ellipse">
              <a:avLst/>
            </a:prstGeom>
            <a:ln w="28575"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GB"/>
                <a:t>s2</a:t>
              </a:r>
            </a:p>
          </p:txBody>
        </p:sp>
        <p:sp>
          <p:nvSpPr>
            <p:cNvPr id="64" name="Oval 63">
              <a:extLst>
                <a:ext uri="{FF2B5EF4-FFF2-40B4-BE49-F238E27FC236}">
                  <a16:creationId xmlns:a16="http://schemas.microsoft.com/office/drawing/2014/main" id="{4612162E-7B71-4682-907F-C956CC363DAF}"/>
                </a:ext>
              </a:extLst>
            </p:cNvPr>
            <p:cNvSpPr/>
            <p:nvPr/>
          </p:nvSpPr>
          <p:spPr>
            <a:xfrm>
              <a:off x="1401417" y="5062330"/>
              <a:ext cx="914400" cy="914400"/>
            </a:xfrm>
            <a:prstGeom prst="ellipse">
              <a:avLst/>
            </a:prstGeom>
            <a:ln w="28575"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GB"/>
                <a:t>s3</a:t>
              </a:r>
            </a:p>
          </p:txBody>
        </p:sp>
        <p:sp>
          <p:nvSpPr>
            <p:cNvPr id="65" name="Oval 64">
              <a:extLst>
                <a:ext uri="{FF2B5EF4-FFF2-40B4-BE49-F238E27FC236}">
                  <a16:creationId xmlns:a16="http://schemas.microsoft.com/office/drawing/2014/main" id="{DCE59E2F-C0F5-4619-84D9-A1F296E65FFE}"/>
                </a:ext>
              </a:extLst>
            </p:cNvPr>
            <p:cNvSpPr/>
            <p:nvPr/>
          </p:nvSpPr>
          <p:spPr>
            <a:xfrm>
              <a:off x="4446104" y="2365513"/>
              <a:ext cx="914400" cy="914400"/>
            </a:xfrm>
            <a:prstGeom prst="ellipse">
              <a:avLst/>
            </a:prstGeom>
            <a:ln w="28575"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GB"/>
                <a:t>p1</a:t>
              </a:r>
            </a:p>
          </p:txBody>
        </p:sp>
        <p:sp>
          <p:nvSpPr>
            <p:cNvPr id="66" name="Oval 65">
              <a:extLst>
                <a:ext uri="{FF2B5EF4-FFF2-40B4-BE49-F238E27FC236}">
                  <a16:creationId xmlns:a16="http://schemas.microsoft.com/office/drawing/2014/main" id="{8B720AF8-4CBD-4E63-91D4-F5EA74F15A73}"/>
                </a:ext>
              </a:extLst>
            </p:cNvPr>
            <p:cNvSpPr/>
            <p:nvPr/>
          </p:nvSpPr>
          <p:spPr>
            <a:xfrm>
              <a:off x="4446104" y="3713921"/>
              <a:ext cx="914400" cy="914400"/>
            </a:xfrm>
            <a:prstGeom prst="ellipse">
              <a:avLst/>
            </a:prstGeom>
            <a:ln w="28575"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GB"/>
                <a:t>p2</a:t>
              </a:r>
            </a:p>
          </p:txBody>
        </p:sp>
        <p:sp>
          <p:nvSpPr>
            <p:cNvPr id="67" name="Oval 66">
              <a:extLst>
                <a:ext uri="{FF2B5EF4-FFF2-40B4-BE49-F238E27FC236}">
                  <a16:creationId xmlns:a16="http://schemas.microsoft.com/office/drawing/2014/main" id="{46910E17-E2F3-4DEA-9161-FCE72FAA73E8}"/>
                </a:ext>
              </a:extLst>
            </p:cNvPr>
            <p:cNvSpPr/>
            <p:nvPr/>
          </p:nvSpPr>
          <p:spPr>
            <a:xfrm>
              <a:off x="4446104" y="5062330"/>
              <a:ext cx="914400" cy="914400"/>
            </a:xfrm>
            <a:prstGeom prst="ellipse">
              <a:avLst/>
            </a:prstGeom>
            <a:ln w="28575"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GB"/>
                <a:t>p3</a:t>
              </a:r>
            </a:p>
          </p:txBody>
        </p:sp>
        <p:cxnSp>
          <p:nvCxnSpPr>
            <p:cNvPr id="69" name="Straight Arrow Connector 68">
              <a:extLst>
                <a:ext uri="{FF2B5EF4-FFF2-40B4-BE49-F238E27FC236}">
                  <a16:creationId xmlns:a16="http://schemas.microsoft.com/office/drawing/2014/main" id="{FA9AD748-70EC-4326-B7C7-DD8F8615075E}"/>
                </a:ext>
              </a:extLst>
            </p:cNvPr>
            <p:cNvCxnSpPr>
              <a:stCxn id="62" idx="6"/>
              <a:endCxn id="65" idx="2"/>
            </p:cNvCxnSpPr>
            <p:nvPr/>
          </p:nvCxnSpPr>
          <p:spPr>
            <a:xfrm>
              <a:off x="2315817" y="2822713"/>
              <a:ext cx="2130287" cy="0"/>
            </a:xfrm>
            <a:prstGeom prst="straightConnector1">
              <a:avLst/>
            </a:prstGeom>
            <a:ln w="28575"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1" name="Straight Arrow Connector 70">
              <a:extLst>
                <a:ext uri="{FF2B5EF4-FFF2-40B4-BE49-F238E27FC236}">
                  <a16:creationId xmlns:a16="http://schemas.microsoft.com/office/drawing/2014/main" id="{73E4F57F-C502-441F-B17F-FF0481BB30D8}"/>
                </a:ext>
              </a:extLst>
            </p:cNvPr>
            <p:cNvCxnSpPr>
              <a:stCxn id="62" idx="6"/>
              <a:endCxn id="66" idx="2"/>
            </p:cNvCxnSpPr>
            <p:nvPr/>
          </p:nvCxnSpPr>
          <p:spPr>
            <a:xfrm>
              <a:off x="2315817" y="2822713"/>
              <a:ext cx="2130287" cy="1348408"/>
            </a:xfrm>
            <a:prstGeom prst="straightConnector1">
              <a:avLst/>
            </a:prstGeom>
            <a:ln w="28575"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3" name="Straight Arrow Connector 72">
              <a:extLst>
                <a:ext uri="{FF2B5EF4-FFF2-40B4-BE49-F238E27FC236}">
                  <a16:creationId xmlns:a16="http://schemas.microsoft.com/office/drawing/2014/main" id="{A15EFEB8-2502-4830-849B-5CA6E5B37FB1}"/>
                </a:ext>
              </a:extLst>
            </p:cNvPr>
            <p:cNvCxnSpPr>
              <a:stCxn id="62" idx="6"/>
              <a:endCxn id="67" idx="2"/>
            </p:cNvCxnSpPr>
            <p:nvPr/>
          </p:nvCxnSpPr>
          <p:spPr>
            <a:xfrm>
              <a:off x="2315817" y="2822713"/>
              <a:ext cx="2130287" cy="2696817"/>
            </a:xfrm>
            <a:prstGeom prst="straightConnector1">
              <a:avLst/>
            </a:prstGeom>
            <a:ln w="28575"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5" name="Straight Arrow Connector 74">
              <a:extLst>
                <a:ext uri="{FF2B5EF4-FFF2-40B4-BE49-F238E27FC236}">
                  <a16:creationId xmlns:a16="http://schemas.microsoft.com/office/drawing/2014/main" id="{DCDCFE17-D496-499D-A719-698E0BF5AFA5}"/>
                </a:ext>
              </a:extLst>
            </p:cNvPr>
            <p:cNvCxnSpPr>
              <a:stCxn id="63" idx="6"/>
              <a:endCxn id="65" idx="2"/>
            </p:cNvCxnSpPr>
            <p:nvPr/>
          </p:nvCxnSpPr>
          <p:spPr>
            <a:xfrm flipV="1">
              <a:off x="2315817" y="2822713"/>
              <a:ext cx="2130287" cy="1348408"/>
            </a:xfrm>
            <a:prstGeom prst="straightConnector1">
              <a:avLst/>
            </a:prstGeom>
            <a:ln w="28575"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7" name="Straight Arrow Connector 76">
              <a:extLst>
                <a:ext uri="{FF2B5EF4-FFF2-40B4-BE49-F238E27FC236}">
                  <a16:creationId xmlns:a16="http://schemas.microsoft.com/office/drawing/2014/main" id="{3E9A6F4E-5947-4C94-9442-852118DD507A}"/>
                </a:ext>
              </a:extLst>
            </p:cNvPr>
            <p:cNvCxnSpPr>
              <a:cxnSpLocks/>
              <a:stCxn id="63" idx="6"/>
              <a:endCxn id="66" idx="2"/>
            </p:cNvCxnSpPr>
            <p:nvPr/>
          </p:nvCxnSpPr>
          <p:spPr>
            <a:xfrm>
              <a:off x="2315817" y="4171121"/>
              <a:ext cx="2130287" cy="0"/>
            </a:xfrm>
            <a:prstGeom prst="straightConnector1">
              <a:avLst/>
            </a:prstGeom>
            <a:ln w="28575"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9" name="Straight Arrow Connector 78">
              <a:extLst>
                <a:ext uri="{FF2B5EF4-FFF2-40B4-BE49-F238E27FC236}">
                  <a16:creationId xmlns:a16="http://schemas.microsoft.com/office/drawing/2014/main" id="{6C275508-99B9-4DB9-B8FF-ECF1F2627C1A}"/>
                </a:ext>
              </a:extLst>
            </p:cNvPr>
            <p:cNvCxnSpPr>
              <a:cxnSpLocks/>
              <a:stCxn id="63" idx="6"/>
              <a:endCxn id="67" idx="2"/>
            </p:cNvCxnSpPr>
            <p:nvPr/>
          </p:nvCxnSpPr>
          <p:spPr>
            <a:xfrm>
              <a:off x="2315817" y="4171121"/>
              <a:ext cx="2130287" cy="1348409"/>
            </a:xfrm>
            <a:prstGeom prst="straightConnector1">
              <a:avLst/>
            </a:prstGeom>
            <a:ln w="28575"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4" name="Straight Arrow Connector 83">
              <a:extLst>
                <a:ext uri="{FF2B5EF4-FFF2-40B4-BE49-F238E27FC236}">
                  <a16:creationId xmlns:a16="http://schemas.microsoft.com/office/drawing/2014/main" id="{4B929750-2ADB-49E7-915F-7D61D0EA5268}"/>
                </a:ext>
              </a:extLst>
            </p:cNvPr>
            <p:cNvCxnSpPr>
              <a:stCxn id="64" idx="6"/>
              <a:endCxn id="65" idx="2"/>
            </p:cNvCxnSpPr>
            <p:nvPr/>
          </p:nvCxnSpPr>
          <p:spPr>
            <a:xfrm flipV="1">
              <a:off x="2315817" y="2822713"/>
              <a:ext cx="2130287" cy="2696817"/>
            </a:xfrm>
            <a:prstGeom prst="straightConnector1">
              <a:avLst/>
            </a:prstGeom>
            <a:ln w="28575"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6" name="Straight Arrow Connector 85">
              <a:extLst>
                <a:ext uri="{FF2B5EF4-FFF2-40B4-BE49-F238E27FC236}">
                  <a16:creationId xmlns:a16="http://schemas.microsoft.com/office/drawing/2014/main" id="{6970740D-D926-4147-A53B-109B6C944B8D}"/>
                </a:ext>
              </a:extLst>
            </p:cNvPr>
            <p:cNvCxnSpPr>
              <a:stCxn id="64" idx="6"/>
              <a:endCxn id="67" idx="2"/>
            </p:cNvCxnSpPr>
            <p:nvPr/>
          </p:nvCxnSpPr>
          <p:spPr>
            <a:xfrm>
              <a:off x="2315817" y="5519530"/>
              <a:ext cx="2130287" cy="0"/>
            </a:xfrm>
            <a:prstGeom prst="straightConnector1">
              <a:avLst/>
            </a:prstGeom>
            <a:ln w="28575"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8" name="Straight Arrow Connector 87">
              <a:extLst>
                <a:ext uri="{FF2B5EF4-FFF2-40B4-BE49-F238E27FC236}">
                  <a16:creationId xmlns:a16="http://schemas.microsoft.com/office/drawing/2014/main" id="{1F288A9C-B904-4F1B-A5FA-FFAC66730D8C}"/>
                </a:ext>
              </a:extLst>
            </p:cNvPr>
            <p:cNvCxnSpPr>
              <a:stCxn id="64" idx="6"/>
              <a:endCxn id="66" idx="2"/>
            </p:cNvCxnSpPr>
            <p:nvPr/>
          </p:nvCxnSpPr>
          <p:spPr>
            <a:xfrm flipV="1">
              <a:off x="2315817" y="4171121"/>
              <a:ext cx="2130287" cy="1348409"/>
            </a:xfrm>
            <a:prstGeom prst="straightConnector1">
              <a:avLst/>
            </a:prstGeom>
            <a:ln w="28575"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14" name="Group 113">
            <a:extLst>
              <a:ext uri="{FF2B5EF4-FFF2-40B4-BE49-F238E27FC236}">
                <a16:creationId xmlns:a16="http://schemas.microsoft.com/office/drawing/2014/main" id="{7056532A-1ABB-4EB4-8978-EA48B283E710}"/>
              </a:ext>
            </a:extLst>
          </p:cNvPr>
          <p:cNvGrpSpPr/>
          <p:nvPr/>
        </p:nvGrpSpPr>
        <p:grpSpPr>
          <a:xfrm>
            <a:off x="6930887" y="2365513"/>
            <a:ext cx="3959087" cy="3611217"/>
            <a:chOff x="6930887" y="2365513"/>
            <a:chExt cx="3959087" cy="3611217"/>
          </a:xfrm>
        </p:grpSpPr>
        <p:sp>
          <p:nvSpPr>
            <p:cNvPr id="98" name="Oval 97">
              <a:extLst>
                <a:ext uri="{FF2B5EF4-FFF2-40B4-BE49-F238E27FC236}">
                  <a16:creationId xmlns:a16="http://schemas.microsoft.com/office/drawing/2014/main" id="{65DCCF64-18F5-4BC5-8C22-9356D3AD2B92}"/>
                </a:ext>
              </a:extLst>
            </p:cNvPr>
            <p:cNvSpPr/>
            <p:nvPr/>
          </p:nvSpPr>
          <p:spPr>
            <a:xfrm>
              <a:off x="6930887" y="2365513"/>
              <a:ext cx="914400" cy="914400"/>
            </a:xfrm>
            <a:prstGeom prst="ellipse">
              <a:avLst/>
            </a:prstGeom>
            <a:ln w="28575"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GB"/>
                <a:t>s1</a:t>
              </a:r>
            </a:p>
          </p:txBody>
        </p:sp>
        <p:sp>
          <p:nvSpPr>
            <p:cNvPr id="99" name="Oval 98">
              <a:extLst>
                <a:ext uri="{FF2B5EF4-FFF2-40B4-BE49-F238E27FC236}">
                  <a16:creationId xmlns:a16="http://schemas.microsoft.com/office/drawing/2014/main" id="{59077CE7-2768-4C9C-AE2C-9CC6BB3C4DEF}"/>
                </a:ext>
              </a:extLst>
            </p:cNvPr>
            <p:cNvSpPr/>
            <p:nvPr/>
          </p:nvSpPr>
          <p:spPr>
            <a:xfrm>
              <a:off x="6930887" y="3713921"/>
              <a:ext cx="914400" cy="914400"/>
            </a:xfrm>
            <a:prstGeom prst="ellipse">
              <a:avLst/>
            </a:prstGeom>
            <a:ln w="28575"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GB"/>
                <a:t>s2</a:t>
              </a:r>
            </a:p>
          </p:txBody>
        </p:sp>
        <p:sp>
          <p:nvSpPr>
            <p:cNvPr id="100" name="Oval 99">
              <a:extLst>
                <a:ext uri="{FF2B5EF4-FFF2-40B4-BE49-F238E27FC236}">
                  <a16:creationId xmlns:a16="http://schemas.microsoft.com/office/drawing/2014/main" id="{47984690-2B6C-41EA-90C0-467059999C5A}"/>
                </a:ext>
              </a:extLst>
            </p:cNvPr>
            <p:cNvSpPr/>
            <p:nvPr/>
          </p:nvSpPr>
          <p:spPr>
            <a:xfrm>
              <a:off x="6930887" y="5062330"/>
              <a:ext cx="914400" cy="914400"/>
            </a:xfrm>
            <a:prstGeom prst="ellipse">
              <a:avLst/>
            </a:prstGeom>
            <a:ln w="28575"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GB"/>
                <a:t>s3</a:t>
              </a:r>
            </a:p>
          </p:txBody>
        </p:sp>
        <p:sp>
          <p:nvSpPr>
            <p:cNvPr id="101" name="Oval 100">
              <a:extLst>
                <a:ext uri="{FF2B5EF4-FFF2-40B4-BE49-F238E27FC236}">
                  <a16:creationId xmlns:a16="http://schemas.microsoft.com/office/drawing/2014/main" id="{0986D2CF-BE9E-4F99-95FB-69CF60A97403}"/>
                </a:ext>
              </a:extLst>
            </p:cNvPr>
            <p:cNvSpPr/>
            <p:nvPr/>
          </p:nvSpPr>
          <p:spPr>
            <a:xfrm>
              <a:off x="9975574" y="2365513"/>
              <a:ext cx="914400" cy="914400"/>
            </a:xfrm>
            <a:prstGeom prst="ellipse">
              <a:avLst/>
            </a:prstGeom>
            <a:ln w="28575"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GB"/>
                <a:t>p1</a:t>
              </a:r>
            </a:p>
          </p:txBody>
        </p:sp>
        <p:sp>
          <p:nvSpPr>
            <p:cNvPr id="102" name="Oval 101">
              <a:extLst>
                <a:ext uri="{FF2B5EF4-FFF2-40B4-BE49-F238E27FC236}">
                  <a16:creationId xmlns:a16="http://schemas.microsoft.com/office/drawing/2014/main" id="{13CDEC45-B68B-44BD-8844-D64CCE9CEE1A}"/>
                </a:ext>
              </a:extLst>
            </p:cNvPr>
            <p:cNvSpPr/>
            <p:nvPr/>
          </p:nvSpPr>
          <p:spPr>
            <a:xfrm>
              <a:off x="9975574" y="3713921"/>
              <a:ext cx="914400" cy="914400"/>
            </a:xfrm>
            <a:prstGeom prst="ellipse">
              <a:avLst/>
            </a:prstGeom>
            <a:ln w="28575"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GB"/>
                <a:t>p2</a:t>
              </a:r>
            </a:p>
          </p:txBody>
        </p:sp>
        <p:sp>
          <p:nvSpPr>
            <p:cNvPr id="103" name="Oval 102">
              <a:extLst>
                <a:ext uri="{FF2B5EF4-FFF2-40B4-BE49-F238E27FC236}">
                  <a16:creationId xmlns:a16="http://schemas.microsoft.com/office/drawing/2014/main" id="{B8CEB490-CC2B-4AEA-8797-D066160E55FD}"/>
                </a:ext>
              </a:extLst>
            </p:cNvPr>
            <p:cNvSpPr/>
            <p:nvPr/>
          </p:nvSpPr>
          <p:spPr>
            <a:xfrm>
              <a:off x="9975574" y="5062330"/>
              <a:ext cx="914400" cy="914400"/>
            </a:xfrm>
            <a:prstGeom prst="ellipse">
              <a:avLst/>
            </a:prstGeom>
            <a:ln w="28575"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GB"/>
                <a:t>p3</a:t>
              </a:r>
            </a:p>
          </p:txBody>
        </p:sp>
        <p:cxnSp>
          <p:nvCxnSpPr>
            <p:cNvPr id="104" name="Straight Arrow Connector 103">
              <a:extLst>
                <a:ext uri="{FF2B5EF4-FFF2-40B4-BE49-F238E27FC236}">
                  <a16:creationId xmlns:a16="http://schemas.microsoft.com/office/drawing/2014/main" id="{81019FEF-B250-47C8-9C45-BE3E777B78D0}"/>
                </a:ext>
              </a:extLst>
            </p:cNvPr>
            <p:cNvCxnSpPr>
              <a:stCxn id="98" idx="6"/>
              <a:endCxn id="101" idx="2"/>
            </p:cNvCxnSpPr>
            <p:nvPr/>
          </p:nvCxnSpPr>
          <p:spPr>
            <a:xfrm>
              <a:off x="7845287" y="2822713"/>
              <a:ext cx="2130287" cy="0"/>
            </a:xfrm>
            <a:prstGeom prst="straightConnector1">
              <a:avLst/>
            </a:prstGeom>
            <a:ln w="28575"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5" name="Straight Arrow Connector 104">
              <a:extLst>
                <a:ext uri="{FF2B5EF4-FFF2-40B4-BE49-F238E27FC236}">
                  <a16:creationId xmlns:a16="http://schemas.microsoft.com/office/drawing/2014/main" id="{3AB623F6-9B54-4B74-9BA5-63C6C1F36BDE}"/>
                </a:ext>
              </a:extLst>
            </p:cNvPr>
            <p:cNvCxnSpPr>
              <a:stCxn id="98" idx="6"/>
              <a:endCxn id="102" idx="2"/>
            </p:cNvCxnSpPr>
            <p:nvPr/>
          </p:nvCxnSpPr>
          <p:spPr>
            <a:xfrm>
              <a:off x="7845287" y="2822713"/>
              <a:ext cx="2130287" cy="1348408"/>
            </a:xfrm>
            <a:prstGeom prst="straightConnector1">
              <a:avLst/>
            </a:prstGeom>
            <a:ln w="28575">
              <a:solidFill>
                <a:srgbClr val="FF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6" name="Straight Arrow Connector 105">
              <a:extLst>
                <a:ext uri="{FF2B5EF4-FFF2-40B4-BE49-F238E27FC236}">
                  <a16:creationId xmlns:a16="http://schemas.microsoft.com/office/drawing/2014/main" id="{534F9EA0-6A85-4C79-A058-4EE481DDC848}"/>
                </a:ext>
              </a:extLst>
            </p:cNvPr>
            <p:cNvCxnSpPr>
              <a:stCxn id="98" idx="6"/>
              <a:endCxn id="103" idx="2"/>
            </p:cNvCxnSpPr>
            <p:nvPr/>
          </p:nvCxnSpPr>
          <p:spPr>
            <a:xfrm>
              <a:off x="7845287" y="2822713"/>
              <a:ext cx="2130287" cy="2696817"/>
            </a:xfrm>
            <a:prstGeom prst="straightConnector1">
              <a:avLst/>
            </a:prstGeom>
            <a:ln w="28575"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7" name="Straight Arrow Connector 106">
              <a:extLst>
                <a:ext uri="{FF2B5EF4-FFF2-40B4-BE49-F238E27FC236}">
                  <a16:creationId xmlns:a16="http://schemas.microsoft.com/office/drawing/2014/main" id="{F447739E-C414-4CD5-826A-3DFDB6BD5EB6}"/>
                </a:ext>
              </a:extLst>
            </p:cNvPr>
            <p:cNvCxnSpPr>
              <a:stCxn id="99" idx="6"/>
              <a:endCxn id="101" idx="2"/>
            </p:cNvCxnSpPr>
            <p:nvPr/>
          </p:nvCxnSpPr>
          <p:spPr>
            <a:xfrm flipV="1">
              <a:off x="7845287" y="2822713"/>
              <a:ext cx="2130287" cy="1348408"/>
            </a:xfrm>
            <a:prstGeom prst="straightConnector1">
              <a:avLst/>
            </a:prstGeom>
            <a:ln w="28575">
              <a:solidFill>
                <a:srgbClr val="FF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8" name="Straight Arrow Connector 107">
              <a:extLst>
                <a:ext uri="{FF2B5EF4-FFF2-40B4-BE49-F238E27FC236}">
                  <a16:creationId xmlns:a16="http://schemas.microsoft.com/office/drawing/2014/main" id="{CF6E4E63-2028-411F-BBBE-205C94733138}"/>
                </a:ext>
              </a:extLst>
            </p:cNvPr>
            <p:cNvCxnSpPr>
              <a:cxnSpLocks/>
              <a:stCxn id="99" idx="6"/>
              <a:endCxn id="102" idx="2"/>
            </p:cNvCxnSpPr>
            <p:nvPr/>
          </p:nvCxnSpPr>
          <p:spPr>
            <a:xfrm>
              <a:off x="7845287" y="4171121"/>
              <a:ext cx="2130287" cy="0"/>
            </a:xfrm>
            <a:prstGeom prst="straightConnector1">
              <a:avLst/>
            </a:prstGeom>
            <a:ln w="28575"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9" name="Straight Arrow Connector 108">
              <a:extLst>
                <a:ext uri="{FF2B5EF4-FFF2-40B4-BE49-F238E27FC236}">
                  <a16:creationId xmlns:a16="http://schemas.microsoft.com/office/drawing/2014/main" id="{F1AAB7E6-B03A-4302-9E4A-44B409329673}"/>
                </a:ext>
              </a:extLst>
            </p:cNvPr>
            <p:cNvCxnSpPr>
              <a:cxnSpLocks/>
              <a:stCxn id="99" idx="6"/>
              <a:endCxn id="103" idx="2"/>
            </p:cNvCxnSpPr>
            <p:nvPr/>
          </p:nvCxnSpPr>
          <p:spPr>
            <a:xfrm>
              <a:off x="7845287" y="4171121"/>
              <a:ext cx="2130287" cy="1348409"/>
            </a:xfrm>
            <a:prstGeom prst="straightConnector1">
              <a:avLst/>
            </a:prstGeom>
            <a:ln w="28575"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0" name="Straight Arrow Connector 109">
              <a:extLst>
                <a:ext uri="{FF2B5EF4-FFF2-40B4-BE49-F238E27FC236}">
                  <a16:creationId xmlns:a16="http://schemas.microsoft.com/office/drawing/2014/main" id="{754BBB65-2A2F-409A-AAE7-81B52607E6A8}"/>
                </a:ext>
              </a:extLst>
            </p:cNvPr>
            <p:cNvCxnSpPr>
              <a:stCxn id="100" idx="6"/>
              <a:endCxn id="101" idx="2"/>
            </p:cNvCxnSpPr>
            <p:nvPr/>
          </p:nvCxnSpPr>
          <p:spPr>
            <a:xfrm flipV="1">
              <a:off x="7845287" y="2822713"/>
              <a:ext cx="2130287" cy="2696817"/>
            </a:xfrm>
            <a:prstGeom prst="straightConnector1">
              <a:avLst/>
            </a:prstGeom>
            <a:ln w="28575"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1" name="Straight Arrow Connector 110">
              <a:extLst>
                <a:ext uri="{FF2B5EF4-FFF2-40B4-BE49-F238E27FC236}">
                  <a16:creationId xmlns:a16="http://schemas.microsoft.com/office/drawing/2014/main" id="{40060A92-ECE4-4945-A3BB-BE964949BD82}"/>
                </a:ext>
              </a:extLst>
            </p:cNvPr>
            <p:cNvCxnSpPr>
              <a:stCxn id="100" idx="6"/>
              <a:endCxn id="103" idx="2"/>
            </p:cNvCxnSpPr>
            <p:nvPr/>
          </p:nvCxnSpPr>
          <p:spPr>
            <a:xfrm>
              <a:off x="7845287" y="5519530"/>
              <a:ext cx="2130287" cy="0"/>
            </a:xfrm>
            <a:prstGeom prst="straightConnector1">
              <a:avLst/>
            </a:prstGeom>
            <a:ln w="28575">
              <a:solidFill>
                <a:srgbClr val="FF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2" name="Straight Arrow Connector 111">
              <a:extLst>
                <a:ext uri="{FF2B5EF4-FFF2-40B4-BE49-F238E27FC236}">
                  <a16:creationId xmlns:a16="http://schemas.microsoft.com/office/drawing/2014/main" id="{1B252484-995A-4FCE-BDE4-878355DDE132}"/>
                </a:ext>
              </a:extLst>
            </p:cNvPr>
            <p:cNvCxnSpPr>
              <a:stCxn id="100" idx="6"/>
              <a:endCxn id="102" idx="2"/>
            </p:cNvCxnSpPr>
            <p:nvPr/>
          </p:nvCxnSpPr>
          <p:spPr>
            <a:xfrm flipV="1">
              <a:off x="7845287" y="4171121"/>
              <a:ext cx="2130287" cy="1348409"/>
            </a:xfrm>
            <a:prstGeom prst="straightConnector1">
              <a:avLst/>
            </a:prstGeom>
            <a:ln w="28575"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377680696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A2D7D6E-393A-4784-B833-7D21C4520C8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228725"/>
            <a:ext cx="10515600" cy="4948238"/>
          </a:xfrm>
        </p:spPr>
        <p:txBody>
          <a:bodyPr>
            <a:normAutofit fontScale="70000" lnSpcReduction="20000"/>
          </a:bodyPr>
          <a:lstStyle/>
          <a:p>
            <a:pPr marL="514350" indent="-514350">
              <a:buFont typeface="+mj-lt"/>
              <a:buAutoNum type="arabicPeriod"/>
            </a:pPr>
            <a:r>
              <a:rPr lang="en-GB">
                <a:cs typeface="Courier New" panose="02070309020205020404" pitchFamily="49" charset="0"/>
              </a:rPr>
              <a:t>Study these models and understand the Python code. It will be useful for coming lectures.</a:t>
            </a:r>
          </a:p>
          <a:p>
            <a:pPr marL="514350" indent="-514350">
              <a:buFont typeface="+mj-lt"/>
              <a:buAutoNum type="arabicPeriod"/>
            </a:pPr>
            <a:r>
              <a:rPr lang="en-GB">
                <a:cs typeface="Courier New" panose="02070309020205020404" pitchFamily="49" charset="0"/>
              </a:rPr>
              <a:t>Code the costed fire station in </a:t>
            </a:r>
            <a:r>
              <a:rPr lang="en-GB" err="1">
                <a:cs typeface="Courier New" panose="02070309020205020404" pitchFamily="49" charset="0"/>
              </a:rPr>
              <a:t>Pyomo</a:t>
            </a:r>
            <a:r>
              <a:rPr lang="en-GB">
                <a:cs typeface="Courier New" panose="02070309020205020404" pitchFamily="49" charset="0"/>
              </a:rPr>
              <a:t> using an incidence matrix (matrix of 0s and 1s). Think about how each element (city) is covered by each fire station.</a:t>
            </a:r>
          </a:p>
          <a:p>
            <a:pPr marL="514350" indent="-514350">
              <a:buFont typeface="+mj-lt"/>
              <a:buAutoNum type="arabicPeriod"/>
            </a:pPr>
            <a:endParaRPr lang="en-GB">
              <a:cs typeface="Courier New" panose="02070309020205020404" pitchFamily="49" charset="0"/>
            </a:endParaRPr>
          </a:p>
          <a:p>
            <a:pPr marL="514350" indent="-514350">
              <a:buFont typeface="+mj-lt"/>
              <a:buAutoNum type="arabicPeriod"/>
            </a:pPr>
            <a:r>
              <a:rPr lang="en-GB">
                <a:cs typeface="Courier New" panose="02070309020205020404" pitchFamily="49" charset="0"/>
              </a:rPr>
              <a:t>Look at the examples on </a:t>
            </a:r>
            <a:r>
              <a:rPr lang="en-GB" err="1">
                <a:cs typeface="Courier New" panose="02070309020205020404" pitchFamily="49" charset="0"/>
              </a:rPr>
              <a:t>Gurobi</a:t>
            </a:r>
            <a:r>
              <a:rPr lang="en-GB">
                <a:cs typeface="Courier New" panose="02070309020205020404" pitchFamily="49" charset="0"/>
              </a:rPr>
              <a:t> - </a:t>
            </a:r>
            <a:r>
              <a:rPr lang="en-GB">
                <a:cs typeface="Courier New" panose="02070309020205020404" pitchFamily="49" charset="0"/>
                <a:hlinkClick r:id="rId3"/>
              </a:rPr>
              <a:t>https://www.gurobi.com/resource/modeling-examples-using-the-gurobi-python-api-in-jupyter-notebook/</a:t>
            </a:r>
            <a:endParaRPr lang="en-GB">
              <a:cs typeface="Courier New" panose="02070309020205020404" pitchFamily="49" charset="0"/>
            </a:endParaRPr>
          </a:p>
          <a:p>
            <a:pPr marL="514350" indent="-514350">
              <a:buFont typeface="+mj-lt"/>
              <a:buAutoNum type="arabicPeriod"/>
            </a:pPr>
            <a:endParaRPr lang="en-GB">
              <a:cs typeface="Courier New" panose="02070309020205020404" pitchFamily="49" charset="0"/>
            </a:endParaRPr>
          </a:p>
          <a:p>
            <a:pPr marL="514350" indent="-514350">
              <a:buFont typeface="+mj-lt"/>
              <a:buAutoNum type="arabicPeriod"/>
            </a:pPr>
            <a:r>
              <a:rPr lang="en-GB">
                <a:cs typeface="Courier New" panose="02070309020205020404" pitchFamily="49" charset="0"/>
              </a:rPr>
              <a:t>Pick an example and try coding it in </a:t>
            </a:r>
            <a:r>
              <a:rPr lang="en-GB" err="1">
                <a:cs typeface="Courier New" panose="02070309020205020404" pitchFamily="49" charset="0"/>
              </a:rPr>
              <a:t>Pyomo</a:t>
            </a:r>
            <a:endParaRPr lang="en-GB">
              <a:cs typeface="Courier New" panose="02070309020205020404" pitchFamily="49" charset="0"/>
            </a:endParaRPr>
          </a:p>
          <a:p>
            <a:pPr marL="514350" indent="-514350">
              <a:buFont typeface="+mj-lt"/>
              <a:buAutoNum type="arabicPeriod"/>
            </a:pPr>
            <a:endParaRPr lang="en-GB">
              <a:cs typeface="Courier New" panose="02070309020205020404" pitchFamily="49" charset="0"/>
            </a:endParaRPr>
          </a:p>
          <a:p>
            <a:pPr marL="514350" indent="-514350">
              <a:buFont typeface="+mj-lt"/>
              <a:buAutoNum type="arabicPeriod"/>
            </a:pPr>
            <a:r>
              <a:rPr lang="en-GB">
                <a:cs typeface="Courier New" panose="02070309020205020404" pitchFamily="49" charset="0"/>
              </a:rPr>
              <a:t>Try coding the problems below yourself.</a:t>
            </a:r>
          </a:p>
          <a:p>
            <a:pPr marL="0" indent="0">
              <a:buNone/>
            </a:pPr>
            <a:endParaRPr lang="en-GB">
              <a:cs typeface="Courier New" panose="02070309020205020404" pitchFamily="49" charset="0"/>
            </a:endParaRPr>
          </a:p>
          <a:p>
            <a:pPr marL="0" indent="0">
              <a:buNone/>
            </a:pPr>
            <a:r>
              <a:rPr lang="en-GB">
                <a:cs typeface="Courier New" panose="02070309020205020404" pitchFamily="49" charset="0"/>
              </a:rPr>
              <a:t>Look up other problems, such as:</a:t>
            </a:r>
          </a:p>
          <a:p>
            <a:r>
              <a:rPr lang="en-GB">
                <a:cs typeface="Courier New" panose="02070309020205020404" pitchFamily="49" charset="0"/>
              </a:rPr>
              <a:t>Maximum Set Cover</a:t>
            </a:r>
          </a:p>
          <a:p>
            <a:r>
              <a:rPr lang="en-GB">
                <a:cs typeface="Courier New" panose="02070309020205020404" pitchFamily="49" charset="0"/>
              </a:rPr>
              <a:t>Minimum Edge Cover</a:t>
            </a:r>
          </a:p>
          <a:p>
            <a:r>
              <a:rPr lang="en-GB">
                <a:cs typeface="Courier New" panose="02070309020205020404" pitchFamily="49" charset="0"/>
              </a:rPr>
              <a:t>Maximum Independent Set </a:t>
            </a:r>
          </a:p>
          <a:p>
            <a:endParaRPr lang="en-GB">
              <a:cs typeface="Courier New" panose="02070309020205020404" pitchFamily="49" charset="0"/>
            </a:endParaRPr>
          </a:p>
          <a:p>
            <a:pPr marL="0" indent="0">
              <a:buNone/>
            </a:pPr>
            <a:endParaRPr lang="en-GB">
              <a:cs typeface="Courier New" panose="02070309020205020404" pitchFamily="49" charset="0"/>
            </a:endParaRPr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10824B4C-1689-48F9-9163-86902E954DFC}"/>
              </a:ext>
            </a:extLst>
          </p:cNvPr>
          <p:cNvSpPr txBox="1">
            <a:spLocks/>
          </p:cNvSpPr>
          <p:nvPr/>
        </p:nvSpPr>
        <p:spPr>
          <a:xfrm>
            <a:off x="838200" y="365128"/>
            <a:ext cx="10515600" cy="70491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377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GB" sz="3600"/>
              <a:t>Tutorial </a:t>
            </a:r>
          </a:p>
        </p:txBody>
      </p:sp>
    </p:spTree>
    <p:extLst>
      <p:ext uri="{BB962C8B-B14F-4D97-AF65-F5344CB8AC3E}">
        <p14:creationId xmlns:p14="http://schemas.microsoft.com/office/powerpoint/2010/main" val="347694717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51A328A96253EC468854895DB51C3CA9" ma:contentTypeVersion="12" ma:contentTypeDescription="Create a new document." ma:contentTypeScope="" ma:versionID="70ca04a2727be2bcabd6e8d4d48cd64c">
  <xsd:schema xmlns:xsd="http://www.w3.org/2001/XMLSchema" xmlns:xs="http://www.w3.org/2001/XMLSchema" xmlns:p="http://schemas.microsoft.com/office/2006/metadata/properties" xmlns:ns2="606370cc-c8d9-4222-8a4e-3c320f1e3034" xmlns:ns3="bf6b85bd-8a7e-4854-be4d-0780382295a8" targetNamespace="http://schemas.microsoft.com/office/2006/metadata/properties" ma:root="true" ma:fieldsID="153e2816b688b383ad24b8974a641912" ns2:_="" ns3:_="">
    <xsd:import namespace="606370cc-c8d9-4222-8a4e-3c320f1e3034"/>
    <xsd:import namespace="bf6b85bd-8a7e-4854-be4d-0780382295a8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AutoTags" minOccurs="0"/>
                <xsd:element ref="ns2:MediaServiceOCR" minOccurs="0"/>
                <xsd:element ref="ns3:SharedWithUsers" minOccurs="0"/>
                <xsd:element ref="ns3:SharedWithDetails" minOccurs="0"/>
                <xsd:element ref="ns2:MediaServiceDateTaken" minOccurs="0"/>
                <xsd:element ref="ns2:MediaServiceGenerationTime" minOccurs="0"/>
                <xsd:element ref="ns2:MediaServiceEventHashCode" minOccurs="0"/>
                <xsd:element ref="ns2:MediaServiceAutoKeyPoints" minOccurs="0"/>
                <xsd:element ref="ns2:MediaServiceKeyPoints" minOccurs="0"/>
                <xsd:element ref="ns2:MediaServiceLocation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606370cc-c8d9-4222-8a4e-3c320f1e3034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description="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description="" ma:hidden="true" ma:internalName="MediaServiceFastMetadata" ma:readOnly="true">
      <xsd:simpleType>
        <xsd:restriction base="dms:Note"/>
      </xsd:simpleType>
    </xsd:element>
    <xsd:element name="MediaServiceAutoTags" ma:index="10" nillable="true" ma:displayName="MediaServiceAutoTags" ma:internalName="MediaServiceAutoTags" ma:readOnly="true">
      <xsd:simpleType>
        <xsd:restriction base="dms:Text"/>
      </xsd:simpleType>
    </xsd:element>
    <xsd:element name="MediaServiceOCR" ma:index="11" nillable="true" ma:displayName="MediaServiceOCR" ma:internalName="MediaServiceOCR" ma:readOnly="true">
      <xsd:simpleType>
        <xsd:restriction base="dms:Note">
          <xsd:maxLength value="255"/>
        </xsd:restriction>
      </xsd:simpleType>
    </xsd:element>
    <xsd:element name="MediaServiceDateTaken" ma:index="14" nillable="true" ma:displayName="MediaServiceDateTaken" ma:hidden="true" ma:internalName="MediaServiceDateTaken" ma:readOnly="true">
      <xsd:simpleType>
        <xsd:restriction base="dms:Text"/>
      </xsd:simpleType>
    </xsd:element>
    <xsd:element name="MediaServiceGenerationTime" ma:index="15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6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AutoKeyPoints" ma:index="17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8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  <xsd:element name="MediaServiceLocation" ma:index="19" nillable="true" ma:displayName="Location" ma:internalName="MediaServiceLocation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bf6b85bd-8a7e-4854-be4d-0780382295a8" elementFormDefault="qualified">
    <xsd:import namespace="http://schemas.microsoft.com/office/2006/documentManagement/types"/>
    <xsd:import namespace="http://schemas.microsoft.com/office/infopath/2007/PartnerControls"/>
    <xsd:element name="SharedWithUsers" ma:index="12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3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5605AB76-3B20-4758-80DF-EDDDD7C672B5}">
  <ds:schemaRefs>
    <ds:schemaRef ds:uri="606370cc-c8d9-4222-8a4e-3c320f1e3034"/>
    <ds:schemaRef ds:uri="bf6b85bd-8a7e-4854-be4d-0780382295a8"/>
    <ds:schemaRef ds:uri="http://purl.org/dc/elements/1.1/"/>
    <ds:schemaRef ds:uri="http://purl.org/dc/terms/"/>
    <ds:schemaRef ds:uri="http://schemas.microsoft.com/internal/obd"/>
    <ds:schemaRef ds:uri="http://schemas.microsoft.com/office/2006/documentManagement/types"/>
    <ds:schemaRef ds:uri="http://schemas.microsoft.com/office/2006/metadata/contentType"/>
    <ds:schemaRef ds:uri="http://schemas.microsoft.com/office/2006/metadata/properties"/>
    <ds:schemaRef ds:uri="http://schemas.microsoft.com/office/2006/metadata/properties/metaAttributes"/>
    <ds:schemaRef ds:uri="http://schemas.microsoft.com/office/infopath/2007/PartnerControls"/>
    <ds:schemaRef ds:uri="http://schemas.openxmlformats.org/package/2006/metadata/core-properties"/>
    <ds:schemaRef ds:uri="http://www.w3.org/2001/XMLSchema"/>
  </ds:schemaRefs>
</ds:datastoreItem>
</file>

<file path=customXml/itemProps2.xml><?xml version="1.0" encoding="utf-8"?>
<ds:datastoreItem xmlns:ds="http://schemas.openxmlformats.org/officeDocument/2006/customXml" ds:itemID="{3B587AB4-D8C9-43A3-B80F-6729B49465FB}">
  <ds:schemaRefs>
    <ds:schemaRef ds:uri="606370cc-c8d9-4222-8a4e-3c320f1e3034"/>
    <ds:schemaRef ds:uri="bf6b85bd-8a7e-4854-be4d-0780382295a8"/>
    <ds:schemaRef ds:uri="http://purl.org/dc/dcmitype/"/>
    <ds:schemaRef ds:uri="http://purl.org/dc/elements/1.1/"/>
    <ds:schemaRef ds:uri="http://purl.org/dc/terms/"/>
    <ds:schemaRef ds:uri="http://schemas.microsoft.com/office/2006/documentManagement/types"/>
    <ds:schemaRef ds:uri="http://schemas.microsoft.com/office/2006/metadata/properties"/>
    <ds:schemaRef ds:uri="http://schemas.microsoft.com/office/infopath/2007/PartnerControls"/>
    <ds:schemaRef ds:uri="http://schemas.openxmlformats.org/package/2006/metadata/core-properties"/>
    <ds:schemaRef ds:uri="http://www.w3.org/XML/1998/namespace"/>
  </ds:schemaRefs>
</ds:datastoreItem>
</file>

<file path=customXml/itemProps3.xml><?xml version="1.0" encoding="utf-8"?>
<ds:datastoreItem xmlns:ds="http://schemas.openxmlformats.org/officeDocument/2006/customXml" ds:itemID="{E49AC1EE-B6B3-4625-9CB8-D61F060C41FF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6</TotalTime>
  <Words>1513</Words>
  <Application>Microsoft Office PowerPoint</Application>
  <PresentationFormat>Widescreen</PresentationFormat>
  <Paragraphs>404</Paragraphs>
  <Slides>28</Slides>
  <Notes>3</Notes>
  <HiddenSlides>1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28</vt:i4>
      </vt:variant>
    </vt:vector>
  </HeadingPairs>
  <TitlesOfParts>
    <vt:vector size="34" baseType="lpstr">
      <vt:lpstr>Cambria Math</vt:lpstr>
      <vt:lpstr>Calibri Light</vt:lpstr>
      <vt:lpstr>Courier New</vt:lpstr>
      <vt:lpstr>Calibri</vt:lpstr>
      <vt:lpstr>Arial</vt:lpstr>
      <vt:lpstr>Office Theme</vt:lpstr>
      <vt:lpstr>Integer Linear Programming</vt:lpstr>
      <vt:lpstr>Blank Slide</vt:lpstr>
      <vt:lpstr>Minimum Set Cover</vt:lpstr>
      <vt:lpstr>PowerPoint Presentation</vt:lpstr>
      <vt:lpstr>PowerPoint Presentation</vt:lpstr>
      <vt:lpstr>PowerPoint Presentation</vt:lpstr>
      <vt:lpstr>Costed Fire Station Example</vt:lpstr>
      <vt:lpstr>Costed Fire Station Example</vt:lpstr>
      <vt:lpstr>Costed Fire Station Example</vt:lpstr>
      <vt:lpstr>Edge Covering</vt:lpstr>
      <vt:lpstr>Minimum Edge Covering</vt:lpstr>
      <vt:lpstr>Minimum Vertex Cover</vt:lpstr>
      <vt:lpstr>Vertex Cover</vt:lpstr>
      <vt:lpstr>Minimum Vertex Cover</vt:lpstr>
      <vt:lpstr>Example – Installing Security Cameras</vt:lpstr>
      <vt:lpstr>Example – Installing Security Cameras</vt:lpstr>
      <vt:lpstr>Example – Installing Security Cameras</vt:lpstr>
      <vt:lpstr>Example – Installing Security Cameras</vt:lpstr>
      <vt:lpstr>Maximum Weight Matching and Assignment Problem</vt:lpstr>
      <vt:lpstr>Maximum Matching</vt:lpstr>
      <vt:lpstr>Perfect Matching</vt:lpstr>
      <vt:lpstr>Maximum Weight Matching</vt:lpstr>
      <vt:lpstr>Balanced Assignment Problem</vt:lpstr>
      <vt:lpstr>Balanced Assignment Problem</vt:lpstr>
      <vt:lpstr>Balanced Assignment Problem – Model</vt:lpstr>
      <vt:lpstr>Balanced Assignment Problem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Integer Linear Programming - Further Problems</dc:title>
  <dc:creator>Sam O'Neill</dc:creator>
  <cp:lastModifiedBy>Sam O'Neill</cp:lastModifiedBy>
  <cp:revision>1</cp:revision>
  <cp:lastPrinted>2023-10-30T10:02:02Z</cp:lastPrinted>
  <dcterms:created xsi:type="dcterms:W3CDTF">2019-10-08T20:55:29Z</dcterms:created>
  <dcterms:modified xsi:type="dcterms:W3CDTF">2025-10-30T15:18:28Z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0x01010051A328A96253EC468854895DB51C3CA9</vt:lpwstr>
  </property>
  <property fmtid="{D5CDD505-2E9C-101B-9397-08002B2CF9AE}" pid="3" name="MSIP_Label_b47d098f-2640-4837-b575-e0be04df0525_Enabled">
    <vt:lpwstr>True</vt:lpwstr>
  </property>
  <property fmtid="{D5CDD505-2E9C-101B-9397-08002B2CF9AE}" pid="4" name="MSIP_Label_b47d098f-2640-4837-b575-e0be04df0525_SiteId">
    <vt:lpwstr>98f1bb3a-5efa-4782-88ba-bd897db60e62</vt:lpwstr>
  </property>
  <property fmtid="{D5CDD505-2E9C-101B-9397-08002B2CF9AE}" pid="5" name="MSIP_Label_b47d098f-2640-4837-b575-e0be04df0525_Owner">
    <vt:lpwstr>TCSR529@derby.ac.uk</vt:lpwstr>
  </property>
  <property fmtid="{D5CDD505-2E9C-101B-9397-08002B2CF9AE}" pid="6" name="MSIP_Label_b47d098f-2640-4837-b575-e0be04df0525_SetDate">
    <vt:lpwstr>2019-10-09T12:50:04.3095525Z</vt:lpwstr>
  </property>
  <property fmtid="{D5CDD505-2E9C-101B-9397-08002B2CF9AE}" pid="7" name="MSIP_Label_b47d098f-2640-4837-b575-e0be04df0525_Name">
    <vt:lpwstr>Internal</vt:lpwstr>
  </property>
  <property fmtid="{D5CDD505-2E9C-101B-9397-08002B2CF9AE}" pid="8" name="MSIP_Label_b47d098f-2640-4837-b575-e0be04df0525_Application">
    <vt:lpwstr>Microsoft Azure Information Protection</vt:lpwstr>
  </property>
  <property fmtid="{D5CDD505-2E9C-101B-9397-08002B2CF9AE}" pid="9" name="MSIP_Label_b47d098f-2640-4837-b575-e0be04df0525_Extended_MSFT_Method">
    <vt:lpwstr>Automatic</vt:lpwstr>
  </property>
  <property fmtid="{D5CDD505-2E9C-101B-9397-08002B2CF9AE}" pid="10" name="MSIP_Label_501a0944-9d81-4c75-b857-2ec7863455b7_Enabled">
    <vt:lpwstr>True</vt:lpwstr>
  </property>
  <property fmtid="{D5CDD505-2E9C-101B-9397-08002B2CF9AE}" pid="11" name="MSIP_Label_501a0944-9d81-4c75-b857-2ec7863455b7_SiteId">
    <vt:lpwstr>98f1bb3a-5efa-4782-88ba-bd897db60e62</vt:lpwstr>
  </property>
  <property fmtid="{D5CDD505-2E9C-101B-9397-08002B2CF9AE}" pid="12" name="MSIP_Label_501a0944-9d81-4c75-b857-2ec7863455b7_Owner">
    <vt:lpwstr>TCSR529@derby.ac.uk</vt:lpwstr>
  </property>
  <property fmtid="{D5CDD505-2E9C-101B-9397-08002B2CF9AE}" pid="13" name="MSIP_Label_501a0944-9d81-4c75-b857-2ec7863455b7_SetDate">
    <vt:lpwstr>2019-10-09T12:50:04.3095525Z</vt:lpwstr>
  </property>
  <property fmtid="{D5CDD505-2E9C-101B-9397-08002B2CF9AE}" pid="14" name="MSIP_Label_501a0944-9d81-4c75-b857-2ec7863455b7_Name">
    <vt:lpwstr>Internal with visible marking</vt:lpwstr>
  </property>
  <property fmtid="{D5CDD505-2E9C-101B-9397-08002B2CF9AE}" pid="15" name="MSIP_Label_501a0944-9d81-4c75-b857-2ec7863455b7_Application">
    <vt:lpwstr>Microsoft Azure Information Protection</vt:lpwstr>
  </property>
  <property fmtid="{D5CDD505-2E9C-101B-9397-08002B2CF9AE}" pid="16" name="MSIP_Label_501a0944-9d81-4c75-b857-2ec7863455b7_Parent">
    <vt:lpwstr>b47d098f-2640-4837-b575-e0be04df0525</vt:lpwstr>
  </property>
  <property fmtid="{D5CDD505-2E9C-101B-9397-08002B2CF9AE}" pid="17" name="MSIP_Label_501a0944-9d81-4c75-b857-2ec7863455b7_Extended_MSFT_Method">
    <vt:lpwstr>Automatic</vt:lpwstr>
  </property>
  <property fmtid="{D5CDD505-2E9C-101B-9397-08002B2CF9AE}" pid="18" name="Sensitivity">
    <vt:lpwstr>Internal Internal with visible marking</vt:lpwstr>
  </property>
</Properties>
</file>