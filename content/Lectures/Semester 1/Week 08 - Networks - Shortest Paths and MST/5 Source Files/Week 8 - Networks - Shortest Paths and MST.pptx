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75"/>
  </p:notesMasterIdLst>
  <p:sldIdLst>
    <p:sldId id="295" r:id="rId5"/>
    <p:sldId id="403" r:id="rId6"/>
    <p:sldId id="404" r:id="rId7"/>
    <p:sldId id="413" r:id="rId8"/>
    <p:sldId id="341" r:id="rId9"/>
    <p:sldId id="406" r:id="rId10"/>
    <p:sldId id="342" r:id="rId11"/>
    <p:sldId id="420" r:id="rId12"/>
    <p:sldId id="419" r:id="rId13"/>
    <p:sldId id="368" r:id="rId14"/>
    <p:sldId id="346" r:id="rId15"/>
    <p:sldId id="354" r:id="rId16"/>
    <p:sldId id="355" r:id="rId17"/>
    <p:sldId id="356" r:id="rId18"/>
    <p:sldId id="364" r:id="rId19"/>
    <p:sldId id="357" r:id="rId20"/>
    <p:sldId id="365" r:id="rId21"/>
    <p:sldId id="361" r:id="rId22"/>
    <p:sldId id="363" r:id="rId23"/>
    <p:sldId id="415" r:id="rId24"/>
    <p:sldId id="414" r:id="rId25"/>
    <p:sldId id="416" r:id="rId26"/>
    <p:sldId id="417" r:id="rId27"/>
    <p:sldId id="369" r:id="rId28"/>
    <p:sldId id="370" r:id="rId29"/>
    <p:sldId id="371" r:id="rId30"/>
    <p:sldId id="372" r:id="rId31"/>
    <p:sldId id="418" r:id="rId32"/>
    <p:sldId id="367" r:id="rId33"/>
    <p:sldId id="373" r:id="rId34"/>
    <p:sldId id="344" r:id="rId35"/>
    <p:sldId id="409" r:id="rId36"/>
    <p:sldId id="407" r:id="rId37"/>
    <p:sldId id="410" r:id="rId38"/>
    <p:sldId id="408" r:id="rId39"/>
    <p:sldId id="359" r:id="rId40"/>
    <p:sldId id="360" r:id="rId41"/>
    <p:sldId id="411" r:id="rId42"/>
    <p:sldId id="343" r:id="rId43"/>
    <p:sldId id="374" r:id="rId44"/>
    <p:sldId id="375" r:id="rId45"/>
    <p:sldId id="376" r:id="rId46"/>
    <p:sldId id="377" r:id="rId47"/>
    <p:sldId id="378" r:id="rId48"/>
    <p:sldId id="379" r:id="rId49"/>
    <p:sldId id="380" r:id="rId50"/>
    <p:sldId id="381" r:id="rId51"/>
    <p:sldId id="383" r:id="rId52"/>
    <p:sldId id="387" r:id="rId53"/>
    <p:sldId id="386" r:id="rId54"/>
    <p:sldId id="382" r:id="rId55"/>
    <p:sldId id="384" r:id="rId56"/>
    <p:sldId id="385" r:id="rId57"/>
    <p:sldId id="388" r:id="rId58"/>
    <p:sldId id="389" r:id="rId59"/>
    <p:sldId id="412" r:id="rId60"/>
    <p:sldId id="390" r:id="rId61"/>
    <p:sldId id="392" r:id="rId62"/>
    <p:sldId id="391" r:id="rId63"/>
    <p:sldId id="393" r:id="rId64"/>
    <p:sldId id="395" r:id="rId65"/>
    <p:sldId id="394" r:id="rId66"/>
    <p:sldId id="396" r:id="rId67"/>
    <p:sldId id="397" r:id="rId68"/>
    <p:sldId id="398" r:id="rId69"/>
    <p:sldId id="399" r:id="rId70"/>
    <p:sldId id="400" r:id="rId71"/>
    <p:sldId id="401" r:id="rId72"/>
    <p:sldId id="402" r:id="rId73"/>
    <p:sldId id="405" r:id="rId74"/>
  </p:sldIdLst>
  <p:sldSz cx="12192000" cy="6858000"/>
  <p:notesSz cx="9926638" cy="6797675"/>
  <p:embeddedFontLst>
    <p:embeddedFont>
      <p:font typeface="Cambria Math" panose="02040503050406030204" pitchFamily="18" charset="0"/>
      <p:regular r:id="rId7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DA6C8784-1E95-48AF-A219-F7F18DDE7C7F}"/>
    <pc:docChg chg="modSld">
      <pc:chgData name="Sam O'Neill" userId="cb323814-a42a-4cfe-bc74-03f595e56f6e" providerId="ADAL" clId="{DA6C8784-1E95-48AF-A219-F7F18DDE7C7F}" dt="2024-02-20T14:56:13" v="0"/>
      <pc:docMkLst>
        <pc:docMk/>
      </pc:docMkLst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1407836991" sldId="341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681062442" sldId="342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428505220" sldId="344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2463789390" sldId="354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046531695" sldId="377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827297195" sldId="403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618403521" sldId="404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1885576420" sldId="413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1625651134" sldId="419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2609913975" sldId="420"/>
        </pc:sldMkLst>
      </pc:sldChg>
    </pc:docChg>
  </pc:docChgLst>
  <pc:docChgLst>
    <pc:chgData name="Sam O'Neill" userId="cb323814-a42a-4cfe-bc74-03f595e56f6e" providerId="ADAL" clId="{EE38C5BB-5442-47D2-B77B-F9411AE41DC8}"/>
    <pc:docChg chg="modSld">
      <pc:chgData name="Sam O'Neill" userId="cb323814-a42a-4cfe-bc74-03f595e56f6e" providerId="ADAL" clId="{EE38C5BB-5442-47D2-B77B-F9411AE41DC8}" dt="2025-11-20T13:10:23.507" v="0" actId="33639"/>
      <pc:docMkLst>
        <pc:docMk/>
      </pc:docMkLst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3681062442" sldId="342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3681062442" sldId="342"/>
            <ac:inkMk id="3" creationId="{079CFB08-1BB6-4232-7334-0C02ECCCA4A1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217915618" sldId="359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217915618" sldId="359"/>
            <ac:inkMk id="5" creationId="{79D8A6BA-D8B5-63E9-6ABB-7C16B9A0CDA2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3827297195" sldId="403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3827297195" sldId="403"/>
            <ac:inkMk id="7" creationId="{F954458F-58E0-ECB7-6947-11CBA8775498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3618403521" sldId="404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3618403521" sldId="404"/>
            <ac:inkMk id="3" creationId="{C54EBAA6-EF6B-284F-AB8F-08072CFF0D09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1885576420" sldId="413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1885576420" sldId="413"/>
            <ac:inkMk id="5" creationId="{6591B8CD-16AD-94DE-AEE5-861E15180C3D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1625651134" sldId="419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1625651134" sldId="419"/>
            <ac:inkMk id="3" creationId="{4693BF74-EF0C-6A39-5CDF-981DE340504C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2609913975" sldId="420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2609913975" sldId="420"/>
            <ac:inkMk id="3" creationId="{7AA9F8B0-72B0-7CB4-D8B5-F6ADA4880E84}"/>
          </ac:inkMkLst>
        </pc:inkChg>
      </pc:sldChg>
    </pc:docChg>
  </pc:docChgLst>
  <pc:docChgLst>
    <pc:chgData name="Sam O'Neill" userId="cb323814-a42a-4cfe-bc74-03f595e56f6e" providerId="ADAL" clId="{69A4C11B-66CC-4E5D-8C2D-BD961246CA8C}"/>
    <pc:docChg chg="modSld">
      <pc:chgData name="Sam O'Neill" userId="cb323814-a42a-4cfe-bc74-03f595e56f6e" providerId="ADAL" clId="{69A4C11B-66CC-4E5D-8C2D-BD961246CA8C}" dt="2025-02-21T12:00:04.735" v="0"/>
      <pc:docMkLst>
        <pc:docMk/>
      </pc:docMkLst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3681062442" sldId="342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217915618" sldId="359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3827297195" sldId="403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3618403521" sldId="404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1885576420" sldId="413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1625651134" sldId="419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2609913975" sldId="420"/>
        </pc:sldMkLst>
      </pc:sldChg>
    </pc:docChg>
  </pc:docChgLst>
  <pc:docChgLst>
    <pc:chgData name="Sam O'Neill" userId="cb323814-a42a-4cfe-bc74-03f595e56f6e" providerId="ADAL" clId="{12772732-889D-4257-86E1-CB3A3475D479}"/>
    <pc:docChg chg="modSld">
      <pc:chgData name="Sam O'Neill" userId="cb323814-a42a-4cfe-bc74-03f595e56f6e" providerId="ADAL" clId="{12772732-889D-4257-86E1-CB3A3475D479}" dt="2025-02-21T10:33:19.521" v="1" actId="20577"/>
      <pc:docMkLst>
        <pc:docMk/>
      </pc:docMkLst>
      <pc:sldChg chg="delSp modSp mod">
        <pc:chgData name="Sam O'Neill" userId="cb323814-a42a-4cfe-bc74-03f595e56f6e" providerId="ADAL" clId="{12772732-889D-4257-86E1-CB3A3475D479}" dt="2025-02-21T10:33:19.521" v="1" actId="20577"/>
        <pc:sldMkLst>
          <pc:docMk/>
          <pc:sldMk cId="1407836991" sldId="341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681062442" sldId="342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428505220" sldId="344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2463789390" sldId="354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046531695" sldId="377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827297195" sldId="403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618403521" sldId="404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1885576420" sldId="413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1625651134" sldId="419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2609913975" sldId="4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CF253-E163-4161-8EA5-8285F46DBEDA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C4828-DA6D-44CC-95C4-2BBE7200A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3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C4828-DA6D-44CC-95C4-2BBE7200A283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80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AE2FC-4E79-40C1-83A3-9CF810DEF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Networks</a:t>
            </a:r>
            <a:br>
              <a:rPr lang="en-GB" dirty="0"/>
            </a:br>
            <a:r>
              <a:rPr lang="en-GB" sz="3200" dirty="0"/>
              <a:t>Shortest Paths and Minimum Spanning Tree (MST) </a:t>
            </a:r>
            <a:endParaRPr lang="en-GB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5BC4D-9CA5-4392-86C2-A92F9422D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39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Directed graph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GB" dirty="0"/>
                  <a:t> is a set of edges,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GB" dirty="0"/>
                  <a:t>, and a weight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7FAFD4B-9CFD-49AD-A16E-75C03A7CA35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2707" y="2529672"/>
            <a:ext cx="4057092" cy="1798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761916-2BAC-45BC-B3E5-80EF7E36B0CD}"/>
                  </a:ext>
                </a:extLst>
              </p:cNvPr>
              <p:cNvSpPr txBox="1"/>
              <p:nvPr/>
            </p:nvSpPr>
            <p:spPr>
              <a:xfrm>
                <a:off x="544071" y="4975364"/>
                <a:ext cx="47734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n-GB" b="0" dirty="0"/>
                  <a:t> </a:t>
                </a:r>
                <a:br>
                  <a:rPr lang="en-GB" b="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4,2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4,5</m:t>
                        </m:r>
                      </m:e>
                    </m:d>
                  </m:oMath>
                </a14:m>
                <a:r>
                  <a:rPr lang="en-GB" dirty="0"/>
                  <a:t>}</a:t>
                </a:r>
              </a:p>
              <a:p>
                <a:endParaRPr lang="en-GB" dirty="0"/>
              </a:p>
              <a:p>
                <a:r>
                  <a:rPr lang="en-GB" dirty="0"/>
                  <a:t>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761916-2BAC-45BC-B3E5-80EF7E36B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71" y="4975364"/>
                <a:ext cx="4773486" cy="1200329"/>
              </a:xfrm>
              <a:prstGeom prst="rect">
                <a:avLst/>
              </a:prstGeom>
              <a:blipFill>
                <a:blip r:embed="rId4"/>
                <a:stretch>
                  <a:fillRect l="-1022" r="-255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3DC63CC-BFAA-4169-A712-8AA96BA72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819" y="2562068"/>
            <a:ext cx="3236616" cy="21726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635B2A-9A32-4318-B773-41DA38531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5384" y="2588767"/>
            <a:ext cx="3236616" cy="211921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9C8BD9-F155-4DA4-9344-6C50001ED5BF}"/>
              </a:ext>
            </a:extLst>
          </p:cNvPr>
          <p:cNvCxnSpPr/>
          <p:nvPr/>
        </p:nvCxnSpPr>
        <p:spPr>
          <a:xfrm>
            <a:off x="8179358" y="4594198"/>
            <a:ext cx="123594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E73689-5315-4B2F-A5A8-6026BE953547}"/>
                  </a:ext>
                </a:extLst>
              </p:cNvPr>
              <p:cNvSpPr txBox="1"/>
              <p:nvPr/>
            </p:nvSpPr>
            <p:spPr>
              <a:xfrm>
                <a:off x="8876145" y="5252363"/>
                <a:ext cx="422679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en-GB" b="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,(4,3)</m:t>
                    </m:r>
                  </m:oMath>
                </a14:m>
                <a:r>
                  <a:rPr lang="en-GB" dirty="0"/>
                  <a:t>}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E73689-5315-4B2F-A5A8-6026BE953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6145" y="5252363"/>
                <a:ext cx="4226791" cy="1200329"/>
              </a:xfrm>
              <a:prstGeom prst="rect">
                <a:avLst/>
              </a:prstGeom>
              <a:blipFill>
                <a:blip r:embed="rId7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14E26-3A55-4727-BF46-EDB0E5B2AFCF}"/>
                  </a:ext>
                </a:extLst>
              </p:cNvPr>
              <p:cNvSpPr txBox="1"/>
              <p:nvPr/>
            </p:nvSpPr>
            <p:spPr>
              <a:xfrm>
                <a:off x="5888182" y="5246472"/>
                <a:ext cx="42267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en-GB" b="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</m:oMath>
                </a14:m>
                <a:r>
                  <a:rPr lang="en-GB" dirty="0"/>
                  <a:t>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14E26-3A55-4727-BF46-EDB0E5B2A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5246472"/>
                <a:ext cx="4226791" cy="923330"/>
              </a:xfrm>
              <a:prstGeom prst="rect">
                <a:avLst/>
              </a:prstGeom>
              <a:blipFill>
                <a:blip r:embed="rId8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3E0CB3-B08D-4A97-B3DF-E43A2709D330}"/>
              </a:ext>
            </a:extLst>
          </p:cNvPr>
          <p:cNvCxnSpPr/>
          <p:nvPr/>
        </p:nvCxnSpPr>
        <p:spPr>
          <a:xfrm>
            <a:off x="8094702" y="6584634"/>
            <a:ext cx="123594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29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Note we do not allow multiple edges between vertices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, otherwise the edge weight would not be well defined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8C0D0186-BE01-4425-B56D-CD2E29BAD5C7}"/>
              </a:ext>
            </a:extLst>
          </p:cNvPr>
          <p:cNvSpPr/>
          <p:nvPr/>
        </p:nvSpPr>
        <p:spPr>
          <a:xfrm>
            <a:off x="1132698" y="4136588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54804A-58C7-4B2E-84D2-0E9328872A15}"/>
              </a:ext>
            </a:extLst>
          </p:cNvPr>
          <p:cNvSpPr/>
          <p:nvPr/>
        </p:nvSpPr>
        <p:spPr>
          <a:xfrm>
            <a:off x="3201455" y="303143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6A8354-C3EA-4434-97BD-DCA7359F5FBC}"/>
              </a:ext>
            </a:extLst>
          </p:cNvPr>
          <p:cNvCxnSpPr>
            <a:cxnSpLocks/>
            <a:stCxn id="11" idx="7"/>
            <a:endCxn id="12" idx="2"/>
          </p:cNvCxnSpPr>
          <p:nvPr/>
        </p:nvCxnSpPr>
        <p:spPr>
          <a:xfrm flipV="1">
            <a:off x="1811384" y="3429000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208F43-710F-45F5-8C00-6A8E9D58D97A}"/>
              </a:ext>
            </a:extLst>
          </p:cNvPr>
          <p:cNvCxnSpPr>
            <a:cxnSpLocks/>
            <a:stCxn id="11" idx="6"/>
            <a:endCxn id="12" idx="3"/>
          </p:cNvCxnSpPr>
          <p:nvPr/>
        </p:nvCxnSpPr>
        <p:spPr>
          <a:xfrm flipV="1">
            <a:off x="1927828" y="3710121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92683DC-E352-42DA-B997-798FF3B92CF7}"/>
              </a:ext>
            </a:extLst>
          </p:cNvPr>
          <p:cNvSpPr/>
          <p:nvPr/>
        </p:nvSpPr>
        <p:spPr>
          <a:xfrm>
            <a:off x="6528362" y="331255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9B3F9E-DDD7-4A5C-A8C6-9063B5C35D6A}"/>
              </a:ext>
            </a:extLst>
          </p:cNvPr>
          <p:cNvSpPr/>
          <p:nvPr/>
        </p:nvSpPr>
        <p:spPr>
          <a:xfrm>
            <a:off x="8597119" y="2207403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C45F9-FABD-4EEF-BB5E-C1D9ECE04ABA}"/>
              </a:ext>
            </a:extLst>
          </p:cNvPr>
          <p:cNvCxnSpPr>
            <a:cxnSpLocks/>
            <a:stCxn id="16" idx="7"/>
            <a:endCxn id="17" idx="2"/>
          </p:cNvCxnSpPr>
          <p:nvPr/>
        </p:nvCxnSpPr>
        <p:spPr>
          <a:xfrm flipV="1">
            <a:off x="7207048" y="2604968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09ACCB-2A73-4BA7-8838-5DE4D1FC4C84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>
            <a:off x="7323492" y="3710121"/>
            <a:ext cx="822459" cy="47617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6AA51DF-B52C-4A92-9224-9AD8FC35AA38}"/>
              </a:ext>
            </a:extLst>
          </p:cNvPr>
          <p:cNvSpPr/>
          <p:nvPr/>
        </p:nvSpPr>
        <p:spPr>
          <a:xfrm>
            <a:off x="8145951" y="3788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568801-518F-4FE4-80AA-075FC0A96BB1}"/>
              </a:ext>
            </a:extLst>
          </p:cNvPr>
          <p:cNvCxnSpPr>
            <a:cxnSpLocks/>
            <a:stCxn id="20" idx="7"/>
            <a:endCxn id="17" idx="4"/>
          </p:cNvCxnSpPr>
          <p:nvPr/>
        </p:nvCxnSpPr>
        <p:spPr>
          <a:xfrm flipV="1">
            <a:off x="8824637" y="3002533"/>
            <a:ext cx="170047" cy="90264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3377B27-B266-4CE8-A51A-EA13DF2B6CE1}"/>
              </a:ext>
            </a:extLst>
          </p:cNvPr>
          <p:cNvSpPr txBox="1"/>
          <p:nvPr/>
        </p:nvSpPr>
        <p:spPr>
          <a:xfrm>
            <a:off x="2149197" y="3471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A7E3A1-A90E-4BB1-80A3-A7B9363F27B7}"/>
              </a:ext>
            </a:extLst>
          </p:cNvPr>
          <p:cNvSpPr txBox="1"/>
          <p:nvPr/>
        </p:nvSpPr>
        <p:spPr>
          <a:xfrm>
            <a:off x="2506419" y="42254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9D99BD4-4179-4A7B-A25C-5E5F052D1814}"/>
                  </a:ext>
                </a:extLst>
              </p:cNvPr>
              <p:cNvSpPr/>
              <p:nvPr/>
            </p:nvSpPr>
            <p:spPr>
              <a:xfrm>
                <a:off x="1142841" y="5241741"/>
                <a:ext cx="30288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What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(1,2)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9D99BD4-4179-4A7B-A25C-5E5F052D1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841" y="5241741"/>
                <a:ext cx="3028842" cy="369332"/>
              </a:xfrm>
              <a:prstGeom prst="rect">
                <a:avLst/>
              </a:prstGeom>
              <a:blipFill>
                <a:blip r:embed="rId3"/>
                <a:stretch>
                  <a:fillRect l="-1610" t="-10000" r="-80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CD87E53-62A1-4C56-8F11-F37F1BA96693}"/>
              </a:ext>
            </a:extLst>
          </p:cNvPr>
          <p:cNvSpPr txBox="1"/>
          <p:nvPr/>
        </p:nvSpPr>
        <p:spPr>
          <a:xfrm>
            <a:off x="7507134" y="25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4485FA-87C7-4D1E-BB8A-F4A1E7F603DA}"/>
              </a:ext>
            </a:extLst>
          </p:cNvPr>
          <p:cNvSpPr txBox="1"/>
          <p:nvPr/>
        </p:nvSpPr>
        <p:spPr>
          <a:xfrm>
            <a:off x="7570214" y="40980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6D130B-D0AD-483E-8042-401CCDCAB656}"/>
              </a:ext>
            </a:extLst>
          </p:cNvPr>
          <p:cNvSpPr txBox="1"/>
          <p:nvPr/>
        </p:nvSpPr>
        <p:spPr>
          <a:xfrm>
            <a:off x="9023823" y="34067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4D97DE5-401A-4F85-9674-1F45B437F1E3}"/>
                  </a:ext>
                </a:extLst>
              </p:cNvPr>
              <p:cNvSpPr/>
              <p:nvPr/>
            </p:nvSpPr>
            <p:spPr>
              <a:xfrm>
                <a:off x="6741448" y="5185389"/>
                <a:ext cx="3304238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What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(1,2)</m:t>
                    </m:r>
                  </m:oMath>
                </a14:m>
                <a:r>
                  <a:rPr lang="en-GB" dirty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Alternative path from 1-2 is 1-3-2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3,2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=4+0=4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4D97DE5-401A-4F85-9674-1F45B437F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448" y="5185389"/>
                <a:ext cx="3304238" cy="1200329"/>
              </a:xfrm>
              <a:prstGeom prst="rect">
                <a:avLst/>
              </a:prstGeom>
              <a:blipFill>
                <a:blip r:embed="rId4"/>
                <a:stretch>
                  <a:fillRect l="-1661" t="-3046" r="-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40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Adjacency Matrix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293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won’t have direct use for this, but it is worth noting!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AFD4B-9CFD-49AD-A16E-75C03A7CA3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2707" y="2529672"/>
            <a:ext cx="4057092" cy="1798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EB33BA-654B-4BD0-B723-A0A780A0F691}"/>
                  </a:ext>
                </a:extLst>
              </p:cNvPr>
              <p:cNvSpPr txBox="1"/>
              <p:nvPr/>
            </p:nvSpPr>
            <p:spPr>
              <a:xfrm>
                <a:off x="255754" y="4789339"/>
                <a:ext cx="2541337" cy="1261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EB33BA-654B-4BD0-B723-A0A780A0F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54" y="4789339"/>
                <a:ext cx="2541337" cy="1261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70442C-26B4-4872-9524-F6B0F68B34DA}"/>
                  </a:ext>
                </a:extLst>
              </p:cNvPr>
              <p:cNvSpPr txBox="1"/>
              <p:nvPr/>
            </p:nvSpPr>
            <p:spPr>
              <a:xfrm>
                <a:off x="3169085" y="4797827"/>
                <a:ext cx="2562175" cy="1261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70442C-26B4-4872-9524-F6B0F68B3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085" y="4797827"/>
                <a:ext cx="2562175" cy="1261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3B6B8D7-D972-4F67-88F7-C5564FF9BA4F}"/>
              </a:ext>
            </a:extLst>
          </p:cNvPr>
          <p:cNvSpPr/>
          <p:nvPr/>
        </p:nvSpPr>
        <p:spPr>
          <a:xfrm>
            <a:off x="2688487" y="5197617"/>
            <a:ext cx="566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OR</a:t>
            </a:r>
            <a:endParaRPr lang="en-GB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A965B5-6080-41BF-8548-82A7F1DB1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741" y="2209542"/>
            <a:ext cx="4057092" cy="22124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5F85D1-5572-458A-9945-CEBAC3712A3A}"/>
                  </a:ext>
                </a:extLst>
              </p:cNvPr>
              <p:cNvSpPr txBox="1"/>
              <p:nvPr/>
            </p:nvSpPr>
            <p:spPr>
              <a:xfrm>
                <a:off x="6103254" y="4743211"/>
                <a:ext cx="2709652" cy="1465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5F85D1-5572-458A-9945-CEBAC3712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254" y="4743211"/>
                <a:ext cx="2709652" cy="1465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27">
            <a:extLst>
              <a:ext uri="{FF2B5EF4-FFF2-40B4-BE49-F238E27FC236}">
                <a16:creationId xmlns:a16="http://schemas.microsoft.com/office/drawing/2014/main" id="{EF915CB7-9186-433B-8F28-16263D580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407" y="2258826"/>
            <a:ext cx="3417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100" b="1" dirty="0"/>
              <a:t>11</a:t>
            </a:r>
            <a:endParaRPr lang="en-US" sz="105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6EE330-C0BB-4B5A-9056-F3B11DA4D755}"/>
                  </a:ext>
                </a:extLst>
              </p:cNvPr>
              <p:cNvSpPr txBox="1"/>
              <p:nvPr/>
            </p:nvSpPr>
            <p:spPr>
              <a:xfrm>
                <a:off x="9037423" y="4760816"/>
                <a:ext cx="2736903" cy="1465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6EE330-C0BB-4B5A-9056-F3B11DA4D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423" y="4760816"/>
                <a:ext cx="2736903" cy="14652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015A5DB-B492-4FDD-B9A8-C1F4442ECD2F}"/>
              </a:ext>
            </a:extLst>
          </p:cNvPr>
          <p:cNvSpPr/>
          <p:nvPr/>
        </p:nvSpPr>
        <p:spPr>
          <a:xfrm>
            <a:off x="8645542" y="5205641"/>
            <a:ext cx="566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OR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188557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Path Problem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Definition: </a:t>
            </a:r>
            <a:r>
              <a:rPr lang="en-GB" dirty="0"/>
              <a:t>Find the shortest path between two vertices (source and destination) such that the sum of the weights of its edges is minimised.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Perhaps one of the most fundamental problems in Mathematics and Computer Science</a:t>
            </a:r>
          </a:p>
          <a:p>
            <a:endParaRPr lang="en-GB" dirty="0"/>
          </a:p>
          <a:p>
            <a:r>
              <a:rPr lang="en-GB" dirty="0"/>
              <a:t>Huge implications on routing and traffic problems, e.g. vehicular, telecommunications.</a:t>
            </a:r>
          </a:p>
          <a:p>
            <a:endParaRPr lang="en-GB" dirty="0"/>
          </a:p>
          <a:p>
            <a:r>
              <a:rPr lang="en-GB" dirty="0"/>
              <a:t>If you’ve used Google Maps, you’ve asked to solve a form of shortest path problem!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783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Blue Peter Example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1277053C-1C77-47D5-9D73-8AC8B493B3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8221" y="2046565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558DD06D-5682-4DCA-BB1C-8A2169C4B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359" y="3300438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862BC241-2E65-432D-A93A-0EF34F7427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0744" y="2144847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CD8E18F3-D803-46EE-BBB6-27F6FD247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194828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E824E5C9-3B3E-43B4-9B77-2BF897678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2461" y="1849999"/>
            <a:ext cx="2253127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E22ED85-0FD4-44F1-A51D-9EE147E8FE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1246" y="3300439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0A508D9D-201C-4CC4-8C36-F61A62E5C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3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2C65BF83-16FB-4216-9E01-055D9D76D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2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B8045ED7-56AA-498A-8032-F2934F6F9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7310" y="420878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976DBA11-59E8-44B2-AE02-35C0A7B13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4405350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48FD12-8A46-4DB5-BBF8-BD752C008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165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178830-CF85-42A3-AE0F-231B3D78A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DC95B7-D929-49D5-99F5-BA0CD4B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D67BB1-1F39-4211-B67F-3BED51CBD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92293F-207B-4243-AE8A-26661E5EC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755E21-A47A-421D-B8B8-5C2E0544A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20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D52B8633-C4A9-44C8-AE97-CAA7B5C61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634" y="214484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BA95EBC5-C409-4945-BAB6-7F4E2D705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112" y="37329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7D1BEAF0-5D36-4B03-B6C9-25E15504A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613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38DC88EB-6274-4225-A33A-99C42037E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571" y="263626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A736FF34-42C3-4BB0-864C-897BCCB85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3825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8932D273-2806-4CBD-87C9-53A132129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440667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B41A78B9-2F46-40AB-BF4A-6FDC6B19A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1247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3212B0F0-27D6-4DCB-968B-6341ABE84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2947" y="208041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7D86E581-5A57-455E-B372-963F6BF1A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187" y="374758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2D730-84C7-41BF-AF49-98FF0346AB8B}"/>
              </a:ext>
            </a:extLst>
          </p:cNvPr>
          <p:cNvSpPr txBox="1"/>
          <p:nvPr/>
        </p:nvSpPr>
        <p:spPr>
          <a:xfrm>
            <a:off x="3516359" y="5350322"/>
            <a:ext cx="5374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Shortest path between 0 and 5 is 0-3-1-4-5 of length 15</a:t>
            </a: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4A3EC6FF-4507-4036-B239-10F5BC4EA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312" y="1541709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8416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GB" dirty="0"/>
                  <a:t>Designed by </a:t>
                </a:r>
                <a:r>
                  <a:rPr lang="en-GB" dirty="0" err="1"/>
                  <a:t>Edsger</a:t>
                </a:r>
                <a:r>
                  <a:rPr lang="en-GB" dirty="0"/>
                  <a:t> </a:t>
                </a:r>
                <a:r>
                  <a:rPr lang="en-GB" dirty="0" err="1"/>
                  <a:t>Wybe</a:t>
                </a:r>
                <a:r>
                  <a:rPr lang="en-GB" dirty="0"/>
                  <a:t> Dijkstra in 1956 (published 1959) to demonstrate the new ARMAC computer</a:t>
                </a:r>
              </a:p>
              <a:p>
                <a:endParaRPr lang="en-GB" dirty="0"/>
              </a:p>
              <a:p>
                <a:r>
                  <a:rPr lang="en-GB" dirty="0"/>
                  <a:t>Still widely used and researched today!</a:t>
                </a:r>
              </a:p>
              <a:p>
                <a:endParaRPr lang="en-GB" dirty="0"/>
              </a:p>
              <a:p>
                <a:r>
                  <a:rPr lang="en-GB" dirty="0"/>
                  <a:t>Route planners use pre-processing speed-up techniques such as contraction hierarchies.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Edge weights need to be nonnegative! Otherwise use Bellman-Ford</a:t>
                </a:r>
              </a:p>
              <a:p>
                <a:pPr marL="0" indent="0">
                  <a:buNone/>
                </a:pPr>
                <a:r>
                  <a:rPr lang="en-GB" dirty="0"/>
                  <a:t>Homework: Investigate Bellman-Ford Algorithm, this can also detect negative weight cycles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/>
                  <a:t>, label all vertices as </a:t>
                </a:r>
                <a:r>
                  <a:rPr lang="en-GB" b="1" dirty="0"/>
                  <a:t>temporary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Label the vertex with minimum distance as </a:t>
                </a:r>
                <a:r>
                  <a:rPr lang="en-GB" b="1" dirty="0"/>
                  <a:t>permanent</a:t>
                </a:r>
                <a:r>
                  <a:rPr lang="en-GB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Update the distances and predecessors to reachable </a:t>
                </a:r>
                <a:r>
                  <a:rPr lang="en-GB" b="1" dirty="0"/>
                  <a:t>temporary </a:t>
                </a:r>
                <a:r>
                  <a:rPr lang="en-GB" dirty="0"/>
                  <a:t>vertices from the current permanent vertex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Repeat steps 2 and 3 until all vertices are marked </a:t>
                </a:r>
                <a:r>
                  <a:rPr lang="en-GB" b="1" dirty="0"/>
                  <a:t>permanent</a:t>
                </a:r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522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062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Set Up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9913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Improving Cost Labels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sz="2800" dirty="0">
                    <a:cs typeface="Arial" charset="0"/>
                  </a:rPr>
                  <a:t>Shortest path costs satisfy the triangle inequality:</a:t>
                </a:r>
              </a:p>
              <a:p>
                <a:pPr eaLnBrk="1" hangingPunct="1">
                  <a:buFontTx/>
                  <a:buNone/>
                </a:pPr>
                <a:r>
                  <a:rPr lang="en-US" sz="2800" dirty="0">
                    <a:cs typeface="Arial" charset="0"/>
                  </a:rPr>
                  <a:t>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𝑖</m:t>
                        </m:r>
                      </m:sub>
                    </m:sSub>
                    <m:r>
                      <a:rPr lang="en-GB" sz="2800" b="0" i="0" smtClean="0">
                        <a:latin typeface="Cambria Math" panose="02040503050406030204" pitchFamily="18" charset="0"/>
                        <a:cs typeface="Arial" charset="0"/>
                      </a:rPr>
                      <m:t>+</m:t>
                    </m:r>
                    <m:sSub>
                      <m:sSubPr>
                        <m:ctrlP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𝑖𝑗</m:t>
                        </m:r>
                      </m:sub>
                    </m:sSub>
                    <m:r>
                      <a:rPr lang="en-GB" sz="2800" b="0" i="1" dirty="0" smtClean="0">
                        <a:latin typeface="Cambria Math" panose="02040503050406030204" pitchFamily="18" charset="0"/>
                        <a:cs typeface="Arial" charset="0"/>
                      </a:rPr>
                      <m:t>≥</m:t>
                    </m:r>
                    <m:sSub>
                      <m:sSubPr>
                        <m:ctrlP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cs typeface="Arial" charset="0"/>
                  </a:rPr>
                  <a:t> for every edge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Arial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,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r>
                  <a:rPr lang="en-US" sz="2800" dirty="0">
                    <a:cs typeface="Arial" charset="0"/>
                  </a:rPr>
                  <a:t>.</a:t>
                </a: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/>
                <a:r>
                  <a:rPr lang="en-GB" sz="2800" dirty="0">
                    <a:cs typeface="Arial" charset="0"/>
                  </a:rPr>
                  <a:t>If this is not </a:t>
                </a:r>
                <a:r>
                  <a:rPr lang="en-GB" sz="2800" b="1" dirty="0">
                    <a:cs typeface="Arial" charset="0"/>
                  </a:rPr>
                  <a:t>TRUE</a:t>
                </a:r>
                <a:r>
                  <a:rPr lang="en-GB" sz="2800" dirty="0">
                    <a:cs typeface="Arial" charset="0"/>
                  </a:rPr>
                  <a:t> then there exists some path that improves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800" dirty="0">
                  <a:cs typeface="Arial" charset="0"/>
                </a:endParaRPr>
              </a:p>
              <a:p>
                <a:pPr lvl="1"/>
                <a:r>
                  <a:rPr lang="en-US" dirty="0">
                    <a:cs typeface="Arial" charset="0"/>
                  </a:rPr>
                  <a:t>E.g. the shortest path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𝑖</m:t>
                    </m:r>
                  </m:oMath>
                </a14:m>
                <a:r>
                  <a:rPr lang="en-US" dirty="0">
                    <a:cs typeface="Arial" charset="0"/>
                  </a:rPr>
                  <a:t> followed by the edge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82507B7-84BB-4549-9DD2-DC9FF8CCF7E8}"/>
              </a:ext>
            </a:extLst>
          </p:cNvPr>
          <p:cNvSpPr/>
          <p:nvPr/>
        </p:nvSpPr>
        <p:spPr>
          <a:xfrm>
            <a:off x="8672141" y="2437671"/>
            <a:ext cx="2234142" cy="832644"/>
          </a:xfrm>
          <a:prstGeom prst="triangle">
            <a:avLst/>
          </a:pr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48E18-B872-4557-9AAD-35D87BEAB586}"/>
              </a:ext>
            </a:extLst>
          </p:cNvPr>
          <p:cNvSpPr txBox="1"/>
          <p:nvPr/>
        </p:nvSpPr>
        <p:spPr>
          <a:xfrm>
            <a:off x="8976941" y="2484952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04AEE-875E-4F3D-BFD8-6F9218E5FF84}"/>
              </a:ext>
            </a:extLst>
          </p:cNvPr>
          <p:cNvSpPr txBox="1"/>
          <p:nvPr/>
        </p:nvSpPr>
        <p:spPr>
          <a:xfrm>
            <a:off x="10297741" y="2484661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AA0B9-0408-45FA-A71A-F76006D43228}"/>
              </a:ext>
            </a:extLst>
          </p:cNvPr>
          <p:cNvSpPr txBox="1"/>
          <p:nvPr/>
        </p:nvSpPr>
        <p:spPr>
          <a:xfrm>
            <a:off x="9277023" y="3650608"/>
            <a:ext cx="998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 + y ≥ 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81AAB-8839-476D-9FB0-9A9C7F9630BA}"/>
              </a:ext>
            </a:extLst>
          </p:cNvPr>
          <p:cNvSpPr txBox="1"/>
          <p:nvPr/>
        </p:nvSpPr>
        <p:spPr>
          <a:xfrm>
            <a:off x="9639171" y="3180560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z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F7078BC-8141-4004-9101-AE52772EDE39}"/>
              </a:ext>
            </a:extLst>
          </p:cNvPr>
          <p:cNvSpPr>
            <a:spLocks/>
          </p:cNvSpPr>
          <p:nvPr/>
        </p:nvSpPr>
        <p:spPr bwMode="auto">
          <a:xfrm>
            <a:off x="1594177" y="3057748"/>
            <a:ext cx="1676400" cy="1295400"/>
          </a:xfrm>
          <a:custGeom>
            <a:avLst/>
            <a:gdLst>
              <a:gd name="T0" fmla="*/ 0 w 1056"/>
              <a:gd name="T1" fmla="*/ 2147483647 h 816"/>
              <a:gd name="T2" fmla="*/ 2147483647 w 1056"/>
              <a:gd name="T3" fmla="*/ 2147483647 h 816"/>
              <a:gd name="T4" fmla="*/ 2147483647 w 1056"/>
              <a:gd name="T5" fmla="*/ 2147483647 h 816"/>
              <a:gd name="T6" fmla="*/ 2147483647 w 1056"/>
              <a:gd name="T7" fmla="*/ 2147483647 h 816"/>
              <a:gd name="T8" fmla="*/ 2147483647 w 105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816"/>
              <a:gd name="T17" fmla="*/ 1056 w 1056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816">
                <a:moveTo>
                  <a:pt x="0" y="816"/>
                </a:moveTo>
                <a:cubicBezTo>
                  <a:pt x="28" y="704"/>
                  <a:pt x="56" y="592"/>
                  <a:pt x="144" y="528"/>
                </a:cubicBezTo>
                <a:cubicBezTo>
                  <a:pt x="232" y="464"/>
                  <a:pt x="448" y="504"/>
                  <a:pt x="528" y="432"/>
                </a:cubicBezTo>
                <a:cubicBezTo>
                  <a:pt x="608" y="360"/>
                  <a:pt x="536" y="168"/>
                  <a:pt x="624" y="96"/>
                </a:cubicBezTo>
                <a:cubicBezTo>
                  <a:pt x="712" y="24"/>
                  <a:pt x="884" y="12"/>
                  <a:pt x="105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ED6F1305-968A-48FA-B77F-085DCDBE0EEE}"/>
              </a:ext>
            </a:extLst>
          </p:cNvPr>
          <p:cNvSpPr>
            <a:spLocks/>
          </p:cNvSpPr>
          <p:nvPr/>
        </p:nvSpPr>
        <p:spPr bwMode="auto">
          <a:xfrm>
            <a:off x="1594177" y="4315048"/>
            <a:ext cx="3048000" cy="508000"/>
          </a:xfrm>
          <a:custGeom>
            <a:avLst/>
            <a:gdLst>
              <a:gd name="T0" fmla="*/ 0 w 1920"/>
              <a:gd name="T1" fmla="*/ 2147483647 h 320"/>
              <a:gd name="T2" fmla="*/ 2147483647 w 1920"/>
              <a:gd name="T3" fmla="*/ 2147483647 h 320"/>
              <a:gd name="T4" fmla="*/ 2147483647 w 1920"/>
              <a:gd name="T5" fmla="*/ 2147483647 h 320"/>
              <a:gd name="T6" fmla="*/ 2147483647 w 1920"/>
              <a:gd name="T7" fmla="*/ 2147483647 h 320"/>
              <a:gd name="T8" fmla="*/ 2147483647 w 1920"/>
              <a:gd name="T9" fmla="*/ 2147483647 h 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320"/>
              <a:gd name="T17" fmla="*/ 1920 w 1920"/>
              <a:gd name="T18" fmla="*/ 320 h 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320">
                <a:moveTo>
                  <a:pt x="0" y="24"/>
                </a:moveTo>
                <a:cubicBezTo>
                  <a:pt x="104" y="96"/>
                  <a:pt x="208" y="168"/>
                  <a:pt x="336" y="168"/>
                </a:cubicBezTo>
                <a:cubicBezTo>
                  <a:pt x="464" y="168"/>
                  <a:pt x="568" y="0"/>
                  <a:pt x="768" y="24"/>
                </a:cubicBezTo>
                <a:cubicBezTo>
                  <a:pt x="968" y="48"/>
                  <a:pt x="1344" y="304"/>
                  <a:pt x="1536" y="312"/>
                </a:cubicBezTo>
                <a:cubicBezTo>
                  <a:pt x="1728" y="320"/>
                  <a:pt x="1824" y="196"/>
                  <a:pt x="1920" y="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1C96150E-AD1A-4172-BF40-971E80992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9177" y="3057748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18CE214B-B532-4E50-8C72-2BFCE0DF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777" y="4200748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Oval 5">
            <a:extLst>
              <a:ext uri="{FF2B5EF4-FFF2-40B4-BE49-F238E27FC236}">
                <a16:creationId xmlns:a16="http://schemas.microsoft.com/office/drawing/2014/main" id="{9FDBBEFE-C6B8-4E35-ADDF-E84093F8C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777" y="2905348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7EF33B45-8DBE-45C9-BBAF-98BCB422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977" y="4124548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C002A881-33FD-43F4-9834-FD5C8A4655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4702" y="2484661"/>
                <a:ext cx="45647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C002A881-33FD-43F4-9834-FD5C8A465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4702" y="2484661"/>
                <a:ext cx="456471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93DDC78F-FF9C-42AC-BA7D-B980B13D1C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2177" y="4429348"/>
                <a:ext cx="455188" cy="391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93DDC78F-FF9C-42AC-BA7D-B980B13D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2177" y="4429348"/>
                <a:ext cx="455188" cy="391646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1916049A-5387-430C-B87C-A2F3BE470C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577" y="3210148"/>
                <a:ext cx="502125" cy="391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1916049A-5387-430C-B87C-A2F3BE470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2577" y="3210148"/>
                <a:ext cx="502125" cy="391646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651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 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915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FC0623-F907-41CE-895C-BA6D1E75496D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DA1B2-D88D-4DBB-905B-02646E93614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4A77E0-5AA1-4E2E-9493-D6F4925C51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EA869-037F-4F67-B68A-C0388CB921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BEE79-1461-450F-9F13-821C5A988B3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2BA6B8-4844-46FB-BEA4-6E89B9F41AC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593D6A-71EE-4F6B-9A48-082BB439A3B5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717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D6870A-9E68-412D-A8E4-8B9C56887F16}"/>
              </a:ext>
            </a:extLst>
          </p:cNvPr>
          <p:cNvSpPr txBox="1"/>
          <p:nvPr/>
        </p:nvSpPr>
        <p:spPr>
          <a:xfrm>
            <a:off x="3655642" y="239409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0+9=9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054F34-F39C-4437-94A0-9D60C21CD7D0}"/>
              </a:ext>
            </a:extLst>
          </p:cNvPr>
          <p:cNvSpPr txBox="1"/>
          <p:nvPr/>
        </p:nvSpPr>
        <p:spPr>
          <a:xfrm>
            <a:off x="3561469" y="488569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0+2=2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003F8A-94E2-4307-98DF-465D9D4C105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3910DE58-9658-45D9-9443-955CAEF401FD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58FC30-6690-417F-A781-A486D738CBD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35F9E6-F980-4F56-958A-C24EF844C9B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8F4DBF-2DEB-4639-9D7E-49A33ECD67A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5CC73E-644E-43DC-BEE1-940D1BBF91C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4253E-33C3-4030-B1D0-BB2DA88141F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F72AFD-76F9-48C9-A721-3AC1E8DD3FC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F33CE-4E6C-4178-87DA-53CE8E59205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3789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5365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6F819E-5081-42E1-A6A7-71B2F1CB187B}"/>
              </a:ext>
            </a:extLst>
          </p:cNvPr>
          <p:cNvSpPr txBox="1"/>
          <p:nvPr/>
        </p:nvSpPr>
        <p:spPr>
          <a:xfrm>
            <a:off x="5028104" y="3581752"/>
            <a:ext cx="78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2+4=6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DBB70-2672-44EE-B0D8-AA40266BCDB9}"/>
              </a:ext>
            </a:extLst>
          </p:cNvPr>
          <p:cNvSpPr txBox="1"/>
          <p:nvPr/>
        </p:nvSpPr>
        <p:spPr>
          <a:xfrm>
            <a:off x="5695440" y="5448173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2+8=10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97E640-1715-467B-BA1B-7500700A1289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11989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11989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3921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CDAC4FBC-7D22-4615-84C7-DE24547DF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CDAC4FBC-7D22-4615-84C7-DE24547DF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3F510AF9-CB4D-400C-881B-A6889ACA6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3F510AF9-CB4D-400C-881B-A6889ACA62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6B137F3B-C20B-4816-ADB2-CBAD4BBC7A94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876640-77BC-4DA7-B31C-DF99DF12252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227C06-C960-46AC-869B-ED50A496074B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6C2633-1C5A-4079-A02C-B3698981427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22E020-829A-4BD5-9B5B-5AE16657010D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D9AB3E-FDE0-493B-A559-913203AA42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E6D72C-1B3D-4F9F-B2DE-B91693E59124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378D56-1E1F-4514-BC57-326163D82CEC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DC8A77-B6F3-4F26-BB9E-C43162FA9D1E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A5F65BB-5BD0-4A93-9A05-FEB4DC882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3511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A5F65BB-5BD0-4A93-9A05-FEB4DC882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3511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5145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C030E-DC3A-47F8-B362-95EF52E44221}"/>
              </a:ext>
            </a:extLst>
          </p:cNvPr>
          <p:cNvSpPr txBox="1"/>
          <p:nvPr/>
        </p:nvSpPr>
        <p:spPr>
          <a:xfrm>
            <a:off x="5667448" y="1577069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6+11=17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65D884-C733-4EA0-BED3-5E89B9A87730}"/>
              </a:ext>
            </a:extLst>
          </p:cNvPr>
          <p:cNvSpPr txBox="1"/>
          <p:nvPr/>
        </p:nvSpPr>
        <p:spPr>
          <a:xfrm>
            <a:off x="6279718" y="342583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6+3=9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1FC607D4-8B9F-4BF5-88B7-785DDA607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1FC607D4-8B9F-4BF5-88B7-785DDA6076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5F745B66-DE7D-4A98-AE4C-3946C4670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5F745B66-DE7D-4A98-AE4C-3946C46708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510411C7-753E-4857-B2A2-2F4ADC249CB8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04026F-164F-422B-B6BC-E246E0610F4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4BDDB5-19DF-4409-AE98-DD37A5F2A806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385AEE-E46B-435F-BC60-8A7BD07172C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C24515-7EE1-4124-8168-55A9EF516A3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094E92-D7F1-40CA-BD49-6B693F26FC2D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D5804B-3B1C-476C-9E90-1D47BC38B87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37953E-BCCB-438A-ADC7-41042FC1666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94B419-2323-4C91-BC12-12EB7CEB3B8D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BD05EE0A-AF4B-46BA-9640-B184FF386A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77069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BD05EE0A-AF4B-46BA-9640-B184FF386A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77069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7850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8D5E36A-B3D9-481A-8525-A3425EB62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8D5E36A-B3D9-481A-8525-A3425EB62E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86C84083-665E-4D75-9DCE-60E023793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86C84083-665E-4D75-9DCE-60E0237932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6FB3E9B0-5150-4FD9-BCE0-9230FD8A8539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9AF4C7-96F3-47E3-A1AF-468881329A7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B130CA-3D26-4B1D-87EC-41328710C338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911BDD-4537-4685-9319-9A8D8E664F9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FE2DEE-121A-4207-AF19-81778563DD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CBF66A-6CBA-4DFA-9B35-58FAF0BD61B9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083DE8-50AC-401A-8B2A-A6B22D26DBCF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EB1018-143D-4A60-A7A8-E4E994BC0A4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900940-284A-4D94-A65B-20F7BBFCF98F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9B52864-800C-4B32-9B03-D7B85D658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94821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9B52864-800C-4B32-9B03-D7B85D658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94821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085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408B97-C306-4CEC-8501-A55E8A89C4FA}"/>
              </a:ext>
            </a:extLst>
          </p:cNvPr>
          <p:cNvSpPr txBox="1"/>
          <p:nvPr/>
        </p:nvSpPr>
        <p:spPr>
          <a:xfrm>
            <a:off x="8069052" y="4851418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9+6=15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4CD3A5A8-0FC0-4695-8B8C-48F49B0D1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4CD3A5A8-0FC0-4695-8B8C-48F49B0D12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CE2F1949-2C60-4317-A213-B0DF85334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CE2F1949-2C60-4317-A213-B0DF853345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9905522E-8B46-4AA8-9324-A5586A14CEE6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10E8BA-F275-4EAE-ADC0-0EDA453B8EB2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4EE921-8A79-44D7-9161-6FF225F361C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15F4F5-3C3B-450A-B87B-CF7E822DC70F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A40FE4-D048-4CC2-BADA-94305E32F65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1568A2-8E1E-44EC-BF69-77A0F3222339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E0DF41-FAD3-464A-B971-F5F3DAF0B5A6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3F30B2-DDDB-44B1-82CD-6EC367AF57A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81C08D-423C-4990-B754-ECB565B52E0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8C1B594-64BF-433A-8751-5BF33AEE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60230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8C1B594-64BF-433A-8751-5BF33AEE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60230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6320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15108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15108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1E186B2-E40A-4E6F-B252-468F02349F59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68765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527875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527875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9ECFDB36-97E7-4B70-95C2-A90B6F7CAE50}"/>
              </a:ext>
            </a:extLst>
          </p:cNvPr>
          <p:cNvSpPr txBox="1"/>
          <p:nvPr/>
        </p:nvSpPr>
        <p:spPr>
          <a:xfrm>
            <a:off x="2824398" y="6142588"/>
            <a:ext cx="779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temporary. No changes</a:t>
            </a:r>
          </a:p>
        </p:txBody>
      </p:sp>
    </p:spTree>
    <p:extLst>
      <p:ext uri="{BB962C8B-B14F-4D97-AF65-F5344CB8AC3E}">
        <p14:creationId xmlns:p14="http://schemas.microsoft.com/office/powerpoint/2010/main" val="3354784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0629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0629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EE8A7ED-8464-40F1-8BCC-246A4ABA742C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129845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9988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9988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A27AD6D-804A-4BC1-A8E5-30E3747F55C7}"/>
              </a:ext>
            </a:extLst>
          </p:cNvPr>
          <p:cNvSpPr txBox="1"/>
          <p:nvPr/>
        </p:nvSpPr>
        <p:spPr>
          <a:xfrm>
            <a:off x="7389389" y="3832636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17+5=22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FF02FE-4D6F-4052-8698-D1BB609D686D}"/>
              </a:ext>
            </a:extLst>
          </p:cNvPr>
          <p:cNvSpPr txBox="1"/>
          <p:nvPr/>
        </p:nvSpPr>
        <p:spPr>
          <a:xfrm>
            <a:off x="8268080" y="2230326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17+12=29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1BD709-D8EE-42E2-A61B-73F5524E8724}"/>
              </a:ext>
            </a:extLst>
          </p:cNvPr>
          <p:cNvSpPr txBox="1"/>
          <p:nvPr/>
        </p:nvSpPr>
        <p:spPr>
          <a:xfrm>
            <a:off x="2824398" y="6142588"/>
            <a:ext cx="779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temporary. No changes</a:t>
            </a:r>
          </a:p>
        </p:txBody>
      </p:sp>
    </p:spTree>
    <p:extLst>
      <p:ext uri="{BB962C8B-B14F-4D97-AF65-F5344CB8AC3E}">
        <p14:creationId xmlns:p14="http://schemas.microsoft.com/office/powerpoint/2010/main" val="4143973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711BD709-D8EE-42E2-A61B-73F5524E8724}"/>
              </a:ext>
            </a:extLst>
          </p:cNvPr>
          <p:cNvSpPr txBox="1"/>
          <p:nvPr/>
        </p:nvSpPr>
        <p:spPr>
          <a:xfrm>
            <a:off x="5084392" y="6291554"/>
            <a:ext cx="24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Final Network and Table</a:t>
            </a:r>
          </a:p>
        </p:txBody>
      </p:sp>
    </p:spTree>
    <p:extLst>
      <p:ext uri="{BB962C8B-B14F-4D97-AF65-F5344CB8AC3E}">
        <p14:creationId xmlns:p14="http://schemas.microsoft.com/office/powerpoint/2010/main" val="1072132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2EE530BE-8043-4A90-BC3B-0053527D3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7576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2EE530BE-8043-4A90-BC3B-0053527D3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7576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4755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E1F3F91D-612B-4D7F-A515-B2B458AC3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7595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E1F3F91D-612B-4D7F-A515-B2B458AC3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7595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5565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8B85962-9267-4810-830B-7A4A2DCD71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24776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8B85962-9267-4810-830B-7A4A2DCD71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24776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59418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77994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77994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2568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/>
              <p:nvPr/>
            </p:nvSpPr>
            <p:spPr>
              <a:xfrm>
                <a:off x="2796618" y="6336295"/>
                <a:ext cx="67876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Shortest path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with a path length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618" y="6336295"/>
                <a:ext cx="6787692" cy="369332"/>
              </a:xfrm>
              <a:prstGeom prst="rect">
                <a:avLst/>
              </a:prstGeom>
              <a:blipFill>
                <a:blip r:embed="rId4"/>
                <a:stretch>
                  <a:fillRect l="-809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52925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17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15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52925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17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15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1036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Visits all vertices in increasing order of distance and visits each vertex exactly once.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Dijkstra maintains a set of visited vertices (permanent) and unvisited vertices (temporary).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Claim</a:t>
                </a:r>
                <a:r>
                  <a:rPr lang="en-GB" dirty="0"/>
                  <a:t>: For a visited vertex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dirty="0"/>
                  <a:t> will be the optimal shortest path distance and corresponding predecessor vertex.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Meaning, we get all the shortest paths from the source to all visited vertices free!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 b="-1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404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sub-path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070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/>
              <p:nvPr/>
            </p:nvSpPr>
            <p:spPr>
              <a:xfrm>
                <a:off x="2947379" y="6336295"/>
                <a:ext cx="69887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For example the shortest path from vertex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of length 6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379" y="6336295"/>
                <a:ext cx="6988773" cy="369332"/>
              </a:xfrm>
              <a:prstGeom prst="rect">
                <a:avLst/>
              </a:prstGeom>
              <a:blipFill>
                <a:blip r:embed="rId4"/>
                <a:stretch>
                  <a:fillRect l="-697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AAC37DD-22C1-4936-9E08-C3E94FBD0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31070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AAC37DD-22C1-4936-9E08-C3E94FBD0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31070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1336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Proof and 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Dijkstra’s Algorithm has a worst-case time complexity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with a simple array (scan every vertex for the minimum)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|)</m:t>
                        </m:r>
                      </m:e>
                    </m:func>
                  </m:oMath>
                </a14:m>
                <a:r>
                  <a:rPr lang="en-GB" dirty="0"/>
                  <a:t> with an adjacency list and a binary heap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are interested you can find all the proofs about the correctness and time complexities of Dijkstra’s and the other algorithms in: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 err="1">
                    <a:solidFill>
                      <a:srgbClr val="333333"/>
                    </a:solidFill>
                    <a:effectLst/>
                  </a:rPr>
                  <a:t>Cormen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, T. H., </a:t>
                </a:r>
                <a:r>
                  <a:rPr lang="en-GB" b="0" i="0" dirty="0" err="1">
                    <a:solidFill>
                      <a:srgbClr val="333333"/>
                    </a:solidFill>
                    <a:effectLst/>
                  </a:rPr>
                  <a:t>Leiserson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, C. E., </a:t>
                </a:r>
                <a:r>
                  <a:rPr lang="en-GB" b="0" i="0" dirty="0" err="1">
                    <a:solidFill>
                      <a:srgbClr val="333333"/>
                    </a:solidFill>
                    <a:effectLst/>
                  </a:rPr>
                  <a:t>Rivest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, R. L., Stein, C. (2001). </a:t>
                </a:r>
                <a:r>
                  <a:rPr lang="en-GB" b="0" i="1" dirty="0">
                    <a:solidFill>
                      <a:srgbClr val="333333"/>
                    </a:solidFill>
                    <a:effectLst/>
                  </a:rPr>
                  <a:t>Introduction to Algorithms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. The MIT Press. ISBN: 0262032937</a:t>
                </a:r>
              </a:p>
              <a:p>
                <a:pPr marL="0" indent="0">
                  <a:buNone/>
                </a:pPr>
                <a:r>
                  <a:rPr lang="en-GB" dirty="0"/>
                  <a:t>Or check out MIT 6.006 Lecture 16 (Dijkstra) in this week’s 6 Further Reading folder.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they are somewhat complicated if you haven’t seen this type of argument before.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928" t="-29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505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06696-2713-49DE-93CC-76D452D9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30 seconds….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DE3DED-A1F9-4117-8BDB-03480652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You have 30 seconds to find Wally.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Raise your hand if you find him and I will pause to check.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100" name="Picture 4" descr="Image result for Wheres wally">
            <a:extLst>
              <a:ext uri="{FF2B5EF4-FFF2-40B4-BE49-F238E27FC236}">
                <a16:creationId xmlns:a16="http://schemas.microsoft.com/office/drawing/2014/main" id="{EBF11DB9-7459-42B1-B2C8-509FCB8DE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342" y="136244"/>
            <a:ext cx="1756465" cy="308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363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4086B5-E63A-4E8B-A1E7-3E7D97888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0"/>
            <a:ext cx="10987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164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06696-2713-49DE-93CC-76D452D9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Checking Answer….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DE3DED-A1F9-4117-8BDB-03480652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Please be patient, there is some high-tech stuff going on right now…</a:t>
            </a:r>
          </a:p>
        </p:txBody>
      </p:sp>
    </p:spTree>
    <p:extLst>
      <p:ext uri="{BB962C8B-B14F-4D97-AF65-F5344CB8AC3E}">
        <p14:creationId xmlns:p14="http://schemas.microsoft.com/office/powerpoint/2010/main" val="1371829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4086B5-E63A-4E8B-A1E7-3E7D97888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02486" y="-2324149"/>
            <a:ext cx="23328085" cy="145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163C97-BB0D-4AE7-97F5-718C42DBBF4F}"/>
              </a:ext>
            </a:extLst>
          </p:cNvPr>
          <p:cNvSpPr/>
          <p:nvPr/>
        </p:nvSpPr>
        <p:spPr>
          <a:xfrm>
            <a:off x="5146537" y="2377261"/>
            <a:ext cx="1242688" cy="17317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464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Minimum Spanning Tree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</a:t>
            </a:r>
          </a:p>
          <a:p>
            <a:pPr marL="0" indent="0">
              <a:buNone/>
            </a:pPr>
            <a:r>
              <a:rPr lang="en-GB" dirty="0"/>
              <a:t>A subset of weighted edges that connects all the vertices of a connected, weighted, undirected graph together without any cycles and has the minimum total edge weight.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EF5F95-0FC7-4087-A905-13A1D4C7C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184" y="3443017"/>
            <a:ext cx="28575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557AFB-0745-4C37-B92B-DC6A937BAC94}"/>
              </a:ext>
            </a:extLst>
          </p:cNvPr>
          <p:cNvSpPr txBox="1"/>
          <p:nvPr/>
        </p:nvSpPr>
        <p:spPr>
          <a:xfrm>
            <a:off x="1878151" y="5837511"/>
            <a:ext cx="247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Minimum Spanning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220FB-11CD-D083-C195-6AA48296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491" y="3597747"/>
            <a:ext cx="4302760" cy="242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5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Application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 fibre optics company is looking to expand its portfolio by providing broadband to an entirely new set of areas. Currently it has cable laid to a particular location.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cable is extremely expensive and particularly difficult to lay in certain areas, therefore the company wishes to minimise the cost of laying the cable, whilst connecting all areas.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company can lay cable between certain areas and has approximated the cost. Compute the minimum cost of connecting all the areas.</a:t>
            </a:r>
          </a:p>
        </p:txBody>
      </p:sp>
    </p:spTree>
    <p:extLst>
      <p:ext uri="{BB962C8B-B14F-4D97-AF65-F5344CB8AC3E}">
        <p14:creationId xmlns:p14="http://schemas.microsoft.com/office/powerpoint/2010/main" val="1338509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GB" dirty="0"/>
                  <a:t>Initialise distances to vertices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/>
                  <a:t> and predecessors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GB" dirty="0"/>
              </a:p>
              <a:p>
                <a:pPr marL="514350" indent="-514350">
                  <a:buAutoNum type="arabicPeriod"/>
                </a:pPr>
                <a:r>
                  <a:rPr lang="en-GB" dirty="0"/>
                  <a:t>Arbitrarily select a vertex and label as selected</a:t>
                </a:r>
              </a:p>
              <a:p>
                <a:pPr marL="514350" indent="-514350">
                  <a:buAutoNum type="arabicPeriod"/>
                </a:pPr>
                <a:r>
                  <a:rPr lang="en-GB" dirty="0"/>
                  <a:t>Update distances and predecessors to adjacent unselected vertices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r>
                  <a:rPr lang="en-GB" dirty="0"/>
                  <a:t>Select the reachable vertex with minimum distance 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r>
                  <a:rPr lang="en-GB" dirty="0"/>
                  <a:t>Repeat 3 and 4 until all vertices have been selected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305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03445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03445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4487156-67A0-49A1-BEC8-791E3FD008CA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28073" y="1664533"/>
            <a:ext cx="619120" cy="6579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C2424BA3-6727-4F69-A48E-A16270B9F1EC}"/>
              </a:ext>
            </a:extLst>
          </p:cNvPr>
          <p:cNvSpPr txBox="1"/>
          <p:nvPr/>
        </p:nvSpPr>
        <p:spPr>
          <a:xfrm>
            <a:off x="126135" y="1203917"/>
            <a:ext cx="147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Existing Cable</a:t>
            </a:r>
          </a:p>
        </p:txBody>
      </p:sp>
    </p:spTree>
    <p:extLst>
      <p:ext uri="{BB962C8B-B14F-4D97-AF65-F5344CB8AC3E}">
        <p14:creationId xmlns:p14="http://schemas.microsoft.com/office/powerpoint/2010/main" val="2157220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08143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08143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28C00F72-2BC5-4181-BD06-D4C9E43791D7}"/>
              </a:ext>
            </a:extLst>
          </p:cNvPr>
          <p:cNvSpPr txBox="1"/>
          <p:nvPr/>
        </p:nvSpPr>
        <p:spPr>
          <a:xfrm>
            <a:off x="1387441" y="5634182"/>
            <a:ext cx="4612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Arbitrarily select a vertex and mark as selected (here D; any start vertex gives the same total weight).</a:t>
            </a:r>
          </a:p>
        </p:txBody>
      </p:sp>
    </p:spTree>
    <p:extLst>
      <p:ext uri="{BB962C8B-B14F-4D97-AF65-F5344CB8AC3E}">
        <p14:creationId xmlns:p14="http://schemas.microsoft.com/office/powerpoint/2010/main" val="3077550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99476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99476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B66BC4FB-BC48-46BE-939D-1C058EDAF93D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31263044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46426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46426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090D201A-F199-4A89-ADBE-ECD1278B2A5D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2268040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492179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492179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746DC0D-DA9B-4F58-B26D-8F2B79E73C60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30465316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92223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92223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C444B077-0963-48F2-9379-CDC6DAEC9D79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4027703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55282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55282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119FDE5E-6E13-442D-83C5-C1278BAD1CEF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7422231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507822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507822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50F4E4A0-B287-42A7-8C73-0FE17BA82ADB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983104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48447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noStrike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48447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FE6C754A-652A-47EB-A0FB-8F9E63E72172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35940358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14591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14591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1AAC00CA-77F1-4250-959C-2AB8BCB8D63B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982791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50172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50172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82B2787-30EE-4D04-BFBD-43C3002E35AA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725114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069994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069994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EAD83BAE-118A-4615-8E6B-32FD9DA34764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3672310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79434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79434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6501654-7D61-47F0-A5F3-B670A9CB9C62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40915690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87205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87205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CE719808-7F29-4A80-B560-17A633C84E02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2160050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22257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22257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8119AEB-1FBC-4FC0-A7DD-8BDDA0E630DD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21719020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90974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90974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15BB547-D16B-4EDA-A774-8923BFDAC476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3671164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47527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47527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C6776A6-97D4-4382-83DE-1AD782E14EEC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6962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All vertices added and we have the minimum spanning tree.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=21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C6776A6-97D4-4382-83DE-1AD782E1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6962162" cy="369332"/>
              </a:xfrm>
              <a:prstGeom prst="rect">
                <a:avLst/>
              </a:prstGeom>
              <a:blipFill>
                <a:blip r:embed="rId3"/>
                <a:stretch>
                  <a:fillRect l="-788" t="-119672" b="-1836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2081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Algorithm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dirty="0"/>
              <a:t>Order the edges by weightings, lowest to highest</a:t>
            </a:r>
          </a:p>
          <a:p>
            <a:pPr marL="514350" indent="-514350">
              <a:buAutoNum type="arabicPeriod"/>
            </a:pPr>
            <a:r>
              <a:rPr lang="en-GB" dirty="0"/>
              <a:t>Select the lowest-weight edge not yet considered; if it does not form a cycle, label it as selected</a:t>
            </a:r>
          </a:p>
          <a:p>
            <a:pPr marL="514350" indent="-514350">
              <a:buAutoNum type="arabicPeriod"/>
            </a:pPr>
            <a:r>
              <a:rPr lang="en-GB" dirty="0"/>
              <a:t>Repeat step 2 until |</a:t>
            </a:r>
            <a:r>
              <a:rPr lang="en-GB" i="1" dirty="0"/>
              <a:t>V</a:t>
            </a:r>
            <a:r>
              <a:rPr lang="en-GB" dirty="0"/>
              <a:t>| − 1 edges have been selected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558B0E-ADC8-4FA9-8C56-3C19EA4255A3}"/>
              </a:ext>
            </a:extLst>
          </p:cNvPr>
          <p:cNvGrpSpPr/>
          <p:nvPr/>
        </p:nvGrpSpPr>
        <p:grpSpPr>
          <a:xfrm>
            <a:off x="3548750" y="3995844"/>
            <a:ext cx="4182086" cy="2311282"/>
            <a:chOff x="1082641" y="2102389"/>
            <a:chExt cx="4754376" cy="2627565"/>
          </a:xfrm>
        </p:grpSpPr>
        <p:sp>
          <p:nvSpPr>
            <p:cNvPr id="4" name="Text Box 133">
              <a:extLst>
                <a:ext uri="{FF2B5EF4-FFF2-40B4-BE49-F238E27FC236}">
                  <a16:creationId xmlns:a16="http://schemas.microsoft.com/office/drawing/2014/main" id="{8F5F41A7-C9D6-487A-9547-45F78E558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641" y="3254350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5</a:t>
              </a:r>
            </a:p>
          </p:txBody>
        </p:sp>
        <p:sp>
          <p:nvSpPr>
            <p:cNvPr id="5" name="Text Box 135">
              <a:extLst>
                <a:ext uri="{FF2B5EF4-FFF2-40B4-BE49-F238E27FC236}">
                  <a16:creationId xmlns:a16="http://schemas.microsoft.com/office/drawing/2014/main" id="{EC0D413B-DA8E-4768-B3DC-A2C04C0D1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0842" y="3726501"/>
              <a:ext cx="479425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1</a:t>
              </a:r>
            </a:p>
          </p:txBody>
        </p:sp>
        <p:sp>
          <p:nvSpPr>
            <p:cNvPr id="6" name="Oval 146">
              <a:extLst>
                <a:ext uri="{FF2B5EF4-FFF2-40B4-BE49-F238E27FC236}">
                  <a16:creationId xmlns:a16="http://schemas.microsoft.com/office/drawing/2014/main" id="{24366F63-2D0F-4DE6-B6D7-92AB7C8A3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0238" y="2255478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A</a:t>
              </a:r>
            </a:p>
          </p:txBody>
        </p:sp>
        <p:sp>
          <p:nvSpPr>
            <p:cNvPr id="7" name="Oval 147">
              <a:extLst>
                <a:ext uri="{FF2B5EF4-FFF2-40B4-BE49-F238E27FC236}">
                  <a16:creationId xmlns:a16="http://schemas.microsoft.com/office/drawing/2014/main" id="{42916092-6579-458A-A91E-9B433CADB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0238" y="4139767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H</a:t>
              </a:r>
            </a:p>
          </p:txBody>
        </p:sp>
        <p:sp>
          <p:nvSpPr>
            <p:cNvPr id="8" name="Oval 148">
              <a:extLst>
                <a:ext uri="{FF2B5EF4-FFF2-40B4-BE49-F238E27FC236}">
                  <a16:creationId xmlns:a16="http://schemas.microsoft.com/office/drawing/2014/main" id="{C08744C4-AD35-4E32-80A4-A3E4DA6F5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129" y="3197622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B</a:t>
              </a:r>
            </a:p>
          </p:txBody>
        </p:sp>
        <p:sp>
          <p:nvSpPr>
            <p:cNvPr id="9" name="Oval 149">
              <a:extLst>
                <a:ext uri="{FF2B5EF4-FFF2-40B4-BE49-F238E27FC236}">
                  <a16:creationId xmlns:a16="http://schemas.microsoft.com/office/drawing/2014/main" id="{B84E0638-8279-4A8E-A0B2-9EBC850D9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129" y="2255557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F</a:t>
              </a:r>
            </a:p>
          </p:txBody>
        </p:sp>
        <p:sp>
          <p:nvSpPr>
            <p:cNvPr id="10" name="Oval 150">
              <a:extLst>
                <a:ext uri="{FF2B5EF4-FFF2-40B4-BE49-F238E27FC236}">
                  <a16:creationId xmlns:a16="http://schemas.microsoft.com/office/drawing/2014/main" id="{39D45D24-6AEC-481F-8395-AEC36F7D4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399" y="4132592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E</a:t>
              </a:r>
            </a:p>
          </p:txBody>
        </p:sp>
        <p:sp>
          <p:nvSpPr>
            <p:cNvPr id="11" name="Oval 151">
              <a:extLst>
                <a:ext uri="{FF2B5EF4-FFF2-40B4-BE49-F238E27FC236}">
                  <a16:creationId xmlns:a16="http://schemas.microsoft.com/office/drawing/2014/main" id="{16B91D3F-89E6-4F9C-BD8A-D8BCB5E59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558" y="3199547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D</a:t>
              </a:r>
            </a:p>
          </p:txBody>
        </p:sp>
        <p:sp>
          <p:nvSpPr>
            <p:cNvPr id="12" name="Oval 152">
              <a:extLst>
                <a:ext uri="{FF2B5EF4-FFF2-40B4-BE49-F238E27FC236}">
                  <a16:creationId xmlns:a16="http://schemas.microsoft.com/office/drawing/2014/main" id="{E9F322E7-10D4-4144-80A4-75F0A1B60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057" y="2255478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C</a:t>
              </a:r>
            </a:p>
          </p:txBody>
        </p:sp>
        <p:sp>
          <p:nvSpPr>
            <p:cNvPr id="13" name="Oval 153">
              <a:extLst>
                <a:ext uri="{FF2B5EF4-FFF2-40B4-BE49-F238E27FC236}">
                  <a16:creationId xmlns:a16="http://schemas.microsoft.com/office/drawing/2014/main" id="{FA1EADA6-AF91-4BEB-B95C-BA262F3FB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129" y="4125417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G</a:t>
              </a:r>
            </a:p>
          </p:txBody>
        </p:sp>
        <p:sp>
          <p:nvSpPr>
            <p:cNvPr id="14" name="Text Box 157">
              <a:extLst>
                <a:ext uri="{FF2B5EF4-FFF2-40B4-BE49-F238E27FC236}">
                  <a16:creationId xmlns:a16="http://schemas.microsoft.com/office/drawing/2014/main" id="{20566D64-BA60-4492-AE91-C59F89F73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7374" y="4380060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3</a:t>
              </a:r>
            </a:p>
          </p:txBody>
        </p:sp>
        <p:sp>
          <p:nvSpPr>
            <p:cNvPr id="15" name="Text Box 158">
              <a:extLst>
                <a:ext uri="{FF2B5EF4-FFF2-40B4-BE49-F238E27FC236}">
                  <a16:creationId xmlns:a16="http://schemas.microsoft.com/office/drawing/2014/main" id="{7C327CD8-E369-4EC9-839B-A5467FA78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108" y="3791170"/>
              <a:ext cx="4572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2</a:t>
              </a:r>
            </a:p>
          </p:txBody>
        </p:sp>
        <p:sp>
          <p:nvSpPr>
            <p:cNvPr id="16" name="Text Box 159">
              <a:extLst>
                <a:ext uri="{FF2B5EF4-FFF2-40B4-BE49-F238E27FC236}">
                  <a16:creationId xmlns:a16="http://schemas.microsoft.com/office/drawing/2014/main" id="{1C4B60B0-1441-41F5-94E0-40CE72C78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6811" y="3408404"/>
              <a:ext cx="479425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17" name="Text Box 160">
              <a:extLst>
                <a:ext uri="{FF2B5EF4-FFF2-40B4-BE49-F238E27FC236}">
                  <a16:creationId xmlns:a16="http://schemas.microsoft.com/office/drawing/2014/main" id="{2FED5D24-B8B1-4A9F-AE60-2C7E25A40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1488" y="2805522"/>
              <a:ext cx="468312" cy="5948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6	</a:t>
              </a:r>
            </a:p>
          </p:txBody>
        </p:sp>
        <p:sp>
          <p:nvSpPr>
            <p:cNvPr id="18" name="Text Box 161">
              <a:extLst>
                <a:ext uri="{FF2B5EF4-FFF2-40B4-BE49-F238E27FC236}">
                  <a16:creationId xmlns:a16="http://schemas.microsoft.com/office/drawing/2014/main" id="{E51434CC-81AD-4DBD-B74E-37B3AE7F2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2217" y="2768602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3</a:t>
              </a:r>
            </a:p>
          </p:txBody>
        </p:sp>
        <p:sp>
          <p:nvSpPr>
            <p:cNvPr id="19" name="Text Box 162">
              <a:extLst>
                <a:ext uri="{FF2B5EF4-FFF2-40B4-BE49-F238E27FC236}">
                  <a16:creationId xmlns:a16="http://schemas.microsoft.com/office/drawing/2014/main" id="{405C0A57-48B8-46EB-82EB-CD3AFD22D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7504" y="3061386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20" name="Text Box 163">
              <a:extLst>
                <a:ext uri="{FF2B5EF4-FFF2-40B4-BE49-F238E27FC236}">
                  <a16:creationId xmlns:a16="http://schemas.microsoft.com/office/drawing/2014/main" id="{735F150F-620E-4929-8A2F-2BDCB4DC5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776" y="2102389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3</a:t>
              </a:r>
            </a:p>
          </p:txBody>
        </p:sp>
        <p:sp>
          <p:nvSpPr>
            <p:cNvPr id="21" name="Text Box 164">
              <a:extLst>
                <a:ext uri="{FF2B5EF4-FFF2-40B4-BE49-F238E27FC236}">
                  <a16:creationId xmlns:a16="http://schemas.microsoft.com/office/drawing/2014/main" id="{3F4C1119-E1D9-45D8-9B34-6A12ED2C2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211" y="2751970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22" name="Text Box 165">
              <a:extLst>
                <a:ext uri="{FF2B5EF4-FFF2-40B4-BE49-F238E27FC236}">
                  <a16:creationId xmlns:a16="http://schemas.microsoft.com/office/drawing/2014/main" id="{F059A5F7-4848-40C4-925B-FD225F32B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3960" y="2613888"/>
              <a:ext cx="22488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8</a:t>
              </a:r>
            </a:p>
          </p:txBody>
        </p:sp>
        <p:sp>
          <p:nvSpPr>
            <p:cNvPr id="23" name="Text Box 166">
              <a:extLst>
                <a:ext uri="{FF2B5EF4-FFF2-40B4-BE49-F238E27FC236}">
                  <a16:creationId xmlns:a16="http://schemas.microsoft.com/office/drawing/2014/main" id="{BC4023F8-A31A-4F93-BB14-F4E902379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1475" y="3527373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24" name="Text Box 167">
              <a:extLst>
                <a:ext uri="{FF2B5EF4-FFF2-40B4-BE49-F238E27FC236}">
                  <a16:creationId xmlns:a16="http://schemas.microsoft.com/office/drawing/2014/main" id="{12A8793A-E20E-47E3-96D8-14C034D81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854" y="4365565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>
                  <a:latin typeface="+mn-lt"/>
                </a:rPr>
                <a:t>3</a:t>
              </a:r>
            </a:p>
          </p:txBody>
        </p:sp>
        <p:sp>
          <p:nvSpPr>
            <p:cNvPr id="25" name="Text Box 169">
              <a:extLst>
                <a:ext uri="{FF2B5EF4-FFF2-40B4-BE49-F238E27FC236}">
                  <a16:creationId xmlns:a16="http://schemas.microsoft.com/office/drawing/2014/main" id="{8FF4883F-81BF-4CDE-BA64-CACE96B6B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1918" y="2109822"/>
              <a:ext cx="479425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10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5FC497-AC70-4EB6-8C62-CD6CD10FE742}"/>
                </a:ext>
              </a:extLst>
            </p:cNvPr>
            <p:cNvCxnSpPr>
              <a:stCxn id="7" idx="0"/>
              <a:endCxn id="6" idx="4"/>
            </p:cNvCxnSpPr>
            <p:nvPr/>
          </p:nvCxnSpPr>
          <p:spPr>
            <a:xfrm flipV="1">
              <a:off x="1408838" y="2712678"/>
              <a:ext cx="0" cy="14270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0330726-296D-43F5-A4CF-826629605307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637438" y="2484078"/>
              <a:ext cx="1627691" cy="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60638AD-90ED-4A58-B6EE-E8421F0013E2}"/>
                </a:ext>
              </a:extLst>
            </p:cNvPr>
            <p:cNvCxnSpPr>
              <a:stCxn id="9" idx="6"/>
              <a:endCxn id="12" idx="2"/>
            </p:cNvCxnSpPr>
            <p:nvPr/>
          </p:nvCxnSpPr>
          <p:spPr>
            <a:xfrm flipV="1">
              <a:off x="3722329" y="2484078"/>
              <a:ext cx="1604728" cy="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71ACE6A-BD33-4112-8EAB-C41AF1460D6B}"/>
                </a:ext>
              </a:extLst>
            </p:cNvPr>
            <p:cNvCxnSpPr>
              <a:cxnSpLocks/>
              <a:stCxn id="12" idx="4"/>
              <a:endCxn id="11" idx="0"/>
            </p:cNvCxnSpPr>
            <p:nvPr/>
          </p:nvCxnSpPr>
          <p:spPr>
            <a:xfrm flipH="1">
              <a:off x="5554158" y="2712678"/>
              <a:ext cx="1499" cy="4868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EC67EE1-CC77-4B92-9A7B-E30D7E9C3833}"/>
                </a:ext>
              </a:extLst>
            </p:cNvPr>
            <p:cNvCxnSpPr>
              <a:stCxn id="12" idx="3"/>
              <a:endCxn id="8" idx="7"/>
            </p:cNvCxnSpPr>
            <p:nvPr/>
          </p:nvCxnSpPr>
          <p:spPr>
            <a:xfrm flipH="1">
              <a:off x="3655374" y="2645723"/>
              <a:ext cx="1738638" cy="618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31E1E1-75BD-4695-94C7-0DADE6F83CA3}"/>
                </a:ext>
              </a:extLst>
            </p:cNvPr>
            <p:cNvCxnSpPr>
              <a:stCxn id="9" idx="5"/>
              <a:endCxn id="11" idx="1"/>
            </p:cNvCxnSpPr>
            <p:nvPr/>
          </p:nvCxnSpPr>
          <p:spPr>
            <a:xfrm>
              <a:off x="3655374" y="2645802"/>
              <a:ext cx="1737139" cy="6207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E7BD3C-1E92-41F9-BAEF-C7FADE9B0131}"/>
                </a:ext>
              </a:extLst>
            </p:cNvPr>
            <p:cNvCxnSpPr>
              <a:stCxn id="9" idx="4"/>
              <a:endCxn id="8" idx="0"/>
            </p:cNvCxnSpPr>
            <p:nvPr/>
          </p:nvCxnSpPr>
          <p:spPr>
            <a:xfrm>
              <a:off x="3493729" y="2712757"/>
              <a:ext cx="0" cy="4848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4B2025-0821-4AE5-A516-F8CDEB726A0F}"/>
                </a:ext>
              </a:extLst>
            </p:cNvPr>
            <p:cNvCxnSpPr>
              <a:cxnSpLocks/>
              <a:stCxn id="8" idx="1"/>
              <a:endCxn id="6" idx="5"/>
            </p:cNvCxnSpPr>
            <p:nvPr/>
          </p:nvCxnSpPr>
          <p:spPr>
            <a:xfrm flipH="1" flipV="1">
              <a:off x="1570483" y="2645723"/>
              <a:ext cx="1761601" cy="618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B23BE7A-C120-4218-94F8-CF3A3A35DF5E}"/>
                </a:ext>
              </a:extLst>
            </p:cNvPr>
            <p:cNvCxnSpPr>
              <a:cxnSpLocks/>
              <a:stCxn id="8" idx="3"/>
              <a:endCxn id="7" idx="7"/>
            </p:cNvCxnSpPr>
            <p:nvPr/>
          </p:nvCxnSpPr>
          <p:spPr>
            <a:xfrm flipH="1">
              <a:off x="1570483" y="3587867"/>
              <a:ext cx="1761601" cy="61885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1DA69F9-9289-465B-AF50-E53231A513F3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1637438" y="4354017"/>
              <a:ext cx="1627691" cy="143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DDF7A81-E64D-47D5-A445-7EFD1E8DA665}"/>
                </a:ext>
              </a:extLst>
            </p:cNvPr>
            <p:cNvCxnSpPr>
              <a:cxnSpLocks/>
              <a:stCxn id="11" idx="3"/>
              <a:endCxn id="13" idx="7"/>
            </p:cNvCxnSpPr>
            <p:nvPr/>
          </p:nvCxnSpPr>
          <p:spPr>
            <a:xfrm flipH="1">
              <a:off x="3655374" y="3589792"/>
              <a:ext cx="1737139" cy="6025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92887C-1641-4196-AF97-50A361C4F871}"/>
                </a:ext>
              </a:extLst>
            </p:cNvPr>
            <p:cNvCxnSpPr>
              <a:stCxn id="8" idx="5"/>
              <a:endCxn id="10" idx="1"/>
            </p:cNvCxnSpPr>
            <p:nvPr/>
          </p:nvCxnSpPr>
          <p:spPr>
            <a:xfrm>
              <a:off x="3655374" y="3587867"/>
              <a:ext cx="1742980" cy="6116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E080F8B-862F-476B-8B41-0B4EA482768C}"/>
                </a:ext>
              </a:extLst>
            </p:cNvPr>
            <p:cNvCxnSpPr>
              <a:stCxn id="10" idx="2"/>
              <a:endCxn id="13" idx="6"/>
            </p:cNvCxnSpPr>
            <p:nvPr/>
          </p:nvCxnSpPr>
          <p:spPr>
            <a:xfrm flipH="1" flipV="1">
              <a:off x="3722329" y="4354017"/>
              <a:ext cx="1609070" cy="7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34C266C-C093-4656-BB18-C99849544C53}"/>
                </a:ext>
              </a:extLst>
            </p:cNvPr>
            <p:cNvCxnSpPr>
              <a:cxnSpLocks/>
              <a:stCxn id="11" idx="4"/>
              <a:endCxn id="10" idx="0"/>
            </p:cNvCxnSpPr>
            <p:nvPr/>
          </p:nvCxnSpPr>
          <p:spPr>
            <a:xfrm>
              <a:off x="5554158" y="3656747"/>
              <a:ext cx="5841" cy="4758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7D61B23-3EE6-4285-BABF-3B6C89078C43}"/>
              </a:ext>
            </a:extLst>
          </p:cNvPr>
          <p:cNvSpPr txBox="1"/>
          <p:nvPr/>
        </p:nvSpPr>
        <p:spPr>
          <a:xfrm>
            <a:off x="9039969" y="4623961"/>
            <a:ext cx="1438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is a cycle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0AD53A0-19F4-4011-9F14-7F54F1916CE7}"/>
              </a:ext>
            </a:extLst>
          </p:cNvPr>
          <p:cNvCxnSpPr/>
          <p:nvPr/>
        </p:nvCxnSpPr>
        <p:spPr>
          <a:xfrm flipH="1">
            <a:off x="7823977" y="4889641"/>
            <a:ext cx="1122851" cy="5627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69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352636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352636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8C9FB-4DB4-43E9-9874-5B1E174D5387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8C9FB-4DB4-43E9-9874-5B1E174D5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8765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2022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2022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896E77-93ED-4381-9DC4-180C62C6843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896E77-93ED-4381-9DC4-180C62C68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9041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526607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526607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D3EB4D-4C26-40CB-ACCF-537A605E9C11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D3EB4D-4C26-40CB-ACCF-537A605E9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900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53027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53027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EA47C0-45A6-49B3-B2DA-AE476936D5D2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EA47C0-45A6-49B3-B2DA-AE476936D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490AEC54-3A5B-4C59-A412-988A281255F3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</p:spTree>
    <p:extLst>
      <p:ext uri="{BB962C8B-B14F-4D97-AF65-F5344CB8AC3E}">
        <p14:creationId xmlns:p14="http://schemas.microsoft.com/office/powerpoint/2010/main" val="27908457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835721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835721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61EE64-A0CF-4B68-BE73-7851DE0DBB2B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61EE64-A0CF-4B68-BE73-7851DE0DB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8916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149036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149036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715C44-A4F0-4DC8-B347-27190FB14882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715C44-A4F0-4DC8-B347-27190FB14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1926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84155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84155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62EF7-5CDD-4057-88D4-1A118996CEA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62EF7-5CDD-4057-88D4-1A118996C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8576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65205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65205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84B7DF-F275-40AC-8885-910876CE6B56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84B7DF-F275-40AC-8885-910876CE6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1621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89887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89887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8BDC188-91C2-4087-889B-A32501FDABEB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57C53AA-FD1E-43ED-8567-CC1B5827817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57C53AA-FD1E-43ED-8567-CC1B58278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2724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93528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93528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3AE93193-9DBB-46CF-AD66-08027887B4EA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F194212-897D-46D8-85DD-95DC63555376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F194212-897D-46D8-85DD-95DC63555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27204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864088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864088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8814D68B-85E8-425A-BAA2-3A02CE7669A6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9B9AAE-A617-44EF-B1D1-5770A1BD81C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9B9AAE-A617-44EF-B1D1-5770A1BD8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407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42523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42523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245A7DD0-E408-4DCB-B85D-5A23E4233EBD}"/>
              </a:ext>
            </a:extLst>
          </p:cNvPr>
          <p:cNvSpPr/>
          <p:nvPr/>
        </p:nvSpPr>
        <p:spPr>
          <a:xfrm>
            <a:off x="2354296" y="4992316"/>
            <a:ext cx="293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|</a:t>
            </a:r>
            <a:r>
              <a:rPr lang="en-GB" i="1" dirty="0"/>
              <a:t>V</a:t>
            </a:r>
            <a:r>
              <a:rPr lang="en-GB" dirty="0"/>
              <a:t>| − 1 = 7 edges selected. Stop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0D5448-CD36-41A2-BA8D-F0DB9ABD6341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0D5448-CD36-41A2-BA8D-F0DB9ABD6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3880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70399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70399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F6F245-26B2-4693-BC66-8471CCCA23D3}"/>
                  </a:ext>
                </a:extLst>
              </p:cNvPr>
              <p:cNvSpPr txBox="1"/>
              <p:nvPr/>
            </p:nvSpPr>
            <p:spPr>
              <a:xfrm>
                <a:off x="860327" y="5577275"/>
                <a:ext cx="5724003" cy="1041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selected, 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be the edges in the MST,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=21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F6F245-26B2-4693-BC66-8471CCCA2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27" y="5577275"/>
                <a:ext cx="5724003" cy="1041504"/>
              </a:xfrm>
              <a:prstGeom prst="rect">
                <a:avLst/>
              </a:prstGeom>
              <a:blipFill>
                <a:blip r:embed="rId3"/>
                <a:stretch>
                  <a:fillRect t="-3509" r="-1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5405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References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0" i="0" dirty="0" err="1">
                <a:solidFill>
                  <a:srgbClr val="333333"/>
                </a:solidFill>
                <a:effectLst/>
              </a:rPr>
              <a:t>Cormen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T. H., </a:t>
            </a:r>
            <a:r>
              <a:rPr lang="en-GB" b="0" i="0" dirty="0" err="1">
                <a:solidFill>
                  <a:srgbClr val="333333"/>
                </a:solidFill>
                <a:effectLst/>
              </a:rPr>
              <a:t>Leiserson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C. E., </a:t>
            </a:r>
            <a:r>
              <a:rPr lang="en-GB" b="0" i="0" dirty="0" err="1">
                <a:solidFill>
                  <a:srgbClr val="333333"/>
                </a:solidFill>
                <a:effectLst/>
              </a:rPr>
              <a:t>Rivest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R. L., Stein, C. (2001). </a:t>
            </a:r>
            <a:r>
              <a:rPr lang="en-GB" b="0" i="1" dirty="0">
                <a:solidFill>
                  <a:srgbClr val="333333"/>
                </a:solidFill>
                <a:effectLst/>
              </a:rPr>
              <a:t>Introduction to Algorithms</a:t>
            </a:r>
            <a:r>
              <a:rPr lang="en-GB" b="0" i="0" dirty="0">
                <a:solidFill>
                  <a:srgbClr val="333333"/>
                </a:solidFill>
                <a:effectLst/>
              </a:rPr>
              <a:t>. The MIT Press. ISBN: 0262032937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ea typeface="Times New Roman" panose="02020603050405020304" pitchFamily="18" charset="0"/>
              </a:rPr>
              <a:t>Taha, </a:t>
            </a:r>
            <a:r>
              <a:rPr lang="en-GB" dirty="0" err="1">
                <a:ea typeface="Times New Roman" panose="02020603050405020304" pitchFamily="18" charset="0"/>
              </a:rPr>
              <a:t>H. A.</a:t>
            </a:r>
            <a:r>
              <a:rPr lang="en-GB" dirty="0">
                <a:ea typeface="Times New Roman" panose="02020603050405020304" pitchFamily="18" charset="0"/>
              </a:rPr>
              <a:t> (2017). Operations Research: An Introduction (10th ed.). Pearson.</a:t>
            </a:r>
          </a:p>
        </p:txBody>
      </p:sp>
    </p:spTree>
    <p:extLst>
      <p:ext uri="{BB962C8B-B14F-4D97-AF65-F5344CB8AC3E}">
        <p14:creationId xmlns:p14="http://schemas.microsoft.com/office/powerpoint/2010/main" val="303614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068F23-3690-47B7-A665-381B43F4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587AB4-D8C9-43A3-B80F-6729B49465FB}">
  <ds:schemaRefs>
    <ds:schemaRef ds:uri="http://schemas.openxmlformats.org/package/2006/metadata/core-properties"/>
    <ds:schemaRef ds:uri="http://purl.org/dc/terms/"/>
    <ds:schemaRef ds:uri="http://purl.org/dc/dcmitype/"/>
    <ds:schemaRef ds:uri="606370cc-c8d9-4222-8a4e-3c320f1e303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5411</Words>
  <Application>Microsoft Office PowerPoint</Application>
  <PresentationFormat>Widescreen</PresentationFormat>
  <Paragraphs>3138</Paragraphs>
  <Slides>70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Times New Roman</vt:lpstr>
      <vt:lpstr>Calibri</vt:lpstr>
      <vt:lpstr>Arial</vt:lpstr>
      <vt:lpstr>Calibri Light</vt:lpstr>
      <vt:lpstr>Cambria Math</vt:lpstr>
      <vt:lpstr>Office Theme</vt:lpstr>
      <vt:lpstr>Networks Shortest Paths and Minimum Spanning Tree (MST) </vt:lpstr>
      <vt:lpstr>Network</vt:lpstr>
      <vt:lpstr>Network</vt:lpstr>
      <vt:lpstr>Adjacency Matrix</vt:lpstr>
      <vt:lpstr>Shortest Path Problem</vt:lpstr>
      <vt:lpstr>Blue Peter Example</vt:lpstr>
      <vt:lpstr>Dijkstra’s Algorithm</vt:lpstr>
      <vt:lpstr>Set Up</vt:lpstr>
      <vt:lpstr>Improving Cost Labels</vt:lpstr>
      <vt:lpstr>Dijkstra 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Correctness</vt:lpstr>
      <vt:lpstr>Shortest sub-path</vt:lpstr>
      <vt:lpstr>Proof and Time Complexity</vt:lpstr>
      <vt:lpstr>30 seconds….</vt:lpstr>
      <vt:lpstr>PowerPoint Presentation</vt:lpstr>
      <vt:lpstr>Checking Answer….</vt:lpstr>
      <vt:lpstr>PowerPoint Presentation</vt:lpstr>
      <vt:lpstr>Minimum Spanning Tree</vt:lpstr>
      <vt:lpstr>Example Application</vt:lpstr>
      <vt:lpstr>Prim’s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Kruskal’s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2 - Week 3 - Tutorial - Networks - Shortest Paths</dc:title>
  <dc:creator>Sam O'Neill</dc:creator>
  <cp:lastModifiedBy>Christos Tsallis</cp:lastModifiedBy>
  <cp:revision>3</cp:revision>
  <dcterms:created xsi:type="dcterms:W3CDTF">2019-10-08T20:55:29Z</dcterms:created>
  <dcterms:modified xsi:type="dcterms:W3CDTF">2026-10-17T12:05:17Z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