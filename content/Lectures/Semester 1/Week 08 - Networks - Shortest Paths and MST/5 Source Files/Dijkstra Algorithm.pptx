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556" r:id="rId6"/>
    <p:sldId id="559" r:id="rId7"/>
    <p:sldId id="560" r:id="rId8"/>
    <p:sldId id="561" r:id="rId9"/>
    <p:sldId id="562" r:id="rId10"/>
    <p:sldId id="563" r:id="rId11"/>
    <p:sldId id="585" r:id="rId12"/>
    <p:sldId id="584" r:id="rId13"/>
    <p:sldId id="565" r:id="rId14"/>
    <p:sldId id="567" r:id="rId15"/>
    <p:sldId id="568" r:id="rId16"/>
    <p:sldId id="571" r:id="rId17"/>
    <p:sldId id="572" r:id="rId18"/>
    <p:sldId id="573" r:id="rId19"/>
    <p:sldId id="574" r:id="rId20"/>
    <p:sldId id="575" r:id="rId21"/>
    <p:sldId id="576" r:id="rId22"/>
    <p:sldId id="577" r:id="rId23"/>
    <p:sldId id="570" r:id="rId24"/>
    <p:sldId id="569" r:id="rId25"/>
    <p:sldId id="583" r:id="rId26"/>
    <p:sldId id="587" r:id="rId27"/>
    <p:sldId id="588" r:id="rId28"/>
    <p:sldId id="589" r:id="rId29"/>
    <p:sldId id="590" r:id="rId30"/>
    <p:sldId id="591" r:id="rId31"/>
    <p:sldId id="592" r:id="rId32"/>
    <p:sldId id="593" r:id="rId33"/>
  </p:sldIdLst>
  <p:sldSz cx="9144000" cy="6858000" type="screen4x3"/>
  <p:notesSz cx="7315200" cy="9601200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66FF66"/>
    <a:srgbClr val="004F8A"/>
    <a:srgbClr val="005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A784F-92EB-49AC-BC41-6456DA982C1E}" v="9" dt="2020-02-13T12:23:06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1520" autoAdjust="0"/>
  </p:normalViewPr>
  <p:slideViewPr>
    <p:cSldViewPr>
      <p:cViewPr varScale="1">
        <p:scale>
          <a:sx n="100" d="100"/>
          <a:sy n="100" d="100"/>
        </p:scale>
        <p:origin x="191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D0B0482-6565-41F2-BD9A-65C8E3474307}"/>
    <pc:docChg chg="custSel modMainMaster">
      <pc:chgData name="Sam O'Neill" userId="cb323814-a42a-4cfe-bc74-03f595e56f6e" providerId="ADAL" clId="{DD0B0482-6565-41F2-BD9A-65C8E3474307}" dt="2020-02-13T12:23:06.061" v="30"/>
      <pc:docMkLst>
        <pc:docMk/>
      </pc:docMkLst>
      <pc:sldMasterChg chg="addSp modSp mod">
        <pc:chgData name="Sam O'Neill" userId="cb323814-a42a-4cfe-bc74-03f595e56f6e" providerId="ADAL" clId="{DD0B0482-6565-41F2-BD9A-65C8E3474307}" dt="2020-02-13T12:23:06.061" v="30"/>
        <pc:sldMasterMkLst>
          <pc:docMk/>
          <pc:sldMasterMk cId="0" sldId="2147483648"/>
        </pc:sldMasterMkLst>
        <pc:spChg chg="add mod ord modVis">
          <ac:chgData name="Sam O'Neill" userId="cb323814-a42a-4cfe-bc74-03f595e56f6e" providerId="ADAL" clId="{DD0B0482-6565-41F2-BD9A-65C8E3474307}" dt="2020-02-13T12:23:06.061" v="30"/>
          <ac:spMkLst>
            <pc:docMk/>
            <pc:sldMasterMk cId="0" sldId="2147483648"/>
            <ac:spMk id="2" creationId="{A8988268-8D1D-4FFC-ACAE-6A2DC836AD0A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821EAF27-9671-498B-9E62-43EF320D1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71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4F671A5A-708A-4079-9FAF-C7B1DCEB6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93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73C711-131F-43B4-AB39-60CC8F894F8D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A9970-D1AF-470E-BADA-7419BA7AF9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E46C7-AE18-4188-9CE6-BFD415C09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6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073EE-D1A6-4961-8799-690A0DE13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1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34D5E-8768-4DF7-A26F-E5296F090D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6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F0BCF-7D7C-4BB8-AE23-B147D60E5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C3D383-5D17-4FB6-8A70-02628D8AF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6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915C9-582D-4935-BE71-56EF356F02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ED7E4-6E97-4DFB-A5FE-6BAEBE0F0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9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D7B22-54C6-409C-BFF2-A25FB5834C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0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1ABBE-8B6A-42B9-9A29-6F6D64C11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3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366D5-9D4C-4344-A530-F848723F8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4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D4BF788-3CE3-4CD1-8DEF-E021C6689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A8988268-8D1D-4FFC-ACAE-6A2DC836AD0A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0" y="685800"/>
            <a:ext cx="9144000" cy="1905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Lecture 20.  </a:t>
            </a:r>
            <a:r>
              <a:rPr lang="en-US" sz="3600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Shortest Paths</a:t>
            </a:r>
          </a:p>
        </p:txBody>
      </p:sp>
      <p:sp>
        <p:nvSpPr>
          <p:cNvPr id="2063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5379534" y="5562600"/>
            <a:ext cx="3581400" cy="1115122"/>
          </a:xfrm>
          <a:noFill/>
        </p:spPr>
        <p:txBody>
          <a:bodyPr/>
          <a:lstStyle/>
          <a:p>
            <a:pPr algn="r" eaLnBrk="1" hangingPunct="1"/>
            <a:r>
              <a:rPr lang="en-US" sz="2400" b="1" dirty="0"/>
              <a:t>School of Computing</a:t>
            </a:r>
          </a:p>
          <a:p>
            <a:pPr algn="r" eaLnBrk="1" hangingPunct="1"/>
            <a:r>
              <a:rPr lang="en-US" sz="2400" b="1" dirty="0"/>
              <a:t>Clemson University</a:t>
            </a:r>
          </a:p>
          <a:p>
            <a:pPr algn="r" eaLnBrk="1" hangingPunct="1"/>
            <a:r>
              <a:rPr lang="en-US" sz="2400" b="1" dirty="0"/>
              <a:t>Fall, 2012</a:t>
            </a:r>
          </a:p>
        </p:txBody>
      </p:sp>
      <p:sp>
        <p:nvSpPr>
          <p:cNvPr id="29" name="Rectangle 34"/>
          <p:cNvSpPr txBox="1">
            <a:spLocks noChangeArrowheads="1"/>
          </p:cNvSpPr>
          <p:nvPr/>
        </p:nvSpPr>
        <p:spPr bwMode="auto">
          <a:xfrm>
            <a:off x="0" y="3124200"/>
            <a:ext cx="9144000" cy="202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sz="2800" b="1" dirty="0"/>
              <a:t>CpSc 212: Algorithms and Data Structures</a:t>
            </a:r>
          </a:p>
          <a:p>
            <a:pPr eaLnBrk="1" hangingPunct="1"/>
            <a:r>
              <a:rPr lang="en-US" sz="2800" b="1" dirty="0"/>
              <a:t>Brian C. Dean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8990671" y="5638800"/>
            <a:ext cx="76200" cy="11783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600" b="1" kern="0" dirty="0">
              <a:solidFill>
                <a:srgbClr val="002060"/>
              </a:solidFill>
              <a:latin typeface="Arial"/>
              <a:ea typeface="+mj-ea"/>
              <a:cs typeface="+mj-cs"/>
            </a:endParaRPr>
          </a:p>
        </p:txBody>
      </p:sp>
      <p:grpSp>
        <p:nvGrpSpPr>
          <p:cNvPr id="34" name="Group 68"/>
          <p:cNvGrpSpPr>
            <a:grpSpLocks/>
          </p:cNvGrpSpPr>
          <p:nvPr/>
        </p:nvGrpSpPr>
        <p:grpSpPr bwMode="auto">
          <a:xfrm>
            <a:off x="130498" y="5568302"/>
            <a:ext cx="3069902" cy="1148989"/>
            <a:chOff x="307975" y="4773613"/>
            <a:chExt cx="4379913" cy="1687512"/>
          </a:xfrm>
          <a:solidFill>
            <a:srgbClr val="0070C0"/>
          </a:solidFill>
        </p:grpSpPr>
        <p:sp>
          <p:nvSpPr>
            <p:cNvPr id="35" name="Line 147"/>
            <p:cNvSpPr>
              <a:spLocks noChangeShapeType="1"/>
            </p:cNvSpPr>
            <p:nvPr/>
          </p:nvSpPr>
          <p:spPr bwMode="auto">
            <a:xfrm flipV="1">
              <a:off x="1884363" y="4849813"/>
              <a:ext cx="149860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48"/>
            <p:cNvSpPr>
              <a:spLocks noChangeShapeType="1"/>
            </p:cNvSpPr>
            <p:nvPr/>
          </p:nvSpPr>
          <p:spPr bwMode="auto">
            <a:xfrm flipV="1">
              <a:off x="3074988" y="4849813"/>
              <a:ext cx="3079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49"/>
            <p:cNvSpPr>
              <a:spLocks noChangeShapeType="1"/>
            </p:cNvSpPr>
            <p:nvPr/>
          </p:nvSpPr>
          <p:spPr bwMode="auto">
            <a:xfrm>
              <a:off x="3382963" y="4849813"/>
              <a:ext cx="4603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50"/>
            <p:cNvSpPr>
              <a:spLocks noChangeShapeType="1"/>
            </p:cNvSpPr>
            <p:nvPr/>
          </p:nvSpPr>
          <p:spPr bwMode="auto">
            <a:xfrm>
              <a:off x="3382963" y="4849813"/>
              <a:ext cx="88265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51"/>
            <p:cNvSpPr>
              <a:spLocks noChangeShapeType="1"/>
            </p:cNvSpPr>
            <p:nvPr/>
          </p:nvSpPr>
          <p:spPr bwMode="auto">
            <a:xfrm>
              <a:off x="3382963" y="4849813"/>
              <a:ext cx="122872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28"/>
            <p:cNvSpPr>
              <a:spLocks noChangeShapeType="1"/>
            </p:cNvSpPr>
            <p:nvPr/>
          </p:nvSpPr>
          <p:spPr bwMode="auto">
            <a:xfrm>
              <a:off x="923925" y="5578475"/>
              <a:ext cx="3063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27"/>
            <p:cNvSpPr>
              <a:spLocks noChangeShapeType="1"/>
            </p:cNvSpPr>
            <p:nvPr/>
          </p:nvSpPr>
          <p:spPr bwMode="auto">
            <a:xfrm>
              <a:off x="923925" y="5578475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26"/>
            <p:cNvSpPr>
              <a:spLocks noChangeShapeType="1"/>
            </p:cNvSpPr>
            <p:nvPr/>
          </p:nvSpPr>
          <p:spPr bwMode="auto">
            <a:xfrm flipV="1">
              <a:off x="539750" y="5578475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 flipV="1">
              <a:off x="3689350" y="5310188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7"/>
            <p:cNvSpPr>
              <a:spLocks noChangeShapeType="1"/>
            </p:cNvSpPr>
            <p:nvPr/>
          </p:nvSpPr>
          <p:spPr bwMode="auto">
            <a:xfrm>
              <a:off x="4265613" y="53117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>
              <a:off x="3843338" y="5310188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3689350" y="55784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95"/>
            <p:cNvSpPr>
              <a:spLocks noChangeShapeType="1"/>
            </p:cNvSpPr>
            <p:nvPr/>
          </p:nvSpPr>
          <p:spPr bwMode="auto">
            <a:xfrm flipV="1">
              <a:off x="2535238" y="5580063"/>
              <a:ext cx="1539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96"/>
            <p:cNvSpPr>
              <a:spLocks noChangeShapeType="1"/>
            </p:cNvSpPr>
            <p:nvPr/>
          </p:nvSpPr>
          <p:spPr bwMode="auto">
            <a:xfrm>
              <a:off x="3073400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97"/>
            <p:cNvSpPr>
              <a:spLocks noChangeShapeType="1"/>
            </p:cNvSpPr>
            <p:nvPr/>
          </p:nvSpPr>
          <p:spPr bwMode="auto">
            <a:xfrm>
              <a:off x="2689225" y="5580063"/>
              <a:ext cx="1158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98"/>
            <p:cNvSpPr>
              <a:spLocks noChangeShapeType="1"/>
            </p:cNvSpPr>
            <p:nvPr/>
          </p:nvSpPr>
          <p:spPr bwMode="auto">
            <a:xfrm>
              <a:off x="25352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00"/>
            <p:cNvSpPr>
              <a:spLocks noChangeShapeType="1"/>
            </p:cNvSpPr>
            <p:nvPr/>
          </p:nvSpPr>
          <p:spPr bwMode="auto">
            <a:xfrm flipV="1">
              <a:off x="2690813" y="5310188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101"/>
            <p:cNvSpPr>
              <a:spLocks noChangeShapeType="1"/>
            </p:cNvSpPr>
            <p:nvPr/>
          </p:nvSpPr>
          <p:spPr bwMode="auto">
            <a:xfrm>
              <a:off x="3074988" y="5310188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02"/>
            <p:cNvSpPr>
              <a:spLocks noChangeShapeType="1"/>
            </p:cNvSpPr>
            <p:nvPr/>
          </p:nvSpPr>
          <p:spPr bwMode="auto">
            <a:xfrm>
              <a:off x="3074988" y="5310188"/>
              <a:ext cx="3063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110"/>
            <p:cNvSpPr>
              <a:spLocks noChangeShapeType="1"/>
            </p:cNvSpPr>
            <p:nvPr/>
          </p:nvSpPr>
          <p:spPr bwMode="auto">
            <a:xfrm flipV="1">
              <a:off x="1498600" y="5580063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111"/>
            <p:cNvSpPr>
              <a:spLocks noChangeShapeType="1"/>
            </p:cNvSpPr>
            <p:nvPr/>
          </p:nvSpPr>
          <p:spPr bwMode="auto">
            <a:xfrm>
              <a:off x="2036763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12"/>
            <p:cNvSpPr>
              <a:spLocks noChangeShapeType="1"/>
            </p:cNvSpPr>
            <p:nvPr/>
          </p:nvSpPr>
          <p:spPr bwMode="auto">
            <a:xfrm>
              <a:off x="1652588" y="5580063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13"/>
            <p:cNvSpPr>
              <a:spLocks noChangeShapeType="1"/>
            </p:cNvSpPr>
            <p:nvPr/>
          </p:nvSpPr>
          <p:spPr bwMode="auto">
            <a:xfrm>
              <a:off x="1498600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21"/>
            <p:cNvSpPr>
              <a:spLocks noChangeShapeType="1"/>
            </p:cNvSpPr>
            <p:nvPr/>
          </p:nvSpPr>
          <p:spPr bwMode="auto">
            <a:xfrm flipV="1">
              <a:off x="384175" y="5848350"/>
              <a:ext cx="153988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22"/>
            <p:cNvSpPr>
              <a:spLocks noChangeShapeType="1"/>
            </p:cNvSpPr>
            <p:nvPr/>
          </p:nvSpPr>
          <p:spPr bwMode="auto">
            <a:xfrm>
              <a:off x="9223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123"/>
            <p:cNvSpPr>
              <a:spLocks noChangeShapeType="1"/>
            </p:cNvSpPr>
            <p:nvPr/>
          </p:nvSpPr>
          <p:spPr bwMode="auto">
            <a:xfrm>
              <a:off x="538163" y="5848350"/>
              <a:ext cx="115887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24"/>
            <p:cNvSpPr>
              <a:spLocks noChangeShapeType="1"/>
            </p:cNvSpPr>
            <p:nvPr/>
          </p:nvSpPr>
          <p:spPr bwMode="auto">
            <a:xfrm>
              <a:off x="384175" y="6116638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30"/>
            <p:cNvSpPr>
              <a:spLocks noChangeShapeType="1"/>
            </p:cNvSpPr>
            <p:nvPr/>
          </p:nvSpPr>
          <p:spPr bwMode="auto">
            <a:xfrm flipH="1">
              <a:off x="1654175" y="5310188"/>
              <a:ext cx="2301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131"/>
            <p:cNvSpPr>
              <a:spLocks noChangeShapeType="1"/>
            </p:cNvSpPr>
            <p:nvPr/>
          </p:nvSpPr>
          <p:spPr bwMode="auto">
            <a:xfrm flipV="1">
              <a:off x="923925" y="5310188"/>
              <a:ext cx="96043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>
              <a:off x="1884363" y="5310188"/>
              <a:ext cx="1539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>
              <a:off x="1884363" y="5310188"/>
              <a:ext cx="4603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11"/>
            <p:cNvSpPr>
              <a:spLocks noChangeArrowheads="1"/>
            </p:cNvSpPr>
            <p:nvPr/>
          </p:nvSpPr>
          <p:spPr bwMode="auto">
            <a:xfrm>
              <a:off x="361315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7" name="Oval 23"/>
            <p:cNvSpPr>
              <a:spLocks noChangeArrowheads="1"/>
            </p:cNvSpPr>
            <p:nvPr/>
          </p:nvSpPr>
          <p:spPr bwMode="auto">
            <a:xfrm>
              <a:off x="3883025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8" name="Oval 24"/>
            <p:cNvSpPr>
              <a:spLocks noChangeArrowheads="1"/>
            </p:cNvSpPr>
            <p:nvPr/>
          </p:nvSpPr>
          <p:spPr bwMode="auto">
            <a:xfrm>
              <a:off x="418941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9" name="Oval 25"/>
            <p:cNvSpPr>
              <a:spLocks noChangeArrowheads="1"/>
            </p:cNvSpPr>
            <p:nvPr/>
          </p:nvSpPr>
          <p:spPr bwMode="auto">
            <a:xfrm>
              <a:off x="4535488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0" name="Oval 26"/>
            <p:cNvSpPr>
              <a:spLocks noChangeArrowheads="1"/>
            </p:cNvSpPr>
            <p:nvPr/>
          </p:nvSpPr>
          <p:spPr bwMode="auto">
            <a:xfrm>
              <a:off x="3613150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1" name="Oval 27"/>
            <p:cNvSpPr>
              <a:spLocks noChangeArrowheads="1"/>
            </p:cNvSpPr>
            <p:nvPr/>
          </p:nvSpPr>
          <p:spPr bwMode="auto">
            <a:xfrm>
              <a:off x="4189413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2" name="Oval 28"/>
            <p:cNvSpPr>
              <a:spLocks noChangeArrowheads="1"/>
            </p:cNvSpPr>
            <p:nvPr/>
          </p:nvSpPr>
          <p:spPr bwMode="auto">
            <a:xfrm>
              <a:off x="3767138" y="523240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3" name="Oval 88"/>
            <p:cNvSpPr>
              <a:spLocks noChangeArrowheads="1"/>
            </p:cNvSpPr>
            <p:nvPr/>
          </p:nvSpPr>
          <p:spPr bwMode="auto">
            <a:xfrm>
              <a:off x="2459038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4" name="Oval 89"/>
            <p:cNvSpPr>
              <a:spLocks noChangeArrowheads="1"/>
            </p:cNvSpPr>
            <p:nvPr/>
          </p:nvSpPr>
          <p:spPr bwMode="auto">
            <a:xfrm>
              <a:off x="27289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5" name="Oval 90"/>
            <p:cNvSpPr>
              <a:spLocks noChangeArrowheads="1"/>
            </p:cNvSpPr>
            <p:nvPr/>
          </p:nvSpPr>
          <p:spPr bwMode="auto">
            <a:xfrm>
              <a:off x="29972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6" name="Oval 91"/>
            <p:cNvSpPr>
              <a:spLocks noChangeArrowheads="1"/>
            </p:cNvSpPr>
            <p:nvPr/>
          </p:nvSpPr>
          <p:spPr bwMode="auto">
            <a:xfrm>
              <a:off x="330517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7" name="Oval 92"/>
            <p:cNvSpPr>
              <a:spLocks noChangeArrowheads="1"/>
            </p:cNvSpPr>
            <p:nvPr/>
          </p:nvSpPr>
          <p:spPr bwMode="auto">
            <a:xfrm>
              <a:off x="24590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8" name="Oval 93"/>
            <p:cNvSpPr>
              <a:spLocks noChangeArrowheads="1"/>
            </p:cNvSpPr>
            <p:nvPr/>
          </p:nvSpPr>
          <p:spPr bwMode="auto">
            <a:xfrm>
              <a:off x="2997200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9" name="Oval 94"/>
            <p:cNvSpPr>
              <a:spLocks noChangeArrowheads="1"/>
            </p:cNvSpPr>
            <p:nvPr/>
          </p:nvSpPr>
          <p:spPr bwMode="auto">
            <a:xfrm>
              <a:off x="261302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0" name="Oval 99"/>
            <p:cNvSpPr>
              <a:spLocks noChangeArrowheads="1"/>
            </p:cNvSpPr>
            <p:nvPr/>
          </p:nvSpPr>
          <p:spPr bwMode="auto">
            <a:xfrm>
              <a:off x="2997200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1" name="Oval 103"/>
            <p:cNvSpPr>
              <a:spLocks noChangeArrowheads="1"/>
            </p:cNvSpPr>
            <p:nvPr/>
          </p:nvSpPr>
          <p:spPr bwMode="auto">
            <a:xfrm>
              <a:off x="1422400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2" name="Oval 104"/>
            <p:cNvSpPr>
              <a:spLocks noChangeArrowheads="1"/>
            </p:cNvSpPr>
            <p:nvPr/>
          </p:nvSpPr>
          <p:spPr bwMode="auto">
            <a:xfrm>
              <a:off x="1692275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3" name="Oval 105"/>
            <p:cNvSpPr>
              <a:spLocks noChangeArrowheads="1"/>
            </p:cNvSpPr>
            <p:nvPr/>
          </p:nvSpPr>
          <p:spPr bwMode="auto">
            <a:xfrm>
              <a:off x="19605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4" name="Oval 106"/>
            <p:cNvSpPr>
              <a:spLocks noChangeArrowheads="1"/>
            </p:cNvSpPr>
            <p:nvPr/>
          </p:nvSpPr>
          <p:spPr bwMode="auto">
            <a:xfrm>
              <a:off x="22685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5" name="Oval 107"/>
            <p:cNvSpPr>
              <a:spLocks noChangeArrowheads="1"/>
            </p:cNvSpPr>
            <p:nvPr/>
          </p:nvSpPr>
          <p:spPr bwMode="auto">
            <a:xfrm>
              <a:off x="14224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6" name="Oval 108"/>
            <p:cNvSpPr>
              <a:spLocks noChangeArrowheads="1"/>
            </p:cNvSpPr>
            <p:nvPr/>
          </p:nvSpPr>
          <p:spPr bwMode="auto">
            <a:xfrm>
              <a:off x="196056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7" name="Oval 109"/>
            <p:cNvSpPr>
              <a:spLocks noChangeArrowheads="1"/>
            </p:cNvSpPr>
            <p:nvPr/>
          </p:nvSpPr>
          <p:spPr bwMode="auto">
            <a:xfrm>
              <a:off x="157638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8" name="Oval 114"/>
            <p:cNvSpPr>
              <a:spLocks noChangeArrowheads="1"/>
            </p:cNvSpPr>
            <p:nvPr/>
          </p:nvSpPr>
          <p:spPr bwMode="auto">
            <a:xfrm>
              <a:off x="307975" y="630872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9" name="Oval 115"/>
            <p:cNvSpPr>
              <a:spLocks noChangeArrowheads="1"/>
            </p:cNvSpPr>
            <p:nvPr/>
          </p:nvSpPr>
          <p:spPr bwMode="auto">
            <a:xfrm>
              <a:off x="577850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0" name="Oval 116"/>
            <p:cNvSpPr>
              <a:spLocks noChangeArrowheads="1"/>
            </p:cNvSpPr>
            <p:nvPr/>
          </p:nvSpPr>
          <p:spPr bwMode="auto">
            <a:xfrm>
              <a:off x="846138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1" name="Oval 117"/>
            <p:cNvSpPr>
              <a:spLocks noChangeArrowheads="1"/>
            </p:cNvSpPr>
            <p:nvPr/>
          </p:nvSpPr>
          <p:spPr bwMode="auto">
            <a:xfrm>
              <a:off x="11541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2" name="Oval 118"/>
            <p:cNvSpPr>
              <a:spLocks noChangeArrowheads="1"/>
            </p:cNvSpPr>
            <p:nvPr/>
          </p:nvSpPr>
          <p:spPr bwMode="auto">
            <a:xfrm>
              <a:off x="307975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3" name="Oval 119"/>
            <p:cNvSpPr>
              <a:spLocks noChangeArrowheads="1"/>
            </p:cNvSpPr>
            <p:nvPr/>
          </p:nvSpPr>
          <p:spPr bwMode="auto">
            <a:xfrm>
              <a:off x="8461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4" name="Oval 120"/>
            <p:cNvSpPr>
              <a:spLocks noChangeArrowheads="1"/>
            </p:cNvSpPr>
            <p:nvPr/>
          </p:nvSpPr>
          <p:spPr bwMode="auto">
            <a:xfrm>
              <a:off x="4619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5" name="Oval 125"/>
            <p:cNvSpPr>
              <a:spLocks noChangeArrowheads="1"/>
            </p:cNvSpPr>
            <p:nvPr/>
          </p:nvSpPr>
          <p:spPr bwMode="auto">
            <a:xfrm>
              <a:off x="8461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6" name="Oval 129"/>
            <p:cNvSpPr>
              <a:spLocks noChangeArrowheads="1"/>
            </p:cNvSpPr>
            <p:nvPr/>
          </p:nvSpPr>
          <p:spPr bwMode="auto">
            <a:xfrm>
              <a:off x="1806575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7" name="Oval 146"/>
            <p:cNvSpPr>
              <a:spLocks noChangeArrowheads="1"/>
            </p:cNvSpPr>
            <p:nvPr/>
          </p:nvSpPr>
          <p:spPr bwMode="auto">
            <a:xfrm>
              <a:off x="3305175" y="477361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6EF792-3451-4DDA-ABBC-FE9EB8442971}" type="slidenum">
              <a:rPr lang="en-US" smtClean="0"/>
              <a:pPr eaLnBrk="1" hangingPunct="1"/>
              <a:t>2</a:t>
            </a:fld>
            <a:endParaRPr lang="en-US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Types of Shortest Path Problems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5410200"/>
          </a:xfrm>
        </p:spPr>
        <p:txBody>
          <a:bodyPr/>
          <a:lstStyle/>
          <a:p>
            <a:pPr eaLnBrk="1" hangingPunct="1"/>
            <a:r>
              <a:rPr lang="en-US" b="1" dirty="0">
                <a:cs typeface="Arial" charset="0"/>
              </a:rPr>
              <a:t>Single-source single-destination: </a:t>
            </a:r>
            <a:r>
              <a:rPr lang="en-US" dirty="0">
                <a:cs typeface="Arial" charset="0"/>
              </a:rPr>
              <a:t>find the shortest path from s to t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Single-source:</a:t>
            </a:r>
            <a:r>
              <a:rPr lang="en-US" dirty="0">
                <a:cs typeface="Arial" charset="0"/>
              </a:rPr>
              <a:t> find the shortest path from s to every other node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All-pairs:</a:t>
            </a:r>
            <a:r>
              <a:rPr lang="en-US" dirty="0">
                <a:cs typeface="Arial" charset="0"/>
              </a:rPr>
              <a:t> find the shortest path from every node to every other node.</a:t>
            </a:r>
          </a:p>
        </p:txBody>
      </p:sp>
    </p:spTree>
    <p:extLst>
      <p:ext uri="{BB962C8B-B14F-4D97-AF65-F5344CB8AC3E}">
        <p14:creationId xmlns:p14="http://schemas.microsoft.com/office/powerpoint/2010/main" val="308386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03E94F-F5AD-4AED-BFC9-6214824B8C1D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18435" name="Freeform 90"/>
          <p:cNvSpPr>
            <a:spLocks/>
          </p:cNvSpPr>
          <p:nvPr/>
        </p:nvSpPr>
        <p:spPr bwMode="auto">
          <a:xfrm flipV="1">
            <a:off x="3352800" y="5122069"/>
            <a:ext cx="1282700" cy="838200"/>
          </a:xfrm>
          <a:custGeom>
            <a:avLst/>
            <a:gdLst>
              <a:gd name="T0" fmla="*/ 2147483647 w 856"/>
              <a:gd name="T1" fmla="*/ 2147483647 h 608"/>
              <a:gd name="T2" fmla="*/ 2147483647 w 856"/>
              <a:gd name="T3" fmla="*/ 2147483647 h 608"/>
              <a:gd name="T4" fmla="*/ 2147483647 w 856"/>
              <a:gd name="T5" fmla="*/ 0 h 608"/>
              <a:gd name="T6" fmla="*/ 0 60000 65536"/>
              <a:gd name="T7" fmla="*/ 0 60000 65536"/>
              <a:gd name="T8" fmla="*/ 0 60000 65536"/>
              <a:gd name="T9" fmla="*/ 0 w 856"/>
              <a:gd name="T10" fmla="*/ 0 h 608"/>
              <a:gd name="T11" fmla="*/ 856 w 856"/>
              <a:gd name="T12" fmla="*/ 608 h 6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6" h="608">
                <a:moveTo>
                  <a:pt x="856" y="480"/>
                </a:moveTo>
                <a:cubicBezTo>
                  <a:pt x="564" y="544"/>
                  <a:pt x="272" y="608"/>
                  <a:pt x="136" y="528"/>
                </a:cubicBezTo>
                <a:cubicBezTo>
                  <a:pt x="0" y="448"/>
                  <a:pt x="20" y="224"/>
                  <a:pt x="40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</a:t>
            </a:r>
          </a:p>
        </p:txBody>
      </p:sp>
      <p:sp>
        <p:nvSpPr>
          <p:cNvPr id="18437" name="Line 13"/>
          <p:cNvSpPr>
            <a:spLocks noChangeShapeType="1"/>
          </p:cNvSpPr>
          <p:nvPr/>
        </p:nvSpPr>
        <p:spPr bwMode="auto">
          <a:xfrm flipV="1">
            <a:off x="457200" y="1616869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Line 14"/>
          <p:cNvSpPr>
            <a:spLocks noChangeShapeType="1"/>
          </p:cNvSpPr>
          <p:nvPr/>
        </p:nvSpPr>
        <p:spPr bwMode="auto">
          <a:xfrm>
            <a:off x="457200" y="24550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9" name="Line 15"/>
          <p:cNvSpPr>
            <a:spLocks noChangeShapeType="1"/>
          </p:cNvSpPr>
          <p:nvPr/>
        </p:nvSpPr>
        <p:spPr bwMode="auto">
          <a:xfrm flipV="1">
            <a:off x="1676400" y="16930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Line 16"/>
          <p:cNvSpPr>
            <a:spLocks noChangeShapeType="1"/>
          </p:cNvSpPr>
          <p:nvPr/>
        </p:nvSpPr>
        <p:spPr bwMode="auto">
          <a:xfrm>
            <a:off x="1676400" y="15406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Line 17"/>
          <p:cNvSpPr>
            <a:spLocks noChangeShapeType="1"/>
          </p:cNvSpPr>
          <p:nvPr/>
        </p:nvSpPr>
        <p:spPr bwMode="auto">
          <a:xfrm>
            <a:off x="1600200" y="14644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8"/>
          <p:cNvSpPr>
            <a:spLocks noChangeShapeType="1"/>
          </p:cNvSpPr>
          <p:nvPr/>
        </p:nvSpPr>
        <p:spPr bwMode="auto">
          <a:xfrm flipV="1">
            <a:off x="3429000" y="2607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9"/>
          <p:cNvSpPr>
            <a:spLocks noChangeShapeType="1"/>
          </p:cNvSpPr>
          <p:nvPr/>
        </p:nvSpPr>
        <p:spPr bwMode="auto">
          <a:xfrm>
            <a:off x="3429000" y="1540669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20"/>
          <p:cNvSpPr>
            <a:spLocks noChangeShapeType="1"/>
          </p:cNvSpPr>
          <p:nvPr/>
        </p:nvSpPr>
        <p:spPr bwMode="auto">
          <a:xfrm>
            <a:off x="3429000" y="1540669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21"/>
          <p:cNvSpPr>
            <a:spLocks noChangeShapeType="1"/>
          </p:cNvSpPr>
          <p:nvPr/>
        </p:nvSpPr>
        <p:spPr bwMode="auto">
          <a:xfrm flipH="1">
            <a:off x="1828800" y="32932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22"/>
          <p:cNvSpPr>
            <a:spLocks noChangeShapeType="1"/>
          </p:cNvSpPr>
          <p:nvPr/>
        </p:nvSpPr>
        <p:spPr bwMode="auto">
          <a:xfrm>
            <a:off x="1676400" y="34456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Oval 4"/>
          <p:cNvSpPr>
            <a:spLocks noChangeArrowheads="1"/>
          </p:cNvSpPr>
          <p:nvPr/>
        </p:nvSpPr>
        <p:spPr bwMode="auto">
          <a:xfrm>
            <a:off x="304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48" name="Oval 7"/>
          <p:cNvSpPr>
            <a:spLocks noChangeArrowheads="1"/>
          </p:cNvSpPr>
          <p:nvPr/>
        </p:nvSpPr>
        <p:spPr bwMode="auto">
          <a:xfrm>
            <a:off x="15240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49" name="Oval 8"/>
          <p:cNvSpPr>
            <a:spLocks noChangeArrowheads="1"/>
          </p:cNvSpPr>
          <p:nvPr/>
        </p:nvSpPr>
        <p:spPr bwMode="auto">
          <a:xfrm>
            <a:off x="15240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50" name="Oval 9"/>
          <p:cNvSpPr>
            <a:spLocks noChangeArrowheads="1"/>
          </p:cNvSpPr>
          <p:nvPr/>
        </p:nvSpPr>
        <p:spPr bwMode="auto">
          <a:xfrm>
            <a:off x="32766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51" name="Oval 10"/>
          <p:cNvSpPr>
            <a:spLocks noChangeArrowheads="1"/>
          </p:cNvSpPr>
          <p:nvPr/>
        </p:nvSpPr>
        <p:spPr bwMode="auto">
          <a:xfrm>
            <a:off x="32766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52" name="Oval 11"/>
          <p:cNvSpPr>
            <a:spLocks noChangeArrowheads="1"/>
          </p:cNvSpPr>
          <p:nvPr/>
        </p:nvSpPr>
        <p:spPr bwMode="auto">
          <a:xfrm>
            <a:off x="4495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53" name="Text Box 23"/>
          <p:cNvSpPr txBox="1">
            <a:spLocks noChangeArrowheads="1"/>
          </p:cNvSpPr>
          <p:nvPr/>
        </p:nvSpPr>
        <p:spPr bwMode="auto">
          <a:xfrm>
            <a:off x="838200" y="1693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18454" name="Text Box 24"/>
          <p:cNvSpPr txBox="1">
            <a:spLocks noChangeArrowheads="1"/>
          </p:cNvSpPr>
          <p:nvPr/>
        </p:nvSpPr>
        <p:spPr bwMode="auto">
          <a:xfrm>
            <a:off x="838200" y="2836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55" name="Text Box 25"/>
          <p:cNvSpPr txBox="1">
            <a:spLocks noChangeArrowheads="1"/>
          </p:cNvSpPr>
          <p:nvPr/>
        </p:nvSpPr>
        <p:spPr bwMode="auto">
          <a:xfrm>
            <a:off x="13716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56" name="Text Box 26"/>
          <p:cNvSpPr txBox="1">
            <a:spLocks noChangeArrowheads="1"/>
          </p:cNvSpPr>
          <p:nvPr/>
        </p:nvSpPr>
        <p:spPr bwMode="auto">
          <a:xfrm>
            <a:off x="2438400" y="2074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57" name="Text Box 27"/>
          <p:cNvSpPr txBox="1">
            <a:spLocks noChangeArrowheads="1"/>
          </p:cNvSpPr>
          <p:nvPr/>
        </p:nvSpPr>
        <p:spPr bwMode="auto">
          <a:xfrm>
            <a:off x="2362200" y="2988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8458" name="Text Box 28"/>
          <p:cNvSpPr txBox="1">
            <a:spLocks noChangeArrowheads="1"/>
          </p:cNvSpPr>
          <p:nvPr/>
        </p:nvSpPr>
        <p:spPr bwMode="auto">
          <a:xfrm>
            <a:off x="2362200" y="3369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18459" name="Text Box 29"/>
          <p:cNvSpPr txBox="1">
            <a:spLocks noChangeArrowheads="1"/>
          </p:cNvSpPr>
          <p:nvPr/>
        </p:nvSpPr>
        <p:spPr bwMode="auto">
          <a:xfrm>
            <a:off x="2362200" y="11596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60" name="Text Box 30"/>
          <p:cNvSpPr txBox="1">
            <a:spLocks noChangeArrowheads="1"/>
          </p:cNvSpPr>
          <p:nvPr/>
        </p:nvSpPr>
        <p:spPr bwMode="auto">
          <a:xfrm>
            <a:off x="34290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18461" name="Text Box 31"/>
          <p:cNvSpPr txBox="1">
            <a:spLocks noChangeArrowheads="1"/>
          </p:cNvSpPr>
          <p:nvPr/>
        </p:nvSpPr>
        <p:spPr bwMode="auto">
          <a:xfrm>
            <a:off x="3962400" y="16168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18462" name="Text Box 32"/>
          <p:cNvSpPr txBox="1">
            <a:spLocks noChangeArrowheads="1"/>
          </p:cNvSpPr>
          <p:nvPr/>
        </p:nvSpPr>
        <p:spPr bwMode="auto">
          <a:xfrm>
            <a:off x="3962400" y="29122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63" name="Line 60"/>
          <p:cNvSpPr>
            <a:spLocks noChangeShapeType="1"/>
          </p:cNvSpPr>
          <p:nvPr/>
        </p:nvSpPr>
        <p:spPr bwMode="auto">
          <a:xfrm>
            <a:off x="457200" y="5274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Line 61"/>
          <p:cNvSpPr>
            <a:spLocks noChangeShapeType="1"/>
          </p:cNvSpPr>
          <p:nvPr/>
        </p:nvSpPr>
        <p:spPr bwMode="auto">
          <a:xfrm flipV="1">
            <a:off x="1676400" y="45124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5" name="Line 62"/>
          <p:cNvSpPr>
            <a:spLocks noChangeShapeType="1"/>
          </p:cNvSpPr>
          <p:nvPr/>
        </p:nvSpPr>
        <p:spPr bwMode="auto">
          <a:xfrm>
            <a:off x="1676400" y="43600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6" name="Line 63"/>
          <p:cNvSpPr>
            <a:spLocks noChangeShapeType="1"/>
          </p:cNvSpPr>
          <p:nvPr/>
        </p:nvSpPr>
        <p:spPr bwMode="auto">
          <a:xfrm>
            <a:off x="1600200" y="42838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7" name="Line 64"/>
          <p:cNvSpPr>
            <a:spLocks noChangeShapeType="1"/>
          </p:cNvSpPr>
          <p:nvPr/>
        </p:nvSpPr>
        <p:spPr bwMode="auto">
          <a:xfrm flipV="1">
            <a:off x="3429000" y="54268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8" name="Oval 69"/>
          <p:cNvSpPr>
            <a:spLocks noChangeArrowheads="1"/>
          </p:cNvSpPr>
          <p:nvPr/>
        </p:nvSpPr>
        <p:spPr bwMode="auto">
          <a:xfrm>
            <a:off x="304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69" name="Oval 70"/>
          <p:cNvSpPr>
            <a:spLocks noChangeArrowheads="1"/>
          </p:cNvSpPr>
          <p:nvPr/>
        </p:nvSpPr>
        <p:spPr bwMode="auto">
          <a:xfrm>
            <a:off x="15240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70" name="Oval 71"/>
          <p:cNvSpPr>
            <a:spLocks noChangeArrowheads="1"/>
          </p:cNvSpPr>
          <p:nvPr/>
        </p:nvSpPr>
        <p:spPr bwMode="auto">
          <a:xfrm>
            <a:off x="15240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71" name="Oval 72"/>
          <p:cNvSpPr>
            <a:spLocks noChangeArrowheads="1"/>
          </p:cNvSpPr>
          <p:nvPr/>
        </p:nvSpPr>
        <p:spPr bwMode="auto">
          <a:xfrm>
            <a:off x="32766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72" name="Oval 73"/>
          <p:cNvSpPr>
            <a:spLocks noChangeArrowheads="1"/>
          </p:cNvSpPr>
          <p:nvPr/>
        </p:nvSpPr>
        <p:spPr bwMode="auto">
          <a:xfrm>
            <a:off x="32766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73" name="Oval 74"/>
          <p:cNvSpPr>
            <a:spLocks noChangeArrowheads="1"/>
          </p:cNvSpPr>
          <p:nvPr/>
        </p:nvSpPr>
        <p:spPr bwMode="auto">
          <a:xfrm>
            <a:off x="4495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74" name="Text Box 76"/>
          <p:cNvSpPr txBox="1">
            <a:spLocks noChangeArrowheads="1"/>
          </p:cNvSpPr>
          <p:nvPr/>
        </p:nvSpPr>
        <p:spPr bwMode="auto">
          <a:xfrm>
            <a:off x="838200" y="5655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75" name="Text Box 77"/>
          <p:cNvSpPr txBox="1">
            <a:spLocks noChangeArrowheads="1"/>
          </p:cNvSpPr>
          <p:nvPr/>
        </p:nvSpPr>
        <p:spPr bwMode="auto">
          <a:xfrm>
            <a:off x="1371600" y="50458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76" name="Text Box 78"/>
          <p:cNvSpPr txBox="1">
            <a:spLocks noChangeArrowheads="1"/>
          </p:cNvSpPr>
          <p:nvPr/>
        </p:nvSpPr>
        <p:spPr bwMode="auto">
          <a:xfrm>
            <a:off x="2438400" y="4893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77" name="Text Box 81"/>
          <p:cNvSpPr txBox="1">
            <a:spLocks noChangeArrowheads="1"/>
          </p:cNvSpPr>
          <p:nvPr/>
        </p:nvSpPr>
        <p:spPr bwMode="auto">
          <a:xfrm>
            <a:off x="2362200" y="39790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78" name="Text Box 84"/>
          <p:cNvSpPr txBox="1">
            <a:spLocks noChangeArrowheads="1"/>
          </p:cNvSpPr>
          <p:nvPr/>
        </p:nvSpPr>
        <p:spPr bwMode="auto">
          <a:xfrm>
            <a:off x="3962400" y="57316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79" name="Text Box 85"/>
          <p:cNvSpPr txBox="1">
            <a:spLocks noChangeArrowheads="1"/>
          </p:cNvSpPr>
          <p:nvPr/>
        </p:nvSpPr>
        <p:spPr bwMode="auto">
          <a:xfrm>
            <a:off x="12192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c[3] = 2</a:t>
            </a:r>
          </a:p>
        </p:txBody>
      </p:sp>
      <p:sp>
        <p:nvSpPr>
          <p:cNvPr id="18480" name="Text Box 86"/>
          <p:cNvSpPr txBox="1">
            <a:spLocks noChangeArrowheads="1"/>
          </p:cNvSpPr>
          <p:nvPr/>
        </p:nvSpPr>
        <p:spPr bwMode="auto">
          <a:xfrm>
            <a:off x="1219200" y="38266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c[1] = 6</a:t>
            </a:r>
          </a:p>
        </p:txBody>
      </p:sp>
      <p:sp>
        <p:nvSpPr>
          <p:cNvPr id="18481" name="Text Box 87"/>
          <p:cNvSpPr txBox="1">
            <a:spLocks noChangeArrowheads="1"/>
          </p:cNvSpPr>
          <p:nvPr/>
        </p:nvSpPr>
        <p:spPr bwMode="auto">
          <a:xfrm>
            <a:off x="2895600" y="38266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c[2] = 17</a:t>
            </a:r>
          </a:p>
        </p:txBody>
      </p:sp>
      <p:sp>
        <p:nvSpPr>
          <p:cNvPr id="18482" name="Text Box 88"/>
          <p:cNvSpPr txBox="1">
            <a:spLocks noChangeArrowheads="1"/>
          </p:cNvSpPr>
          <p:nvPr/>
        </p:nvSpPr>
        <p:spPr bwMode="auto">
          <a:xfrm>
            <a:off x="29718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c[4] = 9</a:t>
            </a:r>
          </a:p>
        </p:txBody>
      </p:sp>
      <p:sp>
        <p:nvSpPr>
          <p:cNvPr id="18483" name="Text Box 89"/>
          <p:cNvSpPr txBox="1">
            <a:spLocks noChangeArrowheads="1"/>
          </p:cNvSpPr>
          <p:nvPr/>
        </p:nvSpPr>
        <p:spPr bwMode="auto">
          <a:xfrm>
            <a:off x="4572000" y="54268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c[5] = 15</a:t>
            </a:r>
          </a:p>
        </p:txBody>
      </p:sp>
      <p:sp>
        <p:nvSpPr>
          <p:cNvPr id="18484" name="Text Box 91"/>
          <p:cNvSpPr txBox="1">
            <a:spLocks noChangeArrowheads="1"/>
          </p:cNvSpPr>
          <p:nvPr/>
        </p:nvSpPr>
        <p:spPr bwMode="auto">
          <a:xfrm>
            <a:off x="3200400" y="4817269"/>
            <a:ext cx="1282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pred[5] = 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8300" y="1173956"/>
            <a:ext cx="3543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Input:</a:t>
            </a:r>
          </a:p>
          <a:p>
            <a:r>
              <a:rPr lang="en-US" sz="2400" dirty="0"/>
              <a:t>Directed graph with </a:t>
            </a:r>
          </a:p>
          <a:p>
            <a:r>
              <a:rPr lang="en-US" sz="2400" dirty="0"/>
              <a:t>costs/weights/lengths on its edges.</a:t>
            </a:r>
          </a:p>
          <a:p>
            <a:endParaRPr lang="en-US" sz="2400" dirty="0"/>
          </a:p>
          <a:p>
            <a:r>
              <a:rPr lang="en-US" sz="2400" b="1" u="sng" dirty="0"/>
              <a:t>Output: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c[j]: cost of shortest     s </a:t>
            </a:r>
            <a:r>
              <a:rPr lang="en-US" sz="2400" dirty="0">
                <a:sym typeface="Symbol"/>
              </a:rPr>
              <a:t> j path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err="1">
                <a:sym typeface="Symbol"/>
              </a:rPr>
              <a:t>pred</a:t>
            </a:r>
            <a:r>
              <a:rPr lang="en-US" sz="2400" dirty="0">
                <a:sym typeface="Symbol"/>
              </a:rPr>
              <a:t>[j]: previous node (before j) on a shortest </a:t>
            </a:r>
            <a:r>
              <a:rPr lang="en-US" sz="2400" dirty="0"/>
              <a:t>s </a:t>
            </a:r>
            <a:r>
              <a:rPr lang="en-US" sz="2400" dirty="0">
                <a:sym typeface="Symbol"/>
              </a:rPr>
              <a:t> j path.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321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292AC3-B669-4CCA-AE20-9271A580E4A8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Paths: 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Algorithms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86800" cy="50292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Easy cases that we can solve in linear time:</a:t>
            </a:r>
          </a:p>
          <a:p>
            <a:pPr lvl="1" eaLnBrk="1" hangingPunct="1"/>
            <a:r>
              <a:rPr lang="en-US" dirty="0" err="1">
                <a:cs typeface="Arial" charset="0"/>
              </a:rPr>
              <a:t>Unweighted</a:t>
            </a:r>
            <a:r>
              <a:rPr lang="en-US" dirty="0">
                <a:cs typeface="Arial" charset="0"/>
              </a:rPr>
              <a:t> graphs: use </a:t>
            </a:r>
            <a:r>
              <a:rPr lang="en-US" b="1" dirty="0">
                <a:cs typeface="Arial" charset="0"/>
              </a:rPr>
              <a:t>breadth-first search</a:t>
            </a:r>
            <a:r>
              <a:rPr lang="en-US" dirty="0">
                <a:cs typeface="Arial" charset="0"/>
              </a:rPr>
              <a:t>.</a:t>
            </a:r>
          </a:p>
          <a:p>
            <a:pPr lvl="1" eaLnBrk="1" hangingPunct="1"/>
            <a:r>
              <a:rPr lang="en-US" dirty="0">
                <a:cs typeface="Arial" charset="0"/>
              </a:rPr>
              <a:t>Directed acyclic graphs (DAGs): use </a:t>
            </a:r>
            <a:r>
              <a:rPr lang="en-US" b="1" dirty="0">
                <a:cs typeface="Arial" charset="0"/>
              </a:rPr>
              <a:t>dynamic programming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edge costs are </a:t>
            </a:r>
            <a:r>
              <a:rPr lang="en-US" u="sng" dirty="0">
                <a:cs typeface="Arial" charset="0"/>
              </a:rPr>
              <a:t>nonnegative</a:t>
            </a:r>
            <a:r>
              <a:rPr lang="en-US" dirty="0">
                <a:cs typeface="Arial" charset="0"/>
              </a:rPr>
              <a:t>, we’ll use </a:t>
            </a:r>
            <a:r>
              <a:rPr lang="en-US" b="1" dirty="0" err="1">
                <a:cs typeface="Arial" charset="0"/>
              </a:rPr>
              <a:t>Dijkstra’s</a:t>
            </a:r>
            <a:r>
              <a:rPr lang="en-US" b="1" dirty="0">
                <a:cs typeface="Arial" charset="0"/>
              </a:rPr>
              <a:t> algorithm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some edge costs are negative, we use the </a:t>
            </a:r>
            <a:r>
              <a:rPr lang="en-US" b="1" dirty="0">
                <a:cs typeface="Arial" charset="0"/>
              </a:rPr>
              <a:t>Bellman-Ford</a:t>
            </a:r>
            <a:r>
              <a:rPr lang="en-US" dirty="0">
                <a:cs typeface="Arial" charset="0"/>
              </a:rPr>
              <a:t> </a:t>
            </a:r>
            <a:r>
              <a:rPr lang="en-US" b="1" dirty="0">
                <a:cs typeface="Arial" charset="0"/>
              </a:rPr>
              <a:t>algorithm</a:t>
            </a:r>
            <a:r>
              <a:rPr lang="en-US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55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AB936B-A097-46F2-9EF2-5ACB83C4F9A0}" type="slidenum">
              <a:rPr lang="en-US" smtClean="0">
                <a:solidFill>
                  <a:srgbClr val="000000"/>
                </a:solidFill>
              </a:rPr>
              <a:pPr eaLnBrk="1" hangingPunct="1"/>
              <a:t>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Depth-first search dives as deeply as possible into a graph until it can go no further, then it backs up and tries to branch.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In contrast, a </a:t>
            </a:r>
            <a:r>
              <a:rPr lang="en-US" b="1">
                <a:cs typeface="Arial" charset="0"/>
              </a:rPr>
              <a:t>breadth-first search</a:t>
            </a:r>
            <a:r>
              <a:rPr lang="en-US">
                <a:cs typeface="Arial" charset="0"/>
              </a:rPr>
              <a:t> (BFS) starting at some source node s will visit s, then all nodes 1 hop away from s, then all nodes 2 hops away from s, etc.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Like DFS, we can also use BFS to find connected components or answer “find a path from i to j” queries.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BFS finds a path from i to j having fewest edges.</a:t>
            </a:r>
          </a:p>
        </p:txBody>
      </p:sp>
    </p:spTree>
    <p:extLst>
      <p:ext uri="{BB962C8B-B14F-4D97-AF65-F5344CB8AC3E}">
        <p14:creationId xmlns:p14="http://schemas.microsoft.com/office/powerpoint/2010/main" val="257779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9BDDC4-7EA1-4F65-B7BA-6EEC11E7E62D}" type="slidenum">
              <a:rPr lang="en-US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BFS(s):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For all nodes i: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pred[i] = null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dist[i] = Infinity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Q = {s}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dist[s] = 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i = next node in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For all nodes j such that (i,j) is an edge: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If dist[j] = Infinity,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pred[j] =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dist[j] = dist[i] + 1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Append j to the end of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If Q is implemented as a stack rather than as a FIFO queue, we get DFS rather than BFS!</a:t>
            </a:r>
          </a:p>
        </p:txBody>
      </p:sp>
    </p:spTree>
    <p:extLst>
      <p:ext uri="{BB962C8B-B14F-4D97-AF65-F5344CB8AC3E}">
        <p14:creationId xmlns:p14="http://schemas.microsoft.com/office/powerpoint/2010/main" val="150339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3875B3-E305-4ADB-B896-A6C9A9C6A26E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Negative-Cost Cycles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800" dirty="0">
                <a:cs typeface="Arial" charset="0"/>
              </a:rPr>
              <a:t>If negative-cost edges exist: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need to use the O(</a:t>
            </a:r>
            <a:r>
              <a:rPr lang="en-US" sz="2400" dirty="0" err="1">
                <a:cs typeface="Arial" charset="0"/>
              </a:rPr>
              <a:t>mn</a:t>
            </a:r>
            <a:r>
              <a:rPr lang="en-US" sz="2400" dirty="0">
                <a:cs typeface="Arial" charset="0"/>
              </a:rPr>
              <a:t>) Bellman-Ford algorithm.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can only find shortest paths if there are no negative-cost directed cycles (Bellman-Ford can at least detect whether negative cycles exist).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If our graph is undirected, we typically assume it has no negative-cost edges to begin with.</a:t>
            </a:r>
          </a:p>
          <a:p>
            <a:pPr eaLnBrk="1" hangingPunct="1"/>
            <a:r>
              <a:rPr lang="en-US" sz="2800" u="sng" dirty="0">
                <a:cs typeface="Arial" charset="0"/>
              </a:rPr>
              <a:t>Longest</a:t>
            </a:r>
            <a:r>
              <a:rPr lang="en-US" sz="2800" dirty="0">
                <a:cs typeface="Arial" charset="0"/>
              </a:rPr>
              <a:t> path problems convert to shortest path problems by negating edge lengths, so </a:t>
            </a:r>
            <a:r>
              <a:rPr lang="en-US" sz="2800" u="sng" dirty="0">
                <a:cs typeface="Arial" charset="0"/>
              </a:rPr>
              <a:t>positive</a:t>
            </a:r>
            <a:r>
              <a:rPr lang="en-US" sz="2800" dirty="0">
                <a:cs typeface="Arial" charset="0"/>
              </a:rPr>
              <a:t>-cost cycles are bad for these problems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So longest path problems are rarely tractable, since most graphs have positive-cost cycles.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Except DAGs, that is…</a:t>
            </a:r>
          </a:p>
        </p:txBody>
      </p:sp>
    </p:spTree>
    <p:extLst>
      <p:ext uri="{BB962C8B-B14F-4D97-AF65-F5344CB8AC3E}">
        <p14:creationId xmlns:p14="http://schemas.microsoft.com/office/powerpoint/2010/main" val="252458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Updating Cost Labels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4800600"/>
            <a:ext cx="7696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dirty="0"/>
              <a:t>Initially, all nodes have cost labels set to +</a:t>
            </a:r>
            <a:r>
              <a:rPr lang="en-US" sz="2400" dirty="0">
                <a:sym typeface="Symbol"/>
              </a:rPr>
              <a:t>, except the source, which has cost label 0.</a:t>
            </a:r>
          </a:p>
          <a:p>
            <a:pPr algn="ctr" eaLnBrk="1" hangingPunct="1"/>
            <a:endParaRPr lang="en-US" sz="2400" dirty="0">
              <a:sym typeface="Symbol"/>
            </a:endParaRPr>
          </a:p>
          <a:p>
            <a:pPr algn="ctr" eaLnBrk="1" hangingPunct="1"/>
            <a:r>
              <a:rPr lang="en-US" sz="2400" dirty="0">
                <a:sym typeface="Symbol"/>
              </a:rPr>
              <a:t>We’d like to improve the cost labels of all nodes so they reflect the costs of shortest paths.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B64C83-64E6-4831-BFAC-32BD6CF25004}" type="slidenum">
              <a:rPr lang="en-US" smtClean="0"/>
              <a:pPr eaLnBrk="1" hangingPunct="1"/>
              <a:t>10</a:t>
            </a:fld>
            <a:endParaRPr lang="en-US"/>
          </a:p>
        </p:txBody>
      </p:sp>
      <p:sp>
        <p:nvSpPr>
          <p:cNvPr id="24579" name="Freeform 10"/>
          <p:cNvSpPr>
            <a:spLocks/>
          </p:cNvSpPr>
          <p:nvPr/>
        </p:nvSpPr>
        <p:spPr bwMode="auto">
          <a:xfrm>
            <a:off x="1143000" y="2748756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0" name="Freeform 11"/>
          <p:cNvSpPr>
            <a:spLocks/>
          </p:cNvSpPr>
          <p:nvPr/>
        </p:nvSpPr>
        <p:spPr bwMode="auto">
          <a:xfrm>
            <a:off x="1143000" y="4006056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8"/>
          <p:cNvSpPr>
            <a:spLocks noChangeShapeType="1"/>
          </p:cNvSpPr>
          <p:nvPr/>
        </p:nvSpPr>
        <p:spPr bwMode="auto">
          <a:xfrm>
            <a:off x="3048000" y="2748756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Improving Cost labels</a:t>
            </a:r>
          </a:p>
        </p:txBody>
      </p:sp>
      <p:sp>
        <p:nvSpPr>
          <p:cNvPr id="245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Shortest path costs satisfy the triangle inequality:</a:t>
            </a:r>
          </a:p>
          <a:p>
            <a:pPr eaLnBrk="1" hangingPunct="1">
              <a:buFontTx/>
              <a:buNone/>
            </a:pPr>
            <a:r>
              <a:rPr lang="en-US" sz="2800" dirty="0">
                <a:cs typeface="Arial" charset="0"/>
              </a:rPr>
              <a:t>	       c[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] + cost(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 ≥ c[j] for every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j).</a:t>
            </a: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4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If this is violated for some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j), we can improve the cost label of node j:</a:t>
            </a:r>
          </a:p>
        </p:txBody>
      </p:sp>
      <p:sp>
        <p:nvSpPr>
          <p:cNvPr id="24584" name="Oval 4"/>
          <p:cNvSpPr>
            <a:spLocks noChangeArrowheads="1"/>
          </p:cNvSpPr>
          <p:nvPr/>
        </p:nvSpPr>
        <p:spPr bwMode="auto">
          <a:xfrm>
            <a:off x="990600" y="38917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24585" name="Oval 5"/>
          <p:cNvSpPr>
            <a:spLocks noChangeArrowheads="1"/>
          </p:cNvSpPr>
          <p:nvPr/>
        </p:nvSpPr>
        <p:spPr bwMode="auto">
          <a:xfrm>
            <a:off x="2895600" y="25963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24586" name="Oval 6"/>
          <p:cNvSpPr>
            <a:spLocks noChangeArrowheads="1"/>
          </p:cNvSpPr>
          <p:nvPr/>
        </p:nvSpPr>
        <p:spPr bwMode="auto">
          <a:xfrm>
            <a:off x="4114800" y="38155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p:sp>
        <p:nvSpPr>
          <p:cNvPr id="24587" name="Text Box 12"/>
          <p:cNvSpPr txBox="1">
            <a:spLocks noChangeArrowheads="1"/>
          </p:cNvSpPr>
          <p:nvPr/>
        </p:nvSpPr>
        <p:spPr bwMode="auto">
          <a:xfrm>
            <a:off x="2803525" y="2175669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c[i]</a:t>
            </a:r>
          </a:p>
        </p:txBody>
      </p:sp>
      <p:sp>
        <p:nvSpPr>
          <p:cNvPr id="24588" name="Text Box 13"/>
          <p:cNvSpPr txBox="1">
            <a:spLocks noChangeArrowheads="1"/>
          </p:cNvSpPr>
          <p:nvPr/>
        </p:nvSpPr>
        <p:spPr bwMode="auto">
          <a:xfrm>
            <a:off x="4191000" y="412035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c[j]</a:t>
            </a:r>
          </a:p>
        </p:txBody>
      </p:sp>
      <p:sp>
        <p:nvSpPr>
          <p:cNvPr id="24589" name="Text Box 14"/>
          <p:cNvSpPr txBox="1">
            <a:spLocks noChangeArrowheads="1"/>
          </p:cNvSpPr>
          <p:nvPr/>
        </p:nvSpPr>
        <p:spPr bwMode="auto">
          <a:xfrm>
            <a:off x="3581400" y="2901156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cost(i, j)</a:t>
            </a:r>
          </a:p>
        </p:txBody>
      </p:sp>
      <p:sp>
        <p:nvSpPr>
          <p:cNvPr id="2" name="Rectangle 1"/>
          <p:cNvSpPr/>
          <p:nvPr/>
        </p:nvSpPr>
        <p:spPr>
          <a:xfrm>
            <a:off x="1565275" y="5562600"/>
            <a:ext cx="617220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Tighten(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j):  (also called Relax(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If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 &lt; c[j],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c[j] =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</a:t>
            </a:r>
            <a:r>
              <a:rPr lang="en-US" b="1" dirty="0" err="1">
                <a:latin typeface="Courier New" pitchFamily="49" charset="0"/>
                <a:cs typeface="Arial" charset="0"/>
              </a:rPr>
              <a:t>pred</a:t>
            </a:r>
            <a:r>
              <a:rPr lang="en-US" b="1" dirty="0">
                <a:latin typeface="Courier New" pitchFamily="49" charset="0"/>
                <a:cs typeface="Arial" charset="0"/>
              </a:rPr>
              <a:t>[j] = 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endParaRPr lang="en-US" b="1" dirty="0">
              <a:latin typeface="Courier New" pitchFamily="49" charset="0"/>
              <a:cs typeface="Arial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5994929" y="2748756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99729" y="2796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529" y="27957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9811" y="3961693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+ y ≥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959" y="34916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17592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39C9AA-3845-4E27-8390-5292A2B89C8E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0" y="-2822"/>
            <a:ext cx="9144000" cy="9172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The Bellman-Ford Algorithm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638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Bellman-Ford: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Repeat n-1 times:	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Tighten every edge in the graph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If c[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 &lt; c[j] for any edge 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Output “negative cycle detected!”	</a:t>
            </a:r>
          </a:p>
          <a:p>
            <a:pPr eaLnBrk="1" hangingPunct="1"/>
            <a:r>
              <a:rPr lang="en-US" dirty="0">
                <a:cs typeface="Arial" charset="0"/>
              </a:rPr>
              <a:t>O(</a:t>
            </a:r>
            <a:r>
              <a:rPr lang="en-US" dirty="0" err="1">
                <a:cs typeface="Arial" charset="0"/>
              </a:rPr>
              <a:t>mn</a:t>
            </a:r>
            <a:r>
              <a:rPr lang="en-US" dirty="0">
                <a:cs typeface="Arial" charset="0"/>
              </a:rPr>
              <a:t>) time.</a:t>
            </a:r>
          </a:p>
          <a:p>
            <a:pPr eaLnBrk="1" hangingPunct="1"/>
            <a:r>
              <a:rPr lang="en-US" dirty="0">
                <a:cs typeface="Arial" charset="0"/>
              </a:rPr>
              <a:t>Computes single-source shortest paths in the presence of negative edge costs, and can detect negative cycles.</a:t>
            </a:r>
          </a:p>
          <a:p>
            <a:pPr eaLnBrk="1" hangingPunct="1"/>
            <a:r>
              <a:rPr lang="en-US" dirty="0">
                <a:cs typeface="Arial" charset="0"/>
              </a:rPr>
              <a:t>Analyze using induction: after k iterations of the main loop, each label c[j] reflects the cost of the shortest k-hop path from s to j.</a:t>
            </a:r>
          </a:p>
        </p:txBody>
      </p:sp>
    </p:spTree>
    <p:extLst>
      <p:ext uri="{BB962C8B-B14F-4D97-AF65-F5344CB8AC3E}">
        <p14:creationId xmlns:p14="http://schemas.microsoft.com/office/powerpoint/2010/main" val="42404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B67278D-ABF6-45A9-8E6B-510F560640A2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Dijkstra: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Build a priority queue Q on the c[j]’s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Remove from Q the node i having minimum label c[i]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   	   (at this point we know c[i] is correct)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Tighten all edges emanating from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600" b="1">
              <a:latin typeface="Courier New" pitchFamily="49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Only works if edge costs are nonnegative.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Running time depends on priority queue: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inserts (during initialization)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remove-mins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at most m decrease-keys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Using a binary heap, all these operations run in O(log n) time, so total is O(m log n).</a:t>
            </a:r>
          </a:p>
        </p:txBody>
      </p:sp>
    </p:spTree>
    <p:extLst>
      <p:ext uri="{BB962C8B-B14F-4D97-AF65-F5344CB8AC3E}">
        <p14:creationId xmlns:p14="http://schemas.microsoft.com/office/powerpoint/2010/main" val="207271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13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87021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3AB9C4-B4D6-411B-8417-1C5113126A4E}" type="slidenum">
              <a:rPr lang="en-US" smtClean="0"/>
              <a:pPr eaLnBrk="1" hangingPunct="1"/>
              <a:t>14</a:t>
            </a:fld>
            <a:endParaRPr lang="en-US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174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175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176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176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176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176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176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176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176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176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176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176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177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177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177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177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177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177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177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177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7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177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8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the source node s, so s becomes “permanently” labeled.</a:t>
            </a:r>
          </a:p>
          <a:p>
            <a:pPr algn="ctr" eaLnBrk="1" hangingPunct="1"/>
            <a:r>
              <a:rPr lang="en-US" sz="2000"/>
              <a:t>Tighten all edges leaving s.</a:t>
            </a:r>
          </a:p>
        </p:txBody>
      </p:sp>
    </p:spTree>
    <p:extLst>
      <p:ext uri="{BB962C8B-B14F-4D97-AF65-F5344CB8AC3E}">
        <p14:creationId xmlns:p14="http://schemas.microsoft.com/office/powerpoint/2010/main" val="490533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0855A0-249F-4FA5-80E0-E21D62647629}" type="slidenum">
              <a:rPr lang="en-US" smtClean="0"/>
              <a:pPr eaLnBrk="1" hangingPunct="1"/>
              <a:t>15</a:t>
            </a:fld>
            <a:endParaRPr lang="en-US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2783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2784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2785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2786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2787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2788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2789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2790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2791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2792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2793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2794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2795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2796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2797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2798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2799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2800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2801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2802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2803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2804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3, which becomes permanently labeled. </a:t>
            </a:r>
          </a:p>
          <a:p>
            <a:pPr algn="ctr" eaLnBrk="1" hangingPunct="1"/>
            <a:r>
              <a:rPr lang="en-US" sz="2000"/>
              <a:t>Tighten all edges leaving node 3.</a:t>
            </a:r>
          </a:p>
        </p:txBody>
      </p:sp>
    </p:spTree>
    <p:extLst>
      <p:ext uri="{BB962C8B-B14F-4D97-AF65-F5344CB8AC3E}">
        <p14:creationId xmlns:p14="http://schemas.microsoft.com/office/powerpoint/2010/main" val="142819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379071E-4D4C-4B1A-A965-A8759683F561}" type="slidenum">
              <a:rPr lang="en-US" smtClean="0"/>
              <a:pPr eaLnBrk="1" hangingPunct="1"/>
              <a:t>16</a:t>
            </a:fld>
            <a:endParaRPr lang="en-US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3796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3807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3808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3809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3810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3811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3812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3813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3814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3815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3816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3817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3818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3819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3820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3821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3822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3823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3824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3825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3826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3827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3828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1, which becomes permanently labeled. </a:t>
            </a:r>
          </a:p>
          <a:p>
            <a:pPr algn="ctr" eaLnBrk="1" hangingPunct="1"/>
            <a:r>
              <a:rPr lang="en-US" sz="2000"/>
              <a:t>Tighten all edges leaving node 1.</a:t>
            </a:r>
          </a:p>
        </p:txBody>
      </p:sp>
    </p:spTree>
    <p:extLst>
      <p:ext uri="{BB962C8B-B14F-4D97-AF65-F5344CB8AC3E}">
        <p14:creationId xmlns:p14="http://schemas.microsoft.com/office/powerpoint/2010/main" val="393122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6B5C49-FFD0-4910-91CE-6F446FB21140}" type="slidenum">
              <a:rPr lang="en-US" smtClean="0"/>
              <a:pPr eaLnBrk="1" hangingPunct="1"/>
              <a:t>17</a:t>
            </a:fld>
            <a:endParaRPr lang="en-US"/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4820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4831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4832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4833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4834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4835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4836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4837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4838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4839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4840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4841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4842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4843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4844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4845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4846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4847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4848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4849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4850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4851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4852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4, which becomes permanently labeled. </a:t>
            </a:r>
          </a:p>
          <a:p>
            <a:pPr algn="ctr" eaLnBrk="1" hangingPunct="1"/>
            <a:r>
              <a:rPr lang="en-US" sz="2000"/>
              <a:t>Tighten all edges leaving node 4.</a:t>
            </a:r>
          </a:p>
        </p:txBody>
      </p:sp>
    </p:spTree>
    <p:extLst>
      <p:ext uri="{BB962C8B-B14F-4D97-AF65-F5344CB8AC3E}">
        <p14:creationId xmlns:p14="http://schemas.microsoft.com/office/powerpoint/2010/main" val="143964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E62297-A370-453F-8E10-FDC56A240AB6}" type="slidenum">
              <a:rPr lang="en-US" smtClean="0"/>
              <a:pPr eaLnBrk="1" hangingPunct="1"/>
              <a:t>18</a:t>
            </a:fld>
            <a:endParaRPr lang="en-US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5844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5855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5856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5857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5858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5859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5860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5861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5862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5863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5864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5865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5866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5867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5868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5869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5870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5871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5872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5873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5874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5875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5876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5, which becomes permanently labeled. </a:t>
            </a:r>
          </a:p>
          <a:p>
            <a:pPr algn="ctr" eaLnBrk="1" hangingPunct="1"/>
            <a:r>
              <a:rPr lang="en-US" sz="2000"/>
              <a:t>Tighten all edges leaving node 5 (there aren’t any).</a:t>
            </a:r>
          </a:p>
        </p:txBody>
      </p:sp>
    </p:spTree>
    <p:extLst>
      <p:ext uri="{BB962C8B-B14F-4D97-AF65-F5344CB8AC3E}">
        <p14:creationId xmlns:p14="http://schemas.microsoft.com/office/powerpoint/2010/main" val="103731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C45DEB-10FB-4B44-A169-F00AC32CF7D9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686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6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687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688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688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688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688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688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688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688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689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689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689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689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689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689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689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689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689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689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690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2, which becomes permanently labeled. </a:t>
            </a:r>
          </a:p>
          <a:p>
            <a:pPr algn="ctr" eaLnBrk="1" hangingPunct="1"/>
            <a:r>
              <a:rPr lang="en-US" sz="2000"/>
              <a:t>Algorithm terminates!</a:t>
            </a:r>
          </a:p>
        </p:txBody>
      </p:sp>
    </p:spTree>
    <p:extLst>
      <p:ext uri="{BB962C8B-B14F-4D97-AF65-F5344CB8AC3E}">
        <p14:creationId xmlns:p14="http://schemas.microsoft.com/office/powerpoint/2010/main" val="365709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Correctness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Just like BFS,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visits all nodes in increasing order of distance from the source, and visits each node exactly once.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Think of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as maintaining two sets: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S: visited nodes that are “permanently” labeled.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T: remaining nodes that are temporarily labeled (whose cost labels are still upper bounds)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Every iteration takes the node from T with minimum label and adds it to S.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cs typeface="Arial" charset="0"/>
              </a:rPr>
              <a:t>Claim</a:t>
            </a:r>
            <a:r>
              <a:rPr lang="en-US" dirty="0">
                <a:cs typeface="Arial" charset="0"/>
              </a:rPr>
              <a:t>: when we visit node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, c[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] will be the correct shortest path cost from s to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3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98C2D7-8C98-40D5-8B1D-D8086F767E6B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Running Time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The unsorted array is better for a dense graph, and the binary heap is better for a sparse graph.  </a:t>
            </a:r>
          </a:p>
          <a:p>
            <a:pPr eaLnBrk="1" hangingPunct="1"/>
            <a:r>
              <a:rPr lang="en-US" sz="2800" dirty="0">
                <a:cs typeface="Arial" charset="0"/>
              </a:rPr>
              <a:t>The Fibonacci heap bound is always at least as good as both other bounds in any graph!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In practice, however, Fibonacci heaps are so complicated that it’s hard to find instances for which they run faster…</a:t>
            </a:r>
          </a:p>
        </p:txBody>
      </p:sp>
      <p:graphicFrame>
        <p:nvGraphicFramePr>
          <p:cNvPr id="110626" name="Group 34"/>
          <p:cNvGraphicFramePr>
            <a:graphicFrameLocks noGrp="1"/>
          </p:cNvGraphicFramePr>
          <p:nvPr/>
        </p:nvGraphicFramePr>
        <p:xfrm>
          <a:off x="381000" y="1219200"/>
          <a:ext cx="8305800" cy="2220913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Remove-Min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Key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Runtime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Unsorted Array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Fibonacci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 amortized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+ n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Recall: Centrality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What nodes are most “central” in a graph?</a:t>
            </a:r>
          </a:p>
        </p:txBody>
      </p:sp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697542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778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13" y="5024052"/>
            <a:ext cx="2945287" cy="183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23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Centrality &amp; Shortest Paths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Many notions of centrality are based on shortest paths: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Eccentricity(x) = max </a:t>
            </a:r>
            <a:r>
              <a:rPr lang="en-US" sz="2400" dirty="0" err="1">
                <a:cs typeface="Arial" charset="0"/>
              </a:rPr>
              <a:t>dist</a:t>
            </a:r>
            <a:r>
              <a:rPr lang="en-US" sz="2400" dirty="0">
                <a:cs typeface="Arial" charset="0"/>
              </a:rPr>
              <a:t>(</a:t>
            </a:r>
            <a:r>
              <a:rPr lang="en-US" sz="2400" dirty="0" err="1">
                <a:cs typeface="Arial" charset="0"/>
              </a:rPr>
              <a:t>x,y</a:t>
            </a:r>
            <a:r>
              <a:rPr lang="en-US" sz="2400" dirty="0">
                <a:cs typeface="Arial" charset="0"/>
              </a:rPr>
              <a:t>) over other nodes y; a graph “center” is a node with minimum eccentricity.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“</a:t>
            </a:r>
            <a:r>
              <a:rPr lang="en-US" sz="2400" dirty="0" err="1">
                <a:cs typeface="Arial" charset="0"/>
              </a:rPr>
              <a:t>Betweenness</a:t>
            </a:r>
            <a:r>
              <a:rPr lang="en-US" sz="2400" dirty="0">
                <a:cs typeface="Arial" charset="0"/>
              </a:rPr>
              <a:t>” centrality of an edge or node: fraction of all point-to-point shortest paths passing through that edge/node.</a:t>
            </a:r>
          </a:p>
          <a:p>
            <a:pPr eaLnBrk="1" hangingPunct="1"/>
            <a:r>
              <a:rPr lang="en-US" sz="2800" dirty="0">
                <a:cs typeface="Arial" charset="0"/>
              </a:rPr>
              <a:t>Other prominent notions of centrality include: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Degree centrality: high degree treated as “more central”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Eigenvector centrality (centrality                           proportional to probability a node                                     is visited by a random walk in steady                                   state); used by Google </a:t>
            </a:r>
            <a:r>
              <a:rPr lang="en-US" sz="2400" dirty="0" err="1">
                <a:cs typeface="Arial" charset="0"/>
              </a:rPr>
              <a:t>PageRank</a:t>
            </a:r>
            <a:r>
              <a:rPr lang="en-US" sz="2400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8426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24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646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38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26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9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27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second-shortest s-t path?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0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Postage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different denominations of stamps (e.g., 1 cent, 23 cent, 47 cent).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can use as many stamps of each denomination as we wish.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minimum number of stamps we need in order to construct exactly C cents worth of postage?</a:t>
            </a:r>
          </a:p>
        </p:txBody>
      </p:sp>
    </p:spTree>
    <p:extLst>
      <p:ext uri="{BB962C8B-B14F-4D97-AF65-F5344CB8AC3E}">
        <p14:creationId xmlns:p14="http://schemas.microsoft.com/office/powerpoint/2010/main" val="1874081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29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“Knapsack” Problems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items, with values v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v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 and integer sizes s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s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maximum value we can pack into a knapsack of capacity C?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include multiple copies of the same item?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only include at most 1 copy of each item? </a:t>
            </a:r>
          </a:p>
        </p:txBody>
      </p:sp>
    </p:spTree>
    <p:extLst>
      <p:ext uri="{BB962C8B-B14F-4D97-AF65-F5344CB8AC3E}">
        <p14:creationId xmlns:p14="http://schemas.microsoft.com/office/powerpoint/2010/main" val="1627710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Lecture 1.  Introduction and Motivation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Introductions&amp;quot;&quot;/&gt;&lt;property id=&quot;20307&quot; value=&quot;258&quot;/&gt;&lt;/object&gt;&lt;object type=&quot;3&quot; unique_id=&quot;10006&quot;&gt;&lt;property id=&quot;20148&quot; value=&quot;5&quot;/&gt;&lt;property id=&quot;20300&quot; value=&quot;Slide 3 - &amp;quot;Course Overview&amp;quot;&quot;/&gt;&lt;property id=&quot;20307&quot; value=&quot;259&quot;/&gt;&lt;/object&gt;&lt;object type=&quot;3&quot; unique_id=&quot;10007&quot;&gt;&lt;property id=&quot;20148&quot; value=&quot;5&quot;/&gt;&lt;property id=&quot;20300&quot; value=&quot;Slide 4 - &amp;quot;Course Overview&amp;quot;&quot;/&gt;&lt;property id=&quot;20307&quot; value=&quot;261&quot;/&gt;&lt;/object&gt;&lt;object type=&quot;3&quot; unique_id=&quot;10008&quot;&gt;&lt;property id=&quot;20148&quot; value=&quot;5&quot;/&gt;&lt;property id=&quot;20300&quot; value=&quot;Slide 5 - &amp;quot;Assignments and Grades&amp;quot;&quot;/&gt;&lt;property id=&quot;20307&quot; value=&quot;260&quot;/&gt;&lt;/object&gt;&lt;object type=&quot;3&quot; unique_id=&quot;10009&quot;&gt;&lt;property id=&quot;20148&quot; value=&quot;5&quot;/&gt;&lt;property id=&quot;20300&quot; value=&quot;Slide 6 - &amp;quot;Course Information&amp;quot;&quot;/&gt;&lt;property id=&quot;20307&quot; value=&quot;262&quot;/&gt;&lt;/object&gt;&lt;object type=&quot;3&quot; unique_id=&quot;10010&quot;&gt;&lt;property id=&quot;20148&quot; value=&quot;5&quot;/&gt;&lt;property id=&quot;20300&quot; value=&quot;Slide 7 - &amp;quot;Feedback – Examples&amp;quot;&quot;/&gt;&lt;property id=&quot;20307&quot; value=&quot;272&quot;/&gt;&lt;/object&gt;&lt;object type=&quot;3&quot; unique_id=&quot;10011&quot;&gt;&lt;property id=&quot;20148&quot; value=&quot;5&quot;/&gt;&lt;property id=&quot;20300&quot; value=&quot;Slide 9 - &amp;quot;Motivation&amp;quot;&quot;/&gt;&lt;property id=&quot;20307&quot; value=&quot;263&quot;/&gt;&lt;/object&gt;&lt;object type=&quot;3&quot; unique_id=&quot;10012&quot;&gt;&lt;property id=&quot;20148&quot; value=&quot;5&quot;/&gt;&lt;property id=&quot;20300&quot; value=&quot;Slide 10 - &amp;quot;Motivation: Sorting&amp;quot;&quot;/&gt;&lt;property id=&quot;20307&quot; value=&quot;264&quot;/&gt;&lt;/object&gt;&lt;object type=&quot;3&quot; unique_id=&quot;10013&quot;&gt;&lt;property id=&quot;20148&quot; value=&quot;5&quot;/&gt;&lt;property id=&quot;20300&quot; value=&quot;Slide 11 - &amp;quot;Motivation: Graph Algorithms, Flows, and Matchings&amp;quot;&quot;/&gt;&lt;property id=&quot;20307&quot; value=&quot;265&quot;/&gt;&lt;/object&gt;&lt;object type=&quot;3&quot; unique_id=&quot;10014&quot;&gt;&lt;property id=&quot;20148&quot; value=&quot;5&quot;/&gt;&lt;property id=&quot;20300&quot; value=&quot;Slide 12 - &amp;quot;Motivation: Randomized Algorithms&amp;quot;&quot;/&gt;&lt;property id=&quot;20307&quot; value=&quot;266&quot;/&gt;&lt;/object&gt;&lt;object type=&quot;3&quot; unique_id=&quot;10015&quot;&gt;&lt;property id=&quot;20148&quot; value=&quot;5&quot;/&gt;&lt;property id=&quot;20300&quot; value=&quot;Slide 13 - &amp;quot;Motivation: Hard Problems and Approximation Algorithms&amp;quot;&quot;/&gt;&lt;property id=&quot;20307&quot; value=&quot;267&quot;/&gt;&lt;/object&gt;&lt;object type=&quot;3&quot; unique_id=&quot;10016&quot;&gt;&lt;property id=&quot;20148&quot; value=&quot;5&quot;/&gt;&lt;property id=&quot;20300&quot; value=&quot;Slide 14 - &amp;quot;Motivation: The Fast Fourier Transform&amp;quot;&quot;/&gt;&lt;property id=&quot;20307&quot; value=&quot;268&quot;/&gt;&lt;/object&gt;&lt;object type=&quot;3&quot; unique_id=&quot;10017&quot;&gt;&lt;property id=&quot;20148&quot; value=&quot;5&quot;/&gt;&lt;property id=&quot;20300&quot; value=&quot;Slide 15 - &amp;quot;Motivation: Computational Geometry&amp;quot;&quot;/&gt;&lt;property id=&quot;20307&quot; value=&quot;269&quot;/&gt;&lt;/object&gt;&lt;object type=&quot;3&quot; unique_id=&quot;10018&quot;&gt;&lt;property id=&quot;20148&quot; value=&quot;5&quot;/&gt;&lt;property id=&quot;20300&quot; value=&quot;Slide 16 - &amp;quot;Motivation: Bioinformatics&amp;quot;&quot;/&gt;&lt;property id=&quot;20307&quot; value=&quot;270&quot;/&gt;&lt;/object&gt;&lt;object type=&quot;3&quot; unique_id=&quot;10019&quot;&gt;&lt;property id=&quot;20148&quot; value=&quot;5&quot;/&gt;&lt;property id=&quot;20300&quot; value=&quot;Slide 17 - &amp;quot;Motivation: Impressing One’s &amp;#x0D;&amp;#x0A;In-Laws&amp;quot;&quot;/&gt;&lt;property id=&quot;20307&quot; value=&quot;271&quot;/&gt;&lt;/object&gt;&lt;object type=&quot;3&quot; unique_id=&quot;10092&quot;&gt;&lt;property id=&quot;20148&quot; value=&quot;5&quot;/&gt;&lt;property id=&quot;20300&quot; value=&quot;Slide 8 - &amp;quot;Other Seminars&amp;quot;&quot;/&gt;&lt;property id=&quot;20307&quot; value=&quot;273&quot;/&gt;&lt;/object&gt;&lt;/object&gt;&lt;/object&gt;&lt;/database&gt;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tailEnd type="arrow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B0CFF9-D72F-46B4-8D19-FEB5287141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74434B-508F-4AED-B012-1AE2A107D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A78443-A2F8-49C9-B943-375472CAC2B7}"/>
</file>

<file path=docProps/app.xml><?xml version="1.0" encoding="utf-8"?>
<Properties xmlns="http://schemas.openxmlformats.org/officeDocument/2006/extended-properties" xmlns:vt="http://schemas.openxmlformats.org/officeDocument/2006/docPropsVTypes">
  <TotalTime>4375</TotalTime>
  <Words>2208</Words>
  <Application>Microsoft Office PowerPoint</Application>
  <PresentationFormat>On-screen Show (4:3)</PresentationFormat>
  <Paragraphs>457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CpSc 840: Design and Analysis of Algorithms</dc:title>
  <dc:creator>Office User</dc:creator>
  <cp:lastModifiedBy>Sam O'Neill</cp:lastModifiedBy>
  <cp:revision>548</cp:revision>
  <dcterms:created xsi:type="dcterms:W3CDTF">2006-01-10T16:14:55Z</dcterms:created>
  <dcterms:modified xsi:type="dcterms:W3CDTF">2020-02-13T12:23:06Z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2020-02-13T12:23:05.9799152Z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2020-02-13T12:23:05.9799152Z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